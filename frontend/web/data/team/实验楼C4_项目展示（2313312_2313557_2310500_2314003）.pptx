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8288000" cy="10287000"/>
  <p:notesSz cx="6858000" cy="9144000"/>
  <p:embeddedFontLst>
    <p:embeddedFont>
      <p:font typeface="Arimo" panose="02010600030101010101"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1" userDrawn="1">
          <p15:clr>
            <a:srgbClr val="A4A3A4"/>
          </p15:clr>
        </p15:guide>
        <p15:guide id="2" pos="287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52" d="100"/>
          <a:sy n="52" d="100"/>
        </p:scale>
        <p:origin x="850" y="29"/>
      </p:cViewPr>
      <p:guideLst>
        <p:guide orient="horz" pos="2121"/>
        <p:guide pos="2875"/>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12/23/2025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12/23/2025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12/23/2025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wrap="square">
            <a:normAutofit/>
          </a:body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2025/12/23</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12/23/2025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github.com/Scarlettyan6/yii/tree/%E7%BB%88"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tags" Target="../tags/tag7.xml"/><Relationship Id="rId7" Type="http://schemas.openxmlformats.org/officeDocument/2006/relationships/image" Target="../media/image2.sv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1.png"/><Relationship Id="rId5" Type="http://schemas.openxmlformats.org/officeDocument/2006/relationships/slideLayout" Target="../slideLayouts/slideLayout7.xml"/><Relationship Id="rId4" Type="http://schemas.openxmlformats.org/officeDocument/2006/relationships/tags" Target="../tags/tag8.xml"/><Relationship Id="rId9" Type="http://schemas.openxmlformats.org/officeDocument/2006/relationships/image" Target="../media/image25.png"/></Relationships>
</file>

<file path=ppt/slides/_rels/slide1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11.xml"/><Relationship Id="rId7" Type="http://schemas.openxmlformats.org/officeDocument/2006/relationships/image" Target="../media/image2.sv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1.png"/><Relationship Id="rId5" Type="http://schemas.openxmlformats.org/officeDocument/2006/relationships/slideLayout" Target="../slideLayouts/slideLayout7.xml"/><Relationship Id="rId4" Type="http://schemas.openxmlformats.org/officeDocument/2006/relationships/tags" Target="../tags/tag12.xml"/><Relationship Id="rId9"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2.svg"/></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9490114" y="-436641"/>
            <a:ext cx="11136611" cy="3211381"/>
          </a:xfrm>
          <a:custGeom>
            <a:avLst/>
            <a:gdLst/>
            <a:ahLst/>
            <a:cxnLst/>
            <a:rect l="l" t="t" r="r" b="b"/>
            <a:pathLst>
              <a:path w="11136611" h="3211381">
                <a:moveTo>
                  <a:pt x="0" y="0"/>
                </a:moveTo>
                <a:lnTo>
                  <a:pt x="11136611" y="0"/>
                </a:lnTo>
                <a:lnTo>
                  <a:pt x="11136611" y="3211381"/>
                </a:lnTo>
                <a:lnTo>
                  <a:pt x="0" y="32113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grpSp>
        <p:nvGrpSpPr>
          <p:cNvPr id="3" name="Group 3"/>
          <p:cNvGrpSpPr/>
          <p:nvPr/>
        </p:nvGrpSpPr>
        <p:grpSpPr>
          <a:xfrm>
            <a:off x="5666658" y="6392022"/>
            <a:ext cx="7471926" cy="663039"/>
            <a:chOff x="0" y="0"/>
            <a:chExt cx="10137909" cy="899611"/>
          </a:xfrm>
        </p:grpSpPr>
        <p:sp>
          <p:nvSpPr>
            <p:cNvPr id="4" name="Freeform 4"/>
            <p:cNvSpPr/>
            <p:nvPr/>
          </p:nvSpPr>
          <p:spPr>
            <a:xfrm>
              <a:off x="0" y="0"/>
              <a:ext cx="10137909" cy="899611"/>
            </a:xfrm>
            <a:custGeom>
              <a:avLst/>
              <a:gdLst/>
              <a:ahLst/>
              <a:cxnLst/>
              <a:rect l="l" t="t" r="r" b="b"/>
              <a:pathLst>
                <a:path w="10137909" h="899611">
                  <a:moveTo>
                    <a:pt x="103613" y="0"/>
                  </a:moveTo>
                  <a:lnTo>
                    <a:pt x="10034295" y="0"/>
                  </a:lnTo>
                  <a:cubicBezTo>
                    <a:pt x="10091520" y="0"/>
                    <a:pt x="10137909" y="46389"/>
                    <a:pt x="10137909" y="103613"/>
                  </a:cubicBezTo>
                  <a:lnTo>
                    <a:pt x="10137909" y="795997"/>
                  </a:lnTo>
                  <a:cubicBezTo>
                    <a:pt x="10137909" y="823477"/>
                    <a:pt x="10126993" y="849832"/>
                    <a:pt x="10107561" y="869263"/>
                  </a:cubicBezTo>
                  <a:cubicBezTo>
                    <a:pt x="10088130" y="888694"/>
                    <a:pt x="10061776" y="899611"/>
                    <a:pt x="10034295" y="899611"/>
                  </a:cubicBezTo>
                  <a:lnTo>
                    <a:pt x="103613" y="899611"/>
                  </a:lnTo>
                  <a:cubicBezTo>
                    <a:pt x="46389" y="899611"/>
                    <a:pt x="0" y="853221"/>
                    <a:pt x="0" y="795997"/>
                  </a:cubicBezTo>
                  <a:lnTo>
                    <a:pt x="0" y="103613"/>
                  </a:lnTo>
                  <a:cubicBezTo>
                    <a:pt x="0" y="46389"/>
                    <a:pt x="46389" y="0"/>
                    <a:pt x="103613" y="0"/>
                  </a:cubicBezTo>
                  <a:close/>
                </a:path>
              </a:pathLst>
            </a:custGeom>
            <a:solidFill>
              <a:srgbClr val="8B0011"/>
            </a:solidFill>
          </p:spPr>
          <p:txBody>
            <a:bodyPr/>
            <a:lstStyle/>
            <a:p>
              <a:endParaRPr lang="zh-CN" altLang="en-US"/>
            </a:p>
          </p:txBody>
        </p:sp>
        <p:sp>
          <p:nvSpPr>
            <p:cNvPr id="5" name="TextBox 5"/>
            <p:cNvSpPr txBox="1"/>
            <p:nvPr/>
          </p:nvSpPr>
          <p:spPr>
            <a:xfrm>
              <a:off x="0" y="-47625"/>
              <a:ext cx="10137909" cy="947236"/>
            </a:xfrm>
            <a:prstGeom prst="rect">
              <a:avLst/>
            </a:prstGeom>
          </p:spPr>
          <p:txBody>
            <a:bodyPr lIns="50800" tIns="50800" rIns="50800" bIns="50800" rtlCol="0" anchor="ctr"/>
            <a:lstStyle/>
            <a:p>
              <a:pPr algn="ctr">
                <a:lnSpc>
                  <a:spcPts val="3210"/>
                </a:lnSpc>
              </a:pPr>
              <a:endParaRPr/>
            </a:p>
          </p:txBody>
        </p:sp>
      </p:grpSp>
      <p:sp>
        <p:nvSpPr>
          <p:cNvPr id="6" name="Freeform 6"/>
          <p:cNvSpPr/>
          <p:nvPr/>
        </p:nvSpPr>
        <p:spPr>
          <a:xfrm>
            <a:off x="5950483" y="6528807"/>
            <a:ext cx="305550" cy="325486"/>
          </a:xfrm>
          <a:custGeom>
            <a:avLst/>
            <a:gdLst/>
            <a:ahLst/>
            <a:cxnLst/>
            <a:rect l="l" t="t" r="r" b="b"/>
            <a:pathLst>
              <a:path w="305550" h="325486">
                <a:moveTo>
                  <a:pt x="0" y="0"/>
                </a:moveTo>
                <a:lnTo>
                  <a:pt x="305550" y="0"/>
                </a:lnTo>
                <a:lnTo>
                  <a:pt x="305550" y="325486"/>
                </a:lnTo>
                <a:lnTo>
                  <a:pt x="0" y="3254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CN" altLang="en-US"/>
          </a:p>
        </p:txBody>
      </p:sp>
      <p:grpSp>
        <p:nvGrpSpPr>
          <p:cNvPr id="7" name="Group 7"/>
          <p:cNvGrpSpPr/>
          <p:nvPr/>
        </p:nvGrpSpPr>
        <p:grpSpPr>
          <a:xfrm>
            <a:off x="7346233" y="7379804"/>
            <a:ext cx="3323066" cy="599057"/>
            <a:chOff x="0" y="0"/>
            <a:chExt cx="4508736" cy="812800"/>
          </a:xfrm>
        </p:grpSpPr>
        <p:sp>
          <p:nvSpPr>
            <p:cNvPr id="8" name="Freeform 8"/>
            <p:cNvSpPr/>
            <p:nvPr/>
          </p:nvSpPr>
          <p:spPr>
            <a:xfrm>
              <a:off x="0" y="0"/>
              <a:ext cx="4508736" cy="812800"/>
            </a:xfrm>
            <a:custGeom>
              <a:avLst/>
              <a:gdLst/>
              <a:ahLst/>
              <a:cxnLst/>
              <a:rect l="l" t="t" r="r" b="b"/>
              <a:pathLst>
                <a:path w="4508736" h="812800">
                  <a:moveTo>
                    <a:pt x="232975" y="0"/>
                  </a:moveTo>
                  <a:lnTo>
                    <a:pt x="4275760" y="0"/>
                  </a:lnTo>
                  <a:cubicBezTo>
                    <a:pt x="4337549" y="0"/>
                    <a:pt x="4396808" y="24546"/>
                    <a:pt x="4440499" y="68237"/>
                  </a:cubicBezTo>
                  <a:cubicBezTo>
                    <a:pt x="4484190" y="111928"/>
                    <a:pt x="4508736" y="171186"/>
                    <a:pt x="4508736" y="232975"/>
                  </a:cubicBezTo>
                  <a:lnTo>
                    <a:pt x="4508736" y="579825"/>
                  </a:lnTo>
                  <a:cubicBezTo>
                    <a:pt x="4508736" y="641614"/>
                    <a:pt x="4484190" y="700872"/>
                    <a:pt x="4440499" y="744563"/>
                  </a:cubicBezTo>
                  <a:cubicBezTo>
                    <a:pt x="4396808" y="788254"/>
                    <a:pt x="4337549" y="812800"/>
                    <a:pt x="4275760" y="812800"/>
                  </a:cubicBezTo>
                  <a:lnTo>
                    <a:pt x="232975" y="812800"/>
                  </a:lnTo>
                  <a:cubicBezTo>
                    <a:pt x="171186" y="812800"/>
                    <a:pt x="111928" y="788254"/>
                    <a:pt x="68237" y="744563"/>
                  </a:cubicBezTo>
                  <a:cubicBezTo>
                    <a:pt x="24546" y="700872"/>
                    <a:pt x="0" y="641614"/>
                    <a:pt x="0" y="579825"/>
                  </a:cubicBezTo>
                  <a:lnTo>
                    <a:pt x="0" y="232975"/>
                  </a:lnTo>
                  <a:cubicBezTo>
                    <a:pt x="0" y="171186"/>
                    <a:pt x="24546" y="111928"/>
                    <a:pt x="68237" y="68237"/>
                  </a:cubicBezTo>
                  <a:cubicBezTo>
                    <a:pt x="111928" y="24546"/>
                    <a:pt x="171186" y="0"/>
                    <a:pt x="232975" y="0"/>
                  </a:cubicBezTo>
                  <a:close/>
                </a:path>
              </a:pathLst>
            </a:custGeom>
            <a:solidFill>
              <a:srgbClr val="8B0011"/>
            </a:solidFill>
          </p:spPr>
          <p:txBody>
            <a:bodyPr/>
            <a:lstStyle/>
            <a:p>
              <a:endParaRPr lang="zh-CN" altLang="en-US"/>
            </a:p>
          </p:txBody>
        </p:sp>
        <p:sp>
          <p:nvSpPr>
            <p:cNvPr id="9" name="TextBox 9"/>
            <p:cNvSpPr txBox="1"/>
            <p:nvPr/>
          </p:nvSpPr>
          <p:spPr>
            <a:xfrm>
              <a:off x="0" y="-47625"/>
              <a:ext cx="4508736" cy="860425"/>
            </a:xfrm>
            <a:prstGeom prst="rect">
              <a:avLst/>
            </a:prstGeom>
          </p:spPr>
          <p:txBody>
            <a:bodyPr lIns="50800" tIns="50800" rIns="50800" bIns="50800" rtlCol="0" anchor="ctr"/>
            <a:lstStyle/>
            <a:p>
              <a:pPr algn="ctr">
                <a:lnSpc>
                  <a:spcPts val="3210"/>
                </a:lnSpc>
              </a:pPr>
              <a:endParaRPr/>
            </a:p>
          </p:txBody>
        </p:sp>
      </p:grpSp>
      <p:sp>
        <p:nvSpPr>
          <p:cNvPr id="10" name="Freeform 10"/>
          <p:cNvSpPr/>
          <p:nvPr/>
        </p:nvSpPr>
        <p:spPr>
          <a:xfrm>
            <a:off x="6536137" y="8172921"/>
            <a:ext cx="305550" cy="325486"/>
          </a:xfrm>
          <a:custGeom>
            <a:avLst/>
            <a:gdLst/>
            <a:ahLst/>
            <a:cxnLst/>
            <a:rect l="l" t="t" r="r" b="b"/>
            <a:pathLst>
              <a:path w="305550" h="325486">
                <a:moveTo>
                  <a:pt x="0" y="0"/>
                </a:moveTo>
                <a:lnTo>
                  <a:pt x="305549" y="0"/>
                </a:lnTo>
                <a:lnTo>
                  <a:pt x="305549" y="325486"/>
                </a:lnTo>
                <a:lnTo>
                  <a:pt x="0" y="3254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11" name="Freeform 11"/>
          <p:cNvSpPr/>
          <p:nvPr/>
        </p:nvSpPr>
        <p:spPr>
          <a:xfrm>
            <a:off x="-2338725" y="7512260"/>
            <a:ext cx="11136611" cy="3211381"/>
          </a:xfrm>
          <a:custGeom>
            <a:avLst/>
            <a:gdLst/>
            <a:ahLst/>
            <a:cxnLst/>
            <a:rect l="l" t="t" r="r" b="b"/>
            <a:pathLst>
              <a:path w="11136611" h="3211381">
                <a:moveTo>
                  <a:pt x="0" y="0"/>
                </a:moveTo>
                <a:lnTo>
                  <a:pt x="11136611" y="0"/>
                </a:lnTo>
                <a:lnTo>
                  <a:pt x="11136611" y="3211381"/>
                </a:lnTo>
                <a:lnTo>
                  <a:pt x="0" y="32113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2" name="Freeform 12"/>
          <p:cNvSpPr/>
          <p:nvPr/>
        </p:nvSpPr>
        <p:spPr>
          <a:xfrm rot="-6107505">
            <a:off x="1275577" y="1697368"/>
            <a:ext cx="1932391" cy="2356574"/>
          </a:xfrm>
          <a:custGeom>
            <a:avLst/>
            <a:gdLst/>
            <a:ahLst/>
            <a:cxnLst/>
            <a:rect l="l" t="t" r="r" b="b"/>
            <a:pathLst>
              <a:path w="1932391" h="2356574">
                <a:moveTo>
                  <a:pt x="0" y="0"/>
                </a:moveTo>
                <a:lnTo>
                  <a:pt x="1932390" y="0"/>
                </a:lnTo>
                <a:lnTo>
                  <a:pt x="1932390" y="2356574"/>
                </a:lnTo>
                <a:lnTo>
                  <a:pt x="0" y="2356574"/>
                </a:lnTo>
                <a:lnTo>
                  <a:pt x="0" y="0"/>
                </a:lnTo>
                <a:close/>
              </a:path>
            </a:pathLst>
          </a:custGeom>
          <a:blipFill>
            <a:blip r:embed="rId6">
              <a:alphaModFix amt="26000"/>
              <a:extLst>
                <a:ext uri="{96DAC541-7B7A-43D3-8B79-37D633B846F1}">
                  <asvg:svgBlip xmlns:asvg="http://schemas.microsoft.com/office/drawing/2016/SVG/main" r:embed="rId7"/>
                </a:ext>
              </a:extLst>
            </a:blip>
            <a:stretch>
              <a:fillRect/>
            </a:stretch>
          </a:blipFill>
        </p:spPr>
        <p:txBody>
          <a:bodyPr/>
          <a:lstStyle/>
          <a:p>
            <a:endParaRPr lang="zh-CN" altLang="en-US"/>
          </a:p>
        </p:txBody>
      </p:sp>
      <p:sp>
        <p:nvSpPr>
          <p:cNvPr id="13" name="Freeform 13"/>
          <p:cNvSpPr/>
          <p:nvPr/>
        </p:nvSpPr>
        <p:spPr>
          <a:xfrm rot="-5275027">
            <a:off x="14720638" y="6333389"/>
            <a:ext cx="1932391" cy="2356574"/>
          </a:xfrm>
          <a:custGeom>
            <a:avLst/>
            <a:gdLst/>
            <a:ahLst/>
            <a:cxnLst/>
            <a:rect l="l" t="t" r="r" b="b"/>
            <a:pathLst>
              <a:path w="1932391" h="2356574">
                <a:moveTo>
                  <a:pt x="0" y="0"/>
                </a:moveTo>
                <a:lnTo>
                  <a:pt x="1932391" y="0"/>
                </a:lnTo>
                <a:lnTo>
                  <a:pt x="1932391" y="2356574"/>
                </a:lnTo>
                <a:lnTo>
                  <a:pt x="0" y="2356574"/>
                </a:lnTo>
                <a:lnTo>
                  <a:pt x="0" y="0"/>
                </a:lnTo>
                <a:close/>
              </a:path>
            </a:pathLst>
          </a:custGeom>
          <a:blipFill>
            <a:blip r:embed="rId6">
              <a:alphaModFix amt="26000"/>
              <a:extLst>
                <a:ext uri="{96DAC541-7B7A-43D3-8B79-37D633B846F1}">
                  <asvg:svgBlip xmlns:asvg="http://schemas.microsoft.com/office/drawing/2016/SVG/main" r:embed="rId7"/>
                </a:ext>
              </a:extLst>
            </a:blip>
            <a:stretch>
              <a:fillRect/>
            </a:stretch>
          </a:blipFill>
        </p:spPr>
        <p:txBody>
          <a:bodyPr/>
          <a:lstStyle/>
          <a:p>
            <a:endParaRPr lang="zh-CN" altLang="en-US"/>
          </a:p>
        </p:txBody>
      </p:sp>
      <p:sp>
        <p:nvSpPr>
          <p:cNvPr id="14" name="TextBox 14"/>
          <p:cNvSpPr txBox="1"/>
          <p:nvPr/>
        </p:nvSpPr>
        <p:spPr>
          <a:xfrm>
            <a:off x="1274859" y="2821354"/>
            <a:ext cx="15984441" cy="1881944"/>
          </a:xfrm>
          <a:prstGeom prst="rect">
            <a:avLst/>
          </a:prstGeom>
        </p:spPr>
        <p:txBody>
          <a:bodyPr lIns="0" tIns="0" rIns="0" bIns="0" rtlCol="0" anchor="t">
            <a:spAutoFit/>
          </a:bodyPr>
          <a:lstStyle/>
          <a:p>
            <a:pPr algn="ctr">
              <a:lnSpc>
                <a:spcPts val="15305"/>
              </a:lnSpc>
            </a:pPr>
            <a:r>
              <a:rPr lang="en-US" sz="11010" b="1">
                <a:solidFill>
                  <a:srgbClr val="1E1E1E"/>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抗战八十周年纪念项目</a:t>
            </a:r>
          </a:p>
        </p:txBody>
      </p:sp>
      <p:sp>
        <p:nvSpPr>
          <p:cNvPr id="15" name="TextBox 15"/>
          <p:cNvSpPr txBox="1"/>
          <p:nvPr/>
        </p:nvSpPr>
        <p:spPr>
          <a:xfrm>
            <a:off x="6398908" y="6456736"/>
            <a:ext cx="6012312" cy="381768"/>
          </a:xfrm>
          <a:prstGeom prst="rect">
            <a:avLst/>
          </a:prstGeom>
        </p:spPr>
        <p:txBody>
          <a:bodyPr lIns="0" tIns="0" rIns="0" bIns="0" rtlCol="0" anchor="t">
            <a:spAutoFit/>
          </a:bodyPr>
          <a:lstStyle/>
          <a:p>
            <a:pPr algn="l">
              <a:lnSpc>
                <a:spcPts val="3105"/>
              </a:lnSpc>
            </a:pPr>
            <a:r>
              <a:rPr lang="en-US" sz="222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小组成员：杜子妍、谢闻星、谭诗洋、姚智博</a:t>
            </a:r>
          </a:p>
        </p:txBody>
      </p:sp>
      <p:sp>
        <p:nvSpPr>
          <p:cNvPr id="16" name="TextBox 16"/>
          <p:cNvSpPr txBox="1"/>
          <p:nvPr/>
        </p:nvSpPr>
        <p:spPr>
          <a:xfrm>
            <a:off x="7802846" y="7464635"/>
            <a:ext cx="2409840" cy="381768"/>
          </a:xfrm>
          <a:prstGeom prst="rect">
            <a:avLst/>
          </a:prstGeom>
        </p:spPr>
        <p:txBody>
          <a:bodyPr lIns="0" tIns="0" rIns="0" bIns="0" rtlCol="0" anchor="t">
            <a:spAutoFit/>
          </a:bodyPr>
          <a:lstStyle/>
          <a:p>
            <a:pPr algn="l">
              <a:lnSpc>
                <a:spcPts val="3105"/>
              </a:lnSpc>
            </a:pPr>
            <a:r>
              <a:rPr lang="en-US" sz="222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指导老师：乜鹏</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668429" y="3593928"/>
            <a:ext cx="4178528" cy="1885950"/>
          </a:xfrm>
          <a:prstGeom prst="rect">
            <a:avLst/>
          </a:prstGeom>
        </p:spPr>
        <p:txBody>
          <a:bodyPr lIns="0" tIns="0" rIns="0" bIns="0" rtlCol="0" anchor="t">
            <a:spAutoFit/>
          </a:bodyPr>
          <a:lstStyle/>
          <a:p>
            <a:pPr algn="ctr">
              <a:lnSpc>
                <a:spcPts val="14865"/>
              </a:lnSpc>
            </a:pPr>
            <a:r>
              <a:rPr lang="en-US" sz="1239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目录</a:t>
            </a:r>
          </a:p>
        </p:txBody>
      </p:sp>
      <p:sp>
        <p:nvSpPr>
          <p:cNvPr id="3" name="TextBox 3"/>
          <p:cNvSpPr txBox="1"/>
          <p:nvPr/>
        </p:nvSpPr>
        <p:spPr>
          <a:xfrm>
            <a:off x="10487238" y="2330704"/>
            <a:ext cx="4925703" cy="697710"/>
          </a:xfrm>
          <a:prstGeom prst="rect">
            <a:avLst/>
          </a:prstGeom>
        </p:spPr>
        <p:txBody>
          <a:bodyPr lIns="0" tIns="0" rIns="0" bIns="0" rtlCol="0" anchor="t">
            <a:spAutoFit/>
          </a:bodyPr>
          <a:lstStyle/>
          <a:p>
            <a:pPr algn="l">
              <a:lnSpc>
                <a:spcPts val="5525"/>
              </a:lnSpc>
            </a:pPr>
            <a:r>
              <a:rPr lang="en-US" sz="4605"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小组分工</a:t>
            </a:r>
          </a:p>
        </p:txBody>
      </p:sp>
      <p:sp>
        <p:nvSpPr>
          <p:cNvPr id="4" name="TextBox 4"/>
          <p:cNvSpPr txBox="1"/>
          <p:nvPr/>
        </p:nvSpPr>
        <p:spPr>
          <a:xfrm>
            <a:off x="8883706" y="1957532"/>
            <a:ext cx="1959374" cy="1323975"/>
          </a:xfrm>
          <a:prstGeom prst="rect">
            <a:avLst/>
          </a:prstGeom>
        </p:spPr>
        <p:txBody>
          <a:bodyPr lIns="0" tIns="0" rIns="0" bIns="0" rtlCol="0" anchor="t">
            <a:spAutoFit/>
          </a:bodyPr>
          <a:lstStyle/>
          <a:p>
            <a:pPr algn="l">
              <a:lnSpc>
                <a:spcPts val="9120"/>
              </a:lnSpc>
            </a:pPr>
            <a:r>
              <a:rPr lang="en-US" sz="7600" b="1">
                <a:solidFill>
                  <a:srgbClr val="1E1E1E"/>
                </a:solidFill>
                <a:latin typeface="Akzidenz-Grotesk Bold" panose="02000803050000020004"/>
                <a:ea typeface="Akzidenz-Grotesk Bold" panose="02000803050000020004"/>
                <a:cs typeface="Akzidenz-Grotesk Bold" panose="02000803050000020004"/>
                <a:sym typeface="Akzidenz-Grotesk Bold" panose="02000803050000020004"/>
              </a:rPr>
              <a:t>01.</a:t>
            </a:r>
          </a:p>
        </p:txBody>
      </p:sp>
      <p:sp>
        <p:nvSpPr>
          <p:cNvPr id="5" name="TextBox 5"/>
          <p:cNvSpPr txBox="1"/>
          <p:nvPr/>
        </p:nvSpPr>
        <p:spPr>
          <a:xfrm>
            <a:off x="10492749" y="4016998"/>
            <a:ext cx="4693686" cy="701423"/>
          </a:xfrm>
          <a:prstGeom prst="rect">
            <a:avLst/>
          </a:prstGeom>
        </p:spPr>
        <p:txBody>
          <a:bodyPr lIns="0" tIns="0" rIns="0" bIns="0" rtlCol="0" anchor="t">
            <a:spAutoFit/>
          </a:bodyPr>
          <a:lstStyle/>
          <a:p>
            <a:pPr algn="l">
              <a:lnSpc>
                <a:spcPts val="5555"/>
              </a:lnSpc>
            </a:pPr>
            <a:r>
              <a:rPr lang="en-US" sz="463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项目总体架构</a:t>
            </a:r>
          </a:p>
        </p:txBody>
      </p:sp>
      <p:sp>
        <p:nvSpPr>
          <p:cNvPr id="6" name="TextBox 6"/>
          <p:cNvSpPr txBox="1"/>
          <p:nvPr/>
        </p:nvSpPr>
        <p:spPr>
          <a:xfrm>
            <a:off x="8883706" y="3638014"/>
            <a:ext cx="1959374" cy="1323975"/>
          </a:xfrm>
          <a:prstGeom prst="rect">
            <a:avLst/>
          </a:prstGeom>
        </p:spPr>
        <p:txBody>
          <a:bodyPr lIns="0" tIns="0" rIns="0" bIns="0" rtlCol="0" anchor="t">
            <a:spAutoFit/>
          </a:bodyPr>
          <a:lstStyle/>
          <a:p>
            <a:pPr algn="l">
              <a:lnSpc>
                <a:spcPts val="9120"/>
              </a:lnSpc>
            </a:pPr>
            <a:r>
              <a:rPr lang="en-US" sz="7600" b="1">
                <a:solidFill>
                  <a:srgbClr val="1E1E1E"/>
                </a:solidFill>
                <a:latin typeface="Akzidenz-Grotesk Bold" panose="02000803050000020004"/>
                <a:ea typeface="Akzidenz-Grotesk Bold" panose="02000803050000020004"/>
                <a:cs typeface="Akzidenz-Grotesk Bold" panose="02000803050000020004"/>
                <a:sym typeface="Akzidenz-Grotesk Bold" panose="02000803050000020004"/>
              </a:rPr>
              <a:t>02.</a:t>
            </a:r>
          </a:p>
        </p:txBody>
      </p:sp>
      <p:sp>
        <p:nvSpPr>
          <p:cNvPr id="7" name="TextBox 7"/>
          <p:cNvSpPr txBox="1"/>
          <p:nvPr/>
        </p:nvSpPr>
        <p:spPr>
          <a:xfrm>
            <a:off x="10487238" y="5693398"/>
            <a:ext cx="4693686" cy="701423"/>
          </a:xfrm>
          <a:prstGeom prst="rect">
            <a:avLst/>
          </a:prstGeom>
        </p:spPr>
        <p:txBody>
          <a:bodyPr lIns="0" tIns="0" rIns="0" bIns="0" rtlCol="0" anchor="t">
            <a:spAutoFit/>
          </a:bodyPr>
          <a:lstStyle/>
          <a:p>
            <a:pPr algn="l">
              <a:lnSpc>
                <a:spcPts val="5555"/>
              </a:lnSpc>
            </a:pPr>
            <a:r>
              <a:rPr lang="en-US" sz="463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各模块内容</a:t>
            </a:r>
          </a:p>
        </p:txBody>
      </p:sp>
      <p:sp>
        <p:nvSpPr>
          <p:cNvPr id="8" name="TextBox 8"/>
          <p:cNvSpPr txBox="1"/>
          <p:nvPr/>
        </p:nvSpPr>
        <p:spPr>
          <a:xfrm>
            <a:off x="8883706" y="5318496"/>
            <a:ext cx="1959374" cy="1323975"/>
          </a:xfrm>
          <a:prstGeom prst="rect">
            <a:avLst/>
          </a:prstGeom>
        </p:spPr>
        <p:txBody>
          <a:bodyPr lIns="0" tIns="0" rIns="0" bIns="0" rtlCol="0" anchor="t">
            <a:spAutoFit/>
          </a:bodyPr>
          <a:lstStyle/>
          <a:p>
            <a:pPr algn="l">
              <a:lnSpc>
                <a:spcPts val="9120"/>
              </a:lnSpc>
            </a:pPr>
            <a:r>
              <a:rPr lang="en-US" sz="7600" b="1">
                <a:solidFill>
                  <a:srgbClr val="1E1E1E"/>
                </a:solidFill>
                <a:latin typeface="Akzidenz-Grotesk Bold" panose="02000803050000020004"/>
                <a:ea typeface="Akzidenz-Grotesk Bold" panose="02000803050000020004"/>
                <a:cs typeface="Akzidenz-Grotesk Bold" panose="02000803050000020004"/>
                <a:sym typeface="Akzidenz-Grotesk Bold" panose="02000803050000020004"/>
              </a:rPr>
              <a:t>03.</a:t>
            </a:r>
          </a:p>
        </p:txBody>
      </p:sp>
      <p:sp>
        <p:nvSpPr>
          <p:cNvPr id="9" name="TextBox 9"/>
          <p:cNvSpPr txBox="1"/>
          <p:nvPr/>
        </p:nvSpPr>
        <p:spPr>
          <a:xfrm>
            <a:off x="10492749" y="7375896"/>
            <a:ext cx="4688174" cy="700599"/>
          </a:xfrm>
          <a:prstGeom prst="rect">
            <a:avLst/>
          </a:prstGeom>
        </p:spPr>
        <p:txBody>
          <a:bodyPr lIns="0" tIns="0" rIns="0" bIns="0" rtlCol="0" anchor="t">
            <a:spAutoFit/>
          </a:bodyPr>
          <a:lstStyle/>
          <a:p>
            <a:pPr algn="l">
              <a:lnSpc>
                <a:spcPts val="5550"/>
              </a:lnSpc>
            </a:pPr>
            <a:r>
              <a:rPr lang="en-US" sz="4625"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总结</a:t>
            </a:r>
          </a:p>
        </p:txBody>
      </p:sp>
      <p:sp>
        <p:nvSpPr>
          <p:cNvPr id="10" name="TextBox 10"/>
          <p:cNvSpPr txBox="1"/>
          <p:nvPr/>
        </p:nvSpPr>
        <p:spPr>
          <a:xfrm>
            <a:off x="8883706" y="6998977"/>
            <a:ext cx="1959374" cy="1323975"/>
          </a:xfrm>
          <a:prstGeom prst="rect">
            <a:avLst/>
          </a:prstGeom>
        </p:spPr>
        <p:txBody>
          <a:bodyPr lIns="0" tIns="0" rIns="0" bIns="0" rtlCol="0" anchor="t">
            <a:spAutoFit/>
          </a:bodyPr>
          <a:lstStyle/>
          <a:p>
            <a:pPr algn="l">
              <a:lnSpc>
                <a:spcPts val="9120"/>
              </a:lnSpc>
            </a:pPr>
            <a:r>
              <a:rPr lang="en-US" sz="7600" b="1">
                <a:solidFill>
                  <a:srgbClr val="1E1E1E"/>
                </a:solidFill>
                <a:latin typeface="Akzidenz-Grotesk Bold" panose="02000803050000020004"/>
                <a:ea typeface="Akzidenz-Grotesk Bold" panose="02000803050000020004"/>
                <a:cs typeface="Akzidenz-Grotesk Bold" panose="02000803050000020004"/>
                <a:sym typeface="Akzidenz-Grotesk Bold" panose="02000803050000020004"/>
              </a:rPr>
              <a:t>04.</a:t>
            </a:r>
          </a:p>
        </p:txBody>
      </p:sp>
      <p:sp>
        <p:nvSpPr>
          <p:cNvPr id="11" name="TextBox 11"/>
          <p:cNvSpPr txBox="1"/>
          <p:nvPr/>
        </p:nvSpPr>
        <p:spPr>
          <a:xfrm>
            <a:off x="4222087" y="5508996"/>
            <a:ext cx="3071213" cy="638175"/>
          </a:xfrm>
          <a:prstGeom prst="rect">
            <a:avLst/>
          </a:prstGeom>
        </p:spPr>
        <p:txBody>
          <a:bodyPr lIns="0" tIns="0" rIns="0" bIns="0" rtlCol="0" anchor="t">
            <a:spAutoFit/>
          </a:bodyPr>
          <a:lstStyle/>
          <a:p>
            <a:pPr algn="ctr">
              <a:lnSpc>
                <a:spcPts val="4440"/>
              </a:lnSpc>
            </a:pPr>
            <a:r>
              <a:rPr lang="en-US" sz="3700">
                <a:solidFill>
                  <a:srgbClr val="1E1E1E"/>
                </a:solidFill>
                <a:latin typeface="Akzidenz-Grotesk" panose="02000503030000020003"/>
                <a:ea typeface="Akzidenz-Grotesk" panose="02000503030000020003"/>
                <a:cs typeface="Akzidenz-Grotesk" panose="02000503030000020003"/>
                <a:sym typeface="Akzidenz-Grotesk" panose="02000503030000020003"/>
              </a:rPr>
              <a:t>Contents</a:t>
            </a:r>
          </a:p>
        </p:txBody>
      </p:sp>
      <p:sp>
        <p:nvSpPr>
          <p:cNvPr id="12" name="Freeform 12"/>
          <p:cNvSpPr/>
          <p:nvPr/>
        </p:nvSpPr>
        <p:spPr>
          <a:xfrm rot="5400000">
            <a:off x="-4856668" y="5501649"/>
            <a:ext cx="13234004" cy="3816191"/>
          </a:xfrm>
          <a:custGeom>
            <a:avLst/>
            <a:gdLst/>
            <a:ahLst/>
            <a:cxnLst/>
            <a:rect l="l" t="t" r="r" b="b"/>
            <a:pathLst>
              <a:path w="13234004" h="3816191">
                <a:moveTo>
                  <a:pt x="0" y="0"/>
                </a:moveTo>
                <a:lnTo>
                  <a:pt x="13234004" y="0"/>
                </a:lnTo>
                <a:lnTo>
                  <a:pt x="13234004" y="3816191"/>
                </a:lnTo>
                <a:lnTo>
                  <a:pt x="0" y="38161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3" name="Freeform 13"/>
          <p:cNvSpPr/>
          <p:nvPr/>
        </p:nvSpPr>
        <p:spPr>
          <a:xfrm rot="-5400000">
            <a:off x="11690994" y="7148363"/>
            <a:ext cx="11136611" cy="3211381"/>
          </a:xfrm>
          <a:custGeom>
            <a:avLst/>
            <a:gdLst/>
            <a:ahLst/>
            <a:cxnLst/>
            <a:rect l="l" t="t" r="r" b="b"/>
            <a:pathLst>
              <a:path w="11136611" h="3211381">
                <a:moveTo>
                  <a:pt x="0" y="0"/>
                </a:moveTo>
                <a:lnTo>
                  <a:pt x="11136612" y="0"/>
                </a:lnTo>
                <a:lnTo>
                  <a:pt x="11136612" y="3211381"/>
                </a:lnTo>
                <a:lnTo>
                  <a:pt x="0" y="32113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60009" y="3342447"/>
            <a:ext cx="3540935" cy="688803"/>
            <a:chOff x="0" y="0"/>
            <a:chExt cx="1030162" cy="200393"/>
          </a:xfrm>
        </p:grpSpPr>
        <p:sp>
          <p:nvSpPr>
            <p:cNvPr id="3" name="Freeform 3"/>
            <p:cNvSpPr/>
            <p:nvPr/>
          </p:nvSpPr>
          <p:spPr>
            <a:xfrm>
              <a:off x="0" y="0"/>
              <a:ext cx="1030162" cy="200393"/>
            </a:xfrm>
            <a:custGeom>
              <a:avLst/>
              <a:gdLst/>
              <a:ahLst/>
              <a:cxnLst/>
              <a:rect l="l" t="t" r="r" b="b"/>
              <a:pathLst>
                <a:path w="1030162" h="200393">
                  <a:moveTo>
                    <a:pt x="100196" y="0"/>
                  </a:moveTo>
                  <a:lnTo>
                    <a:pt x="929965" y="0"/>
                  </a:lnTo>
                  <a:cubicBezTo>
                    <a:pt x="956539" y="0"/>
                    <a:pt x="982024" y="10556"/>
                    <a:pt x="1000815" y="29347"/>
                  </a:cubicBezTo>
                  <a:cubicBezTo>
                    <a:pt x="1019605" y="48137"/>
                    <a:pt x="1030162" y="73623"/>
                    <a:pt x="1030162" y="100196"/>
                  </a:cubicBezTo>
                  <a:lnTo>
                    <a:pt x="1030162" y="100196"/>
                  </a:lnTo>
                  <a:cubicBezTo>
                    <a:pt x="1030162" y="155533"/>
                    <a:pt x="985302" y="200393"/>
                    <a:pt x="929965" y="200393"/>
                  </a:cubicBezTo>
                  <a:lnTo>
                    <a:pt x="100196" y="200393"/>
                  </a:lnTo>
                  <a:cubicBezTo>
                    <a:pt x="44859" y="200393"/>
                    <a:pt x="0" y="155533"/>
                    <a:pt x="0" y="100196"/>
                  </a:cubicBezTo>
                  <a:lnTo>
                    <a:pt x="0" y="100196"/>
                  </a:lnTo>
                  <a:cubicBezTo>
                    <a:pt x="0" y="44859"/>
                    <a:pt x="44859" y="0"/>
                    <a:pt x="100196" y="0"/>
                  </a:cubicBezTo>
                  <a:close/>
                </a:path>
              </a:pathLst>
            </a:custGeom>
            <a:solidFill>
              <a:srgbClr val="8B0011"/>
            </a:solidFill>
          </p:spPr>
          <p:txBody>
            <a:bodyPr/>
            <a:lstStyle/>
            <a:p>
              <a:endParaRPr lang="zh-CN" altLang="en-US"/>
            </a:p>
          </p:txBody>
        </p:sp>
        <p:sp>
          <p:nvSpPr>
            <p:cNvPr id="4" name="TextBox 4"/>
            <p:cNvSpPr txBox="1"/>
            <p:nvPr/>
          </p:nvSpPr>
          <p:spPr>
            <a:xfrm>
              <a:off x="0" y="-47625"/>
              <a:ext cx="1030162" cy="248018"/>
            </a:xfrm>
            <a:prstGeom prst="rect">
              <a:avLst/>
            </a:prstGeom>
          </p:spPr>
          <p:txBody>
            <a:bodyPr lIns="50800" tIns="50800" rIns="50800" bIns="50800" rtlCol="0" anchor="ctr"/>
            <a:lstStyle/>
            <a:p>
              <a:pPr algn="ctr">
                <a:lnSpc>
                  <a:spcPts val="3105"/>
                </a:lnSpc>
              </a:pPr>
              <a:endParaRPr/>
            </a:p>
          </p:txBody>
        </p:sp>
      </p:grpSp>
      <p:sp>
        <p:nvSpPr>
          <p:cNvPr id="5" name="TextBox 5"/>
          <p:cNvSpPr txBox="1"/>
          <p:nvPr/>
        </p:nvSpPr>
        <p:spPr>
          <a:xfrm>
            <a:off x="1760009" y="4111894"/>
            <a:ext cx="7643783" cy="1324356"/>
          </a:xfrm>
          <a:prstGeom prst="rect">
            <a:avLst/>
          </a:prstGeom>
        </p:spPr>
        <p:txBody>
          <a:bodyPr lIns="0" tIns="0" rIns="0" bIns="0" rtlCol="0" anchor="t">
            <a:spAutoFit/>
          </a:bodyPr>
          <a:lstStyle/>
          <a:p>
            <a:pPr marL="0" lvl="0" indent="0" algn="l">
              <a:lnSpc>
                <a:spcPts val="10690"/>
              </a:lnSpc>
              <a:spcBef>
                <a:spcPct val="0"/>
              </a:spcBef>
            </a:pPr>
            <a:r>
              <a:rPr lang="en-US" sz="8100" b="1">
                <a:solidFill>
                  <a:srgbClr val="1E1E1E"/>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小组分工</a:t>
            </a:r>
          </a:p>
        </p:txBody>
      </p:sp>
      <p:sp>
        <p:nvSpPr>
          <p:cNvPr id="6" name="TextBox 6"/>
          <p:cNvSpPr txBox="1"/>
          <p:nvPr/>
        </p:nvSpPr>
        <p:spPr>
          <a:xfrm>
            <a:off x="1992259" y="3377805"/>
            <a:ext cx="3076435" cy="540258"/>
          </a:xfrm>
          <a:prstGeom prst="rect">
            <a:avLst/>
          </a:prstGeom>
        </p:spPr>
        <p:txBody>
          <a:bodyPr lIns="0" tIns="0" rIns="0" bIns="0" rtlCol="0" anchor="t">
            <a:spAutoFit/>
          </a:bodyPr>
          <a:lstStyle/>
          <a:p>
            <a:pPr marL="0" lvl="0" indent="0" algn="ctr">
              <a:lnSpc>
                <a:spcPts val="4355"/>
              </a:lnSpc>
              <a:spcBef>
                <a:spcPct val="0"/>
              </a:spcBef>
            </a:pPr>
            <a:r>
              <a:rPr lang="en-US" sz="3300" b="1">
                <a:solidFill>
                  <a:srgbClr val="FFFFFF"/>
                </a:solidFill>
                <a:latin typeface="思源黑体 1 Medium" panose="020B0600000000000000" charset="-122"/>
                <a:ea typeface="思源黑体 1 Medium" panose="020B0600000000000000" charset="-122"/>
                <a:cs typeface="思源黑体 1 Medium" panose="020B0600000000000000" charset="-122"/>
                <a:sym typeface="思源黑体 1 Medium" panose="020B0600000000000000" charset="-122"/>
              </a:rPr>
              <a:t>第一章节</a:t>
            </a:r>
          </a:p>
        </p:txBody>
      </p:sp>
      <p:sp>
        <p:nvSpPr>
          <p:cNvPr id="7" name="TextBox 7"/>
          <p:cNvSpPr txBox="1"/>
          <p:nvPr/>
        </p:nvSpPr>
        <p:spPr>
          <a:xfrm>
            <a:off x="11447469" y="1911560"/>
            <a:ext cx="5464967" cy="5600700"/>
          </a:xfrm>
          <a:prstGeom prst="rect">
            <a:avLst/>
          </a:prstGeom>
        </p:spPr>
        <p:txBody>
          <a:bodyPr lIns="0" tIns="0" rIns="0" bIns="0" rtlCol="0" anchor="t">
            <a:spAutoFit/>
          </a:bodyPr>
          <a:lstStyle/>
          <a:p>
            <a:pPr algn="ctr">
              <a:lnSpc>
                <a:spcPts val="39070"/>
              </a:lnSpc>
            </a:pPr>
            <a:r>
              <a:rPr lang="en-US" sz="32560" b="1">
                <a:solidFill>
                  <a:srgbClr val="8B0011"/>
                </a:solidFill>
                <a:latin typeface="Akzidenz-Grotesk Bold" panose="02000803050000020004"/>
                <a:ea typeface="Akzidenz-Grotesk Bold" panose="02000803050000020004"/>
                <a:cs typeface="Akzidenz-Grotesk Bold" panose="02000803050000020004"/>
                <a:sym typeface="Akzidenz-Grotesk Bold" panose="02000803050000020004"/>
              </a:rPr>
              <a:t>01</a:t>
            </a:r>
          </a:p>
        </p:txBody>
      </p:sp>
      <p:sp>
        <p:nvSpPr>
          <p:cNvPr id="8" name="Freeform 8"/>
          <p:cNvSpPr/>
          <p:nvPr/>
        </p:nvSpPr>
        <p:spPr>
          <a:xfrm rot="-10800000">
            <a:off x="9490114" y="-540022"/>
            <a:ext cx="11136611" cy="3211381"/>
          </a:xfrm>
          <a:custGeom>
            <a:avLst/>
            <a:gdLst/>
            <a:ahLst/>
            <a:cxnLst/>
            <a:rect l="l" t="t" r="r" b="b"/>
            <a:pathLst>
              <a:path w="11136611" h="3211381">
                <a:moveTo>
                  <a:pt x="0" y="0"/>
                </a:moveTo>
                <a:lnTo>
                  <a:pt x="11136611" y="0"/>
                </a:lnTo>
                <a:lnTo>
                  <a:pt x="11136611" y="3211381"/>
                </a:lnTo>
                <a:lnTo>
                  <a:pt x="0" y="32113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9" name="Freeform 9"/>
          <p:cNvSpPr/>
          <p:nvPr/>
        </p:nvSpPr>
        <p:spPr>
          <a:xfrm>
            <a:off x="-2338725" y="7615641"/>
            <a:ext cx="11136611" cy="3211381"/>
          </a:xfrm>
          <a:custGeom>
            <a:avLst/>
            <a:gdLst/>
            <a:ahLst/>
            <a:cxnLst/>
            <a:rect l="l" t="t" r="r" b="b"/>
            <a:pathLst>
              <a:path w="11136611" h="3211381">
                <a:moveTo>
                  <a:pt x="0" y="0"/>
                </a:moveTo>
                <a:lnTo>
                  <a:pt x="11136611" y="0"/>
                </a:lnTo>
                <a:lnTo>
                  <a:pt x="11136611" y="3211381"/>
                </a:lnTo>
                <a:lnTo>
                  <a:pt x="0" y="32113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0" name="Freeform 10"/>
          <p:cNvSpPr/>
          <p:nvPr/>
        </p:nvSpPr>
        <p:spPr>
          <a:xfrm rot="-5275027">
            <a:off x="10448454" y="6857005"/>
            <a:ext cx="1998030" cy="2436622"/>
          </a:xfrm>
          <a:custGeom>
            <a:avLst/>
            <a:gdLst/>
            <a:ahLst/>
            <a:cxnLst/>
            <a:rect l="l" t="t" r="r" b="b"/>
            <a:pathLst>
              <a:path w="1998030" h="2436622">
                <a:moveTo>
                  <a:pt x="0" y="0"/>
                </a:moveTo>
                <a:lnTo>
                  <a:pt x="1998030" y="0"/>
                </a:lnTo>
                <a:lnTo>
                  <a:pt x="1998030" y="2436622"/>
                </a:lnTo>
                <a:lnTo>
                  <a:pt x="0" y="2436622"/>
                </a:lnTo>
                <a:lnTo>
                  <a:pt x="0" y="0"/>
                </a:lnTo>
                <a:close/>
              </a:path>
            </a:pathLst>
          </a:custGeom>
          <a:blipFill>
            <a:blip r:embed="rId4">
              <a:alphaModFix amt="26000"/>
              <a:extLst>
                <a:ext uri="{96DAC541-7B7A-43D3-8B79-37D633B846F1}">
                  <asvg:svgBlip xmlns:asvg="http://schemas.microsoft.com/office/drawing/2016/SVG/main" r:embed="rId5"/>
                </a:ext>
              </a:extLst>
            </a:blip>
            <a:stretch>
              <a:fillRect/>
            </a:stretch>
          </a:blipFill>
        </p:spPr>
        <p:txBody>
          <a:bodyPr/>
          <a:lstStyle/>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355968" y="814427"/>
            <a:ext cx="5576065" cy="800100"/>
          </a:xfrm>
          <a:prstGeom prst="rect">
            <a:avLst/>
          </a:prstGeom>
        </p:spPr>
        <p:txBody>
          <a:bodyPr lIns="0" tIns="0" rIns="0" bIns="0" rtlCol="0" anchor="t">
            <a:spAutoFit/>
          </a:bodyPr>
          <a:lstStyle/>
          <a:p>
            <a:pPr algn="ctr">
              <a:lnSpc>
                <a:spcPts val="6360"/>
              </a:lnSpc>
            </a:pPr>
            <a:r>
              <a:rPr lang="en-US" sz="53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小组分工</a:t>
            </a:r>
          </a:p>
        </p:txBody>
      </p:sp>
      <p:sp>
        <p:nvSpPr>
          <p:cNvPr id="3" name="Freeform 3"/>
          <p:cNvSpPr/>
          <p:nvPr/>
        </p:nvSpPr>
        <p:spPr>
          <a:xfrm rot="5400000" flipH="1">
            <a:off x="-2232751" y="7825360"/>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4" name="Freeform 4"/>
          <p:cNvSpPr/>
          <p:nvPr/>
        </p:nvSpPr>
        <p:spPr>
          <a:xfrm rot="-5400000" flipH="1">
            <a:off x="14777542" y="805514"/>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grpSp>
        <p:nvGrpSpPr>
          <p:cNvPr id="5" name="Group 5"/>
          <p:cNvGrpSpPr/>
          <p:nvPr/>
        </p:nvGrpSpPr>
        <p:grpSpPr>
          <a:xfrm>
            <a:off x="-94605" y="-172349"/>
            <a:ext cx="18477209" cy="451224"/>
            <a:chOff x="0" y="0"/>
            <a:chExt cx="4519404" cy="110366"/>
          </a:xfrm>
        </p:grpSpPr>
        <p:sp>
          <p:nvSpPr>
            <p:cNvPr id="6" name="Freeform 6"/>
            <p:cNvSpPr/>
            <p:nvPr/>
          </p:nvSpPr>
          <p:spPr>
            <a:xfrm>
              <a:off x="0" y="0"/>
              <a:ext cx="4519404" cy="110366"/>
            </a:xfrm>
            <a:custGeom>
              <a:avLst/>
              <a:gdLst/>
              <a:ahLst/>
              <a:cxnLst/>
              <a:rect l="l" t="t" r="r" b="b"/>
              <a:pathLst>
                <a:path w="4519404" h="110366">
                  <a:moveTo>
                    <a:pt x="0" y="0"/>
                  </a:moveTo>
                  <a:lnTo>
                    <a:pt x="4519404" y="0"/>
                  </a:lnTo>
                  <a:lnTo>
                    <a:pt x="4519404" y="110366"/>
                  </a:lnTo>
                  <a:lnTo>
                    <a:pt x="0" y="110366"/>
                  </a:lnTo>
                  <a:close/>
                </a:path>
              </a:pathLst>
            </a:custGeom>
            <a:solidFill>
              <a:srgbClr val="8B0011"/>
            </a:solidFill>
          </p:spPr>
          <p:txBody>
            <a:bodyPr/>
            <a:lstStyle/>
            <a:p>
              <a:endParaRPr lang="zh-CN" altLang="en-US"/>
            </a:p>
          </p:txBody>
        </p:sp>
        <p:sp>
          <p:nvSpPr>
            <p:cNvPr id="7" name="TextBox 7"/>
            <p:cNvSpPr txBox="1"/>
            <p:nvPr/>
          </p:nvSpPr>
          <p:spPr>
            <a:xfrm>
              <a:off x="0" y="-47625"/>
              <a:ext cx="4519404" cy="157991"/>
            </a:xfrm>
            <a:prstGeom prst="rect">
              <a:avLst/>
            </a:prstGeom>
          </p:spPr>
          <p:txBody>
            <a:bodyPr lIns="50800" tIns="50800" rIns="50800" bIns="50800" rtlCol="0" anchor="ctr"/>
            <a:lstStyle/>
            <a:p>
              <a:pPr algn="ctr">
                <a:lnSpc>
                  <a:spcPts val="3210"/>
                </a:lnSpc>
              </a:pPr>
              <a:endParaRPr/>
            </a:p>
          </p:txBody>
        </p:sp>
      </p:grpSp>
      <p:grpSp>
        <p:nvGrpSpPr>
          <p:cNvPr id="8" name="Group 8"/>
          <p:cNvGrpSpPr/>
          <p:nvPr/>
        </p:nvGrpSpPr>
        <p:grpSpPr>
          <a:xfrm>
            <a:off x="990600" y="2657565"/>
            <a:ext cx="6477205" cy="647720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0AAF0">
                    <a:alpha val="0"/>
                  </a:srgbClr>
                </a:gs>
                <a:gs pos="50000">
                  <a:srgbClr val="4881E8">
                    <a:alpha val="0"/>
                  </a:srgbClr>
                </a:gs>
                <a:gs pos="100000">
                  <a:srgbClr val="4881E8">
                    <a:alpha val="0"/>
                  </a:srgbClr>
                </a:gs>
              </a:gsLst>
              <a:lin ang="5400000"/>
            </a:gradFill>
            <a:ln w="19050" cap="sq">
              <a:gradFill>
                <a:gsLst>
                  <a:gs pos="0">
                    <a:srgbClr val="8B0011">
                      <a:alpha val="0"/>
                    </a:srgbClr>
                  </a:gs>
                  <a:gs pos="100000">
                    <a:srgbClr val="8B0011">
                      <a:alpha val="100000"/>
                    </a:srgbClr>
                  </a:gs>
                </a:gsLst>
                <a:lin ang="0"/>
              </a:gradFill>
              <a:prstDash val="solid"/>
              <a:miter/>
            </a:ln>
          </p:spPr>
          <p:txBody>
            <a:bodyPr/>
            <a:lstStyle/>
            <a:p>
              <a:endParaRPr lang="zh-CN" altLang="en-US"/>
            </a:p>
          </p:txBody>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11" name="Group 11"/>
          <p:cNvGrpSpPr/>
          <p:nvPr/>
        </p:nvGrpSpPr>
        <p:grpSpPr>
          <a:xfrm>
            <a:off x="1800080" y="3467045"/>
            <a:ext cx="4858246" cy="485824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B0011">
                <a:alpha val="67843"/>
              </a:srgbClr>
            </a:solidFill>
            <a:ln cap="sq">
              <a:noFill/>
              <a:prstDash val="solid"/>
              <a:miter/>
            </a:ln>
          </p:spPr>
          <p:txBody>
            <a:bodyPr/>
            <a:lstStyle/>
            <a:p>
              <a:endParaRPr lang="zh-CN" altLang="en-US"/>
            </a:p>
          </p:txBody>
        </p:sp>
        <p:sp>
          <p:nvSpPr>
            <p:cNvPr id="13" name="TextBox 13"/>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14" name="Group 14"/>
          <p:cNvGrpSpPr/>
          <p:nvPr/>
        </p:nvGrpSpPr>
        <p:grpSpPr>
          <a:xfrm>
            <a:off x="2311752" y="3978717"/>
            <a:ext cx="3834902" cy="383490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zh-CN" altLang="en-US"/>
            </a:p>
          </p:txBody>
        </p:sp>
        <p:sp>
          <p:nvSpPr>
            <p:cNvPr id="16" name="TextBox 1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17" name="Group 17"/>
          <p:cNvGrpSpPr/>
          <p:nvPr/>
        </p:nvGrpSpPr>
        <p:grpSpPr>
          <a:xfrm>
            <a:off x="2537606" y="4204571"/>
            <a:ext cx="3383194" cy="3383194"/>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B0011"/>
            </a:solidFill>
          </p:spPr>
          <p:txBody>
            <a:bodyPr/>
            <a:lstStyle/>
            <a:p>
              <a:endParaRPr lang="zh-CN" altLang="en-US"/>
            </a:p>
          </p:txBody>
        </p:sp>
        <p:sp>
          <p:nvSpPr>
            <p:cNvPr id="19" name="TextBox 1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20" name="Group 20"/>
          <p:cNvGrpSpPr/>
          <p:nvPr/>
        </p:nvGrpSpPr>
        <p:grpSpPr>
          <a:xfrm>
            <a:off x="6095662" y="3238728"/>
            <a:ext cx="441629" cy="441629"/>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B0011"/>
            </a:solidFill>
          </p:spPr>
          <p:txBody>
            <a:bodyPr/>
            <a:lstStyle/>
            <a:p>
              <a:endParaRPr lang="zh-CN" altLang="en-US"/>
            </a:p>
          </p:txBody>
        </p:sp>
        <p:sp>
          <p:nvSpPr>
            <p:cNvPr id="22" name="TextBox 22"/>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23" name="Group 23"/>
          <p:cNvGrpSpPr/>
          <p:nvPr/>
        </p:nvGrpSpPr>
        <p:grpSpPr>
          <a:xfrm>
            <a:off x="7136524" y="4846836"/>
            <a:ext cx="433962" cy="433962"/>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B0011"/>
            </a:solidFill>
          </p:spPr>
          <p:txBody>
            <a:bodyPr/>
            <a:lstStyle/>
            <a:p>
              <a:endParaRPr lang="zh-CN" altLang="en-US"/>
            </a:p>
          </p:txBody>
        </p:sp>
        <p:sp>
          <p:nvSpPr>
            <p:cNvPr id="25" name="TextBox 25"/>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26" name="Group 26"/>
          <p:cNvGrpSpPr/>
          <p:nvPr/>
        </p:nvGrpSpPr>
        <p:grpSpPr>
          <a:xfrm>
            <a:off x="7136524" y="6511537"/>
            <a:ext cx="433962" cy="433962"/>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B0011"/>
            </a:solidFill>
          </p:spPr>
          <p:txBody>
            <a:bodyPr/>
            <a:lstStyle/>
            <a:p>
              <a:endParaRPr lang="zh-CN" altLang="en-US"/>
            </a:p>
          </p:txBody>
        </p:sp>
        <p:sp>
          <p:nvSpPr>
            <p:cNvPr id="28" name="TextBox 28"/>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29" name="Group 29"/>
          <p:cNvGrpSpPr/>
          <p:nvPr/>
        </p:nvGrpSpPr>
        <p:grpSpPr>
          <a:xfrm>
            <a:off x="6095662" y="8172405"/>
            <a:ext cx="441629" cy="441629"/>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B0011"/>
            </a:solidFill>
          </p:spPr>
          <p:txBody>
            <a:bodyPr/>
            <a:lstStyle/>
            <a:p>
              <a:endParaRPr lang="zh-CN" altLang="en-US"/>
            </a:p>
          </p:txBody>
        </p:sp>
        <p:sp>
          <p:nvSpPr>
            <p:cNvPr id="31" name="TextBox 31"/>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32" name="Freeform 32"/>
          <p:cNvSpPr/>
          <p:nvPr/>
        </p:nvSpPr>
        <p:spPr>
          <a:xfrm>
            <a:off x="3753646" y="4856361"/>
            <a:ext cx="951114" cy="982218"/>
          </a:xfrm>
          <a:custGeom>
            <a:avLst/>
            <a:gdLst/>
            <a:ahLst/>
            <a:cxnLst/>
            <a:rect l="l" t="t" r="r" b="b"/>
            <a:pathLst>
              <a:path w="951114" h="982218">
                <a:moveTo>
                  <a:pt x="0" y="0"/>
                </a:moveTo>
                <a:lnTo>
                  <a:pt x="951114" y="0"/>
                </a:lnTo>
                <a:lnTo>
                  <a:pt x="951114" y="982218"/>
                </a:lnTo>
                <a:lnTo>
                  <a:pt x="0" y="9822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33" name="TextBox 33"/>
          <p:cNvSpPr txBox="1"/>
          <p:nvPr/>
        </p:nvSpPr>
        <p:spPr>
          <a:xfrm>
            <a:off x="3182156" y="5972365"/>
            <a:ext cx="2094093" cy="471804"/>
          </a:xfrm>
          <a:prstGeom prst="rect">
            <a:avLst/>
          </a:prstGeom>
        </p:spPr>
        <p:txBody>
          <a:bodyPr lIns="0" tIns="0" rIns="0" bIns="0" rtlCol="0" anchor="t">
            <a:spAutoFit/>
          </a:bodyPr>
          <a:lstStyle/>
          <a:p>
            <a:pPr algn="ctr">
              <a:lnSpc>
                <a:spcPts val="392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小组分工</a:t>
            </a:r>
          </a:p>
        </p:txBody>
      </p:sp>
      <p:sp>
        <p:nvSpPr>
          <p:cNvPr id="34" name="TextBox 34"/>
          <p:cNvSpPr txBox="1"/>
          <p:nvPr/>
        </p:nvSpPr>
        <p:spPr>
          <a:xfrm>
            <a:off x="7128911" y="2822282"/>
            <a:ext cx="9460768" cy="1221105"/>
          </a:xfrm>
          <a:prstGeom prst="rect">
            <a:avLst/>
          </a:prstGeom>
        </p:spPr>
        <p:txBody>
          <a:bodyPr lIns="0" tIns="0" rIns="0" bIns="0" rtlCol="0" anchor="t">
            <a:spAutoFit/>
          </a:bodyPr>
          <a:lstStyle/>
          <a:p>
            <a:pPr algn="just">
              <a:lnSpc>
                <a:spcPts val="3360"/>
              </a:lnSpc>
            </a:pPr>
            <a:r>
              <a:rPr lang="en-US" sz="20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杜子妍（组长）：项目管理、代码合并、完成专题首页和抗战地标模块对应的前后端代码以及模块对应的表的设计、整体项目的细节测试与优化、PPT大致板块、撰写对应模块的设计与实现文档、完成对应模块的PPT部分、后台展示视频录制、视频剪辑</a:t>
            </a:r>
          </a:p>
        </p:txBody>
      </p:sp>
      <p:sp>
        <p:nvSpPr>
          <p:cNvPr id="35" name="TextBox 35"/>
          <p:cNvSpPr txBox="1"/>
          <p:nvPr/>
        </p:nvSpPr>
        <p:spPr>
          <a:xfrm>
            <a:off x="8112564" y="4486983"/>
            <a:ext cx="8652876" cy="1221105"/>
          </a:xfrm>
          <a:prstGeom prst="rect">
            <a:avLst/>
          </a:prstGeom>
        </p:spPr>
        <p:txBody>
          <a:bodyPr lIns="0" tIns="0" rIns="0" bIns="0" rtlCol="0" anchor="t">
            <a:spAutoFit/>
          </a:bodyPr>
          <a:lstStyle/>
          <a:p>
            <a:pPr algn="just">
              <a:lnSpc>
                <a:spcPts val="3360"/>
              </a:lnSpc>
            </a:pPr>
            <a:r>
              <a:rPr lang="en-US" sz="20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谢闻星：项目初始框架搭建、人物专栏和影视信息模块对应的前后端代码以及模块对应的表的设计、完成用户手册和部署文档的撰写、撰写对应模块的设计与实现文档、完成对应模块的PPT部分、部署视频录制</a:t>
            </a:r>
          </a:p>
        </p:txBody>
      </p:sp>
      <p:sp>
        <p:nvSpPr>
          <p:cNvPr id="36" name="TextBox 36"/>
          <p:cNvSpPr txBox="1"/>
          <p:nvPr/>
        </p:nvSpPr>
        <p:spPr>
          <a:xfrm>
            <a:off x="8112564" y="6151684"/>
            <a:ext cx="8652876" cy="1221105"/>
          </a:xfrm>
          <a:prstGeom prst="rect">
            <a:avLst/>
          </a:prstGeom>
        </p:spPr>
        <p:txBody>
          <a:bodyPr lIns="0" tIns="0" rIns="0" bIns="0" rtlCol="0" anchor="t">
            <a:spAutoFit/>
          </a:bodyPr>
          <a:lstStyle/>
          <a:p>
            <a:pPr marL="0" lvl="0" indent="0" algn="just">
              <a:lnSpc>
                <a:spcPts val="3360"/>
              </a:lnSpc>
              <a:spcBef>
                <a:spcPct val="0"/>
              </a:spcBef>
            </a:pPr>
            <a:r>
              <a:rPr lang="en-US" sz="20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谭诗洋：留言板和团队介绍对应的前后端代码以及模块对应的表的设计、后台管理框架代码、整体项目的细节测试与优化、完成需求文档的撰写、撰写对应模块的设计与实现文档、完成对应模块的PPT部分、前台视频录制</a:t>
            </a:r>
          </a:p>
        </p:txBody>
      </p:sp>
      <p:sp>
        <p:nvSpPr>
          <p:cNvPr id="37" name="TextBox 37"/>
          <p:cNvSpPr txBox="1"/>
          <p:nvPr/>
        </p:nvSpPr>
        <p:spPr>
          <a:xfrm>
            <a:off x="7128911" y="7816385"/>
            <a:ext cx="8691841" cy="1221105"/>
          </a:xfrm>
          <a:prstGeom prst="rect">
            <a:avLst/>
          </a:prstGeom>
        </p:spPr>
        <p:txBody>
          <a:bodyPr lIns="0" tIns="0" rIns="0" bIns="0" rtlCol="0" anchor="t">
            <a:spAutoFit/>
          </a:bodyPr>
          <a:lstStyle/>
          <a:p>
            <a:pPr marL="0" lvl="0" indent="0" algn="just">
              <a:lnSpc>
                <a:spcPts val="3360"/>
              </a:lnSpc>
              <a:spcBef>
                <a:spcPct val="0"/>
              </a:spcBef>
            </a:pPr>
            <a:r>
              <a:rPr lang="en-US" sz="20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姚智博：时间戳和抗战数据的前后端代码以及模块对应的表的设计、合并设计文档和实现文档、撰写对应模块的设计与实现文档、完成对应模块的PPT部分、PPT讲解视频录制</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60009" y="3342447"/>
            <a:ext cx="3540935" cy="688803"/>
            <a:chOff x="0" y="0"/>
            <a:chExt cx="1030162" cy="200393"/>
          </a:xfrm>
        </p:grpSpPr>
        <p:sp>
          <p:nvSpPr>
            <p:cNvPr id="3" name="Freeform 3"/>
            <p:cNvSpPr/>
            <p:nvPr/>
          </p:nvSpPr>
          <p:spPr>
            <a:xfrm>
              <a:off x="0" y="0"/>
              <a:ext cx="1030162" cy="200393"/>
            </a:xfrm>
            <a:custGeom>
              <a:avLst/>
              <a:gdLst/>
              <a:ahLst/>
              <a:cxnLst/>
              <a:rect l="l" t="t" r="r" b="b"/>
              <a:pathLst>
                <a:path w="1030162" h="200393">
                  <a:moveTo>
                    <a:pt x="100196" y="0"/>
                  </a:moveTo>
                  <a:lnTo>
                    <a:pt x="929965" y="0"/>
                  </a:lnTo>
                  <a:cubicBezTo>
                    <a:pt x="956539" y="0"/>
                    <a:pt x="982024" y="10556"/>
                    <a:pt x="1000815" y="29347"/>
                  </a:cubicBezTo>
                  <a:cubicBezTo>
                    <a:pt x="1019605" y="48137"/>
                    <a:pt x="1030162" y="73623"/>
                    <a:pt x="1030162" y="100196"/>
                  </a:cubicBezTo>
                  <a:lnTo>
                    <a:pt x="1030162" y="100196"/>
                  </a:lnTo>
                  <a:cubicBezTo>
                    <a:pt x="1030162" y="155533"/>
                    <a:pt x="985302" y="200393"/>
                    <a:pt x="929965" y="200393"/>
                  </a:cubicBezTo>
                  <a:lnTo>
                    <a:pt x="100196" y="200393"/>
                  </a:lnTo>
                  <a:cubicBezTo>
                    <a:pt x="44859" y="200393"/>
                    <a:pt x="0" y="155533"/>
                    <a:pt x="0" y="100196"/>
                  </a:cubicBezTo>
                  <a:lnTo>
                    <a:pt x="0" y="100196"/>
                  </a:lnTo>
                  <a:cubicBezTo>
                    <a:pt x="0" y="44859"/>
                    <a:pt x="44859" y="0"/>
                    <a:pt x="100196" y="0"/>
                  </a:cubicBezTo>
                  <a:close/>
                </a:path>
              </a:pathLst>
            </a:custGeom>
            <a:solidFill>
              <a:srgbClr val="8B0011"/>
            </a:solidFill>
          </p:spPr>
          <p:txBody>
            <a:bodyPr/>
            <a:lstStyle/>
            <a:p>
              <a:endParaRPr lang="zh-CN" altLang="en-US"/>
            </a:p>
          </p:txBody>
        </p:sp>
        <p:sp>
          <p:nvSpPr>
            <p:cNvPr id="4" name="TextBox 4"/>
            <p:cNvSpPr txBox="1"/>
            <p:nvPr/>
          </p:nvSpPr>
          <p:spPr>
            <a:xfrm>
              <a:off x="0" y="-47625"/>
              <a:ext cx="1030162" cy="248018"/>
            </a:xfrm>
            <a:prstGeom prst="rect">
              <a:avLst/>
            </a:prstGeom>
          </p:spPr>
          <p:txBody>
            <a:bodyPr lIns="50800" tIns="50800" rIns="50800" bIns="50800" rtlCol="0" anchor="ctr"/>
            <a:lstStyle/>
            <a:p>
              <a:pPr algn="ctr">
                <a:lnSpc>
                  <a:spcPts val="3105"/>
                </a:lnSpc>
              </a:pPr>
              <a:endParaRPr/>
            </a:p>
          </p:txBody>
        </p:sp>
      </p:grpSp>
      <p:sp>
        <p:nvSpPr>
          <p:cNvPr id="5" name="TextBox 5"/>
          <p:cNvSpPr txBox="1"/>
          <p:nvPr/>
        </p:nvSpPr>
        <p:spPr>
          <a:xfrm>
            <a:off x="1760009" y="4111894"/>
            <a:ext cx="7643783" cy="1324356"/>
          </a:xfrm>
          <a:prstGeom prst="rect">
            <a:avLst/>
          </a:prstGeom>
        </p:spPr>
        <p:txBody>
          <a:bodyPr lIns="0" tIns="0" rIns="0" bIns="0" rtlCol="0" anchor="t">
            <a:spAutoFit/>
          </a:bodyPr>
          <a:lstStyle/>
          <a:p>
            <a:pPr marL="0" lvl="0" indent="0" algn="l">
              <a:lnSpc>
                <a:spcPts val="10690"/>
              </a:lnSpc>
              <a:spcBef>
                <a:spcPct val="0"/>
              </a:spcBef>
            </a:pPr>
            <a:r>
              <a:rPr lang="en-US" sz="8100" b="1">
                <a:solidFill>
                  <a:srgbClr val="1E1E1E"/>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项目总体架构</a:t>
            </a:r>
          </a:p>
        </p:txBody>
      </p:sp>
      <p:sp>
        <p:nvSpPr>
          <p:cNvPr id="7" name="TextBox 7"/>
          <p:cNvSpPr txBox="1"/>
          <p:nvPr/>
        </p:nvSpPr>
        <p:spPr>
          <a:xfrm>
            <a:off x="1992259" y="3377805"/>
            <a:ext cx="3076435" cy="540258"/>
          </a:xfrm>
          <a:prstGeom prst="rect">
            <a:avLst/>
          </a:prstGeom>
        </p:spPr>
        <p:txBody>
          <a:bodyPr lIns="0" tIns="0" rIns="0" bIns="0" rtlCol="0" anchor="t">
            <a:spAutoFit/>
          </a:bodyPr>
          <a:lstStyle/>
          <a:p>
            <a:pPr marL="0" lvl="0" indent="0" algn="ctr">
              <a:lnSpc>
                <a:spcPts val="4355"/>
              </a:lnSpc>
              <a:spcBef>
                <a:spcPct val="0"/>
              </a:spcBef>
            </a:pPr>
            <a:r>
              <a:rPr lang="en-US" sz="3300" b="1">
                <a:solidFill>
                  <a:srgbClr val="FFFFFF"/>
                </a:solidFill>
                <a:latin typeface="思源黑体 1 Medium" panose="020B0600000000000000" charset="-122"/>
                <a:ea typeface="思源黑体 1 Medium" panose="020B0600000000000000" charset="-122"/>
                <a:cs typeface="思源黑体 1 Medium" panose="020B0600000000000000" charset="-122"/>
                <a:sym typeface="思源黑体 1 Medium" panose="020B0600000000000000" charset="-122"/>
              </a:rPr>
              <a:t>第二章节</a:t>
            </a:r>
          </a:p>
        </p:txBody>
      </p:sp>
      <p:sp>
        <p:nvSpPr>
          <p:cNvPr id="8" name="TextBox 8"/>
          <p:cNvSpPr txBox="1"/>
          <p:nvPr/>
        </p:nvSpPr>
        <p:spPr>
          <a:xfrm>
            <a:off x="11447469" y="1911560"/>
            <a:ext cx="5464967" cy="5600700"/>
          </a:xfrm>
          <a:prstGeom prst="rect">
            <a:avLst/>
          </a:prstGeom>
        </p:spPr>
        <p:txBody>
          <a:bodyPr lIns="0" tIns="0" rIns="0" bIns="0" rtlCol="0" anchor="t">
            <a:spAutoFit/>
          </a:bodyPr>
          <a:lstStyle/>
          <a:p>
            <a:pPr algn="ctr">
              <a:lnSpc>
                <a:spcPts val="39070"/>
              </a:lnSpc>
            </a:pPr>
            <a:r>
              <a:rPr lang="en-US" sz="32560" b="1">
                <a:solidFill>
                  <a:srgbClr val="8B0011"/>
                </a:solidFill>
                <a:latin typeface="Akzidenz-Grotesk Bold" panose="02000803050000020004"/>
                <a:ea typeface="Akzidenz-Grotesk Bold" panose="02000803050000020004"/>
                <a:cs typeface="Akzidenz-Grotesk Bold" panose="02000803050000020004"/>
                <a:sym typeface="Akzidenz-Grotesk Bold" panose="02000803050000020004"/>
              </a:rPr>
              <a:t>02</a:t>
            </a:r>
          </a:p>
        </p:txBody>
      </p:sp>
      <p:sp>
        <p:nvSpPr>
          <p:cNvPr id="9" name="Freeform 9"/>
          <p:cNvSpPr/>
          <p:nvPr/>
        </p:nvSpPr>
        <p:spPr>
          <a:xfrm rot="-10800000">
            <a:off x="9490114" y="-540022"/>
            <a:ext cx="11136611" cy="3211381"/>
          </a:xfrm>
          <a:custGeom>
            <a:avLst/>
            <a:gdLst/>
            <a:ahLst/>
            <a:cxnLst/>
            <a:rect l="l" t="t" r="r" b="b"/>
            <a:pathLst>
              <a:path w="11136611" h="3211381">
                <a:moveTo>
                  <a:pt x="0" y="0"/>
                </a:moveTo>
                <a:lnTo>
                  <a:pt x="11136611" y="0"/>
                </a:lnTo>
                <a:lnTo>
                  <a:pt x="11136611" y="3211381"/>
                </a:lnTo>
                <a:lnTo>
                  <a:pt x="0" y="32113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0" name="Freeform 10"/>
          <p:cNvSpPr/>
          <p:nvPr/>
        </p:nvSpPr>
        <p:spPr>
          <a:xfrm>
            <a:off x="-2338725" y="7615641"/>
            <a:ext cx="11136611" cy="3211381"/>
          </a:xfrm>
          <a:custGeom>
            <a:avLst/>
            <a:gdLst/>
            <a:ahLst/>
            <a:cxnLst/>
            <a:rect l="l" t="t" r="r" b="b"/>
            <a:pathLst>
              <a:path w="11136611" h="3211381">
                <a:moveTo>
                  <a:pt x="0" y="0"/>
                </a:moveTo>
                <a:lnTo>
                  <a:pt x="11136611" y="0"/>
                </a:lnTo>
                <a:lnTo>
                  <a:pt x="11136611" y="3211381"/>
                </a:lnTo>
                <a:lnTo>
                  <a:pt x="0" y="32113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1" name="Freeform 11"/>
          <p:cNvSpPr/>
          <p:nvPr/>
        </p:nvSpPr>
        <p:spPr>
          <a:xfrm rot="-5275027">
            <a:off x="10448454" y="6857005"/>
            <a:ext cx="1998030" cy="2436622"/>
          </a:xfrm>
          <a:custGeom>
            <a:avLst/>
            <a:gdLst/>
            <a:ahLst/>
            <a:cxnLst/>
            <a:rect l="l" t="t" r="r" b="b"/>
            <a:pathLst>
              <a:path w="1998030" h="2436622">
                <a:moveTo>
                  <a:pt x="0" y="0"/>
                </a:moveTo>
                <a:lnTo>
                  <a:pt x="1998030" y="0"/>
                </a:lnTo>
                <a:lnTo>
                  <a:pt x="1998030" y="2436622"/>
                </a:lnTo>
                <a:lnTo>
                  <a:pt x="0" y="2436622"/>
                </a:lnTo>
                <a:lnTo>
                  <a:pt x="0" y="0"/>
                </a:lnTo>
                <a:close/>
              </a:path>
            </a:pathLst>
          </a:custGeom>
          <a:blipFill>
            <a:blip r:embed="rId4">
              <a:alphaModFix amt="26000"/>
              <a:extLst>
                <a:ext uri="{96DAC541-7B7A-43D3-8B79-37D633B846F1}">
                  <asvg:svgBlip xmlns:asvg="http://schemas.microsoft.com/office/drawing/2016/SVG/main" r:embed="rId5"/>
                </a:ext>
              </a:extLst>
            </a:blip>
            <a:stretch>
              <a:fillRect/>
            </a:stretch>
          </a:blipFill>
        </p:spPr>
        <p:txBody>
          <a:bodyPr/>
          <a:lstStyle/>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2232751" y="7825360"/>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3" name="Freeform 3"/>
          <p:cNvSpPr/>
          <p:nvPr/>
        </p:nvSpPr>
        <p:spPr>
          <a:xfrm rot="-5400000" flipH="1">
            <a:off x="14777542" y="805514"/>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grpSp>
        <p:nvGrpSpPr>
          <p:cNvPr id="4" name="Group 4"/>
          <p:cNvGrpSpPr/>
          <p:nvPr/>
        </p:nvGrpSpPr>
        <p:grpSpPr>
          <a:xfrm>
            <a:off x="-94605" y="-172349"/>
            <a:ext cx="18477209" cy="451224"/>
            <a:chOff x="0" y="0"/>
            <a:chExt cx="4519404" cy="110366"/>
          </a:xfrm>
        </p:grpSpPr>
        <p:sp>
          <p:nvSpPr>
            <p:cNvPr id="5" name="Freeform 5"/>
            <p:cNvSpPr/>
            <p:nvPr/>
          </p:nvSpPr>
          <p:spPr>
            <a:xfrm>
              <a:off x="0" y="0"/>
              <a:ext cx="4519404" cy="110366"/>
            </a:xfrm>
            <a:custGeom>
              <a:avLst/>
              <a:gdLst/>
              <a:ahLst/>
              <a:cxnLst/>
              <a:rect l="l" t="t" r="r" b="b"/>
              <a:pathLst>
                <a:path w="4519404" h="110366">
                  <a:moveTo>
                    <a:pt x="0" y="0"/>
                  </a:moveTo>
                  <a:lnTo>
                    <a:pt x="4519404" y="0"/>
                  </a:lnTo>
                  <a:lnTo>
                    <a:pt x="4519404" y="110366"/>
                  </a:lnTo>
                  <a:lnTo>
                    <a:pt x="0" y="110366"/>
                  </a:lnTo>
                  <a:close/>
                </a:path>
              </a:pathLst>
            </a:custGeom>
            <a:solidFill>
              <a:srgbClr val="8B0011"/>
            </a:solidFill>
          </p:spPr>
          <p:txBody>
            <a:bodyPr/>
            <a:lstStyle/>
            <a:p>
              <a:endParaRPr lang="zh-CN" altLang="en-US"/>
            </a:p>
          </p:txBody>
        </p:sp>
        <p:sp>
          <p:nvSpPr>
            <p:cNvPr id="6" name="TextBox 6"/>
            <p:cNvSpPr txBox="1"/>
            <p:nvPr/>
          </p:nvSpPr>
          <p:spPr>
            <a:xfrm>
              <a:off x="0" y="-47625"/>
              <a:ext cx="4519404" cy="157991"/>
            </a:xfrm>
            <a:prstGeom prst="rect">
              <a:avLst/>
            </a:prstGeom>
          </p:spPr>
          <p:txBody>
            <a:bodyPr lIns="50800" tIns="50800" rIns="50800" bIns="50800" rtlCol="0" anchor="ctr"/>
            <a:lstStyle/>
            <a:p>
              <a:pPr algn="ctr">
                <a:lnSpc>
                  <a:spcPts val="3210"/>
                </a:lnSpc>
              </a:pPr>
              <a:endParaRPr/>
            </a:p>
          </p:txBody>
        </p:sp>
      </p:grpSp>
      <p:sp>
        <p:nvSpPr>
          <p:cNvPr id="7" name="TextBox 7"/>
          <p:cNvSpPr txBox="1"/>
          <p:nvPr/>
        </p:nvSpPr>
        <p:spPr>
          <a:xfrm>
            <a:off x="6355968" y="814427"/>
            <a:ext cx="5576065" cy="800100"/>
          </a:xfrm>
          <a:prstGeom prst="rect">
            <a:avLst/>
          </a:prstGeom>
        </p:spPr>
        <p:txBody>
          <a:bodyPr lIns="0" tIns="0" rIns="0" bIns="0" rtlCol="0" anchor="t">
            <a:spAutoFit/>
          </a:bodyPr>
          <a:lstStyle/>
          <a:p>
            <a:pPr algn="ctr">
              <a:lnSpc>
                <a:spcPts val="6360"/>
              </a:lnSpc>
            </a:pPr>
            <a:r>
              <a:rPr lang="en-US" sz="53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总体架构</a:t>
            </a:r>
          </a:p>
        </p:txBody>
      </p:sp>
      <p:grpSp>
        <p:nvGrpSpPr>
          <p:cNvPr id="8" name="Group 8"/>
          <p:cNvGrpSpPr/>
          <p:nvPr/>
        </p:nvGrpSpPr>
        <p:grpSpPr>
          <a:xfrm>
            <a:off x="1611765" y="2947386"/>
            <a:ext cx="6651573" cy="6635792"/>
            <a:chOff x="0" y="0"/>
            <a:chExt cx="1751855" cy="1747698"/>
          </a:xfrm>
        </p:grpSpPr>
        <p:sp>
          <p:nvSpPr>
            <p:cNvPr id="9" name="Freeform 9"/>
            <p:cNvSpPr/>
            <p:nvPr/>
          </p:nvSpPr>
          <p:spPr>
            <a:xfrm>
              <a:off x="0" y="0"/>
              <a:ext cx="1751855" cy="1747698"/>
            </a:xfrm>
            <a:custGeom>
              <a:avLst/>
              <a:gdLst/>
              <a:ahLst/>
              <a:cxnLst/>
              <a:rect l="l" t="t" r="r" b="b"/>
              <a:pathLst>
                <a:path w="1751855" h="1747698">
                  <a:moveTo>
                    <a:pt x="0" y="0"/>
                  </a:moveTo>
                  <a:lnTo>
                    <a:pt x="1751855" y="0"/>
                  </a:lnTo>
                  <a:lnTo>
                    <a:pt x="1751855" y="1747698"/>
                  </a:lnTo>
                  <a:lnTo>
                    <a:pt x="0" y="1747698"/>
                  </a:lnTo>
                  <a:close/>
                </a:path>
              </a:pathLst>
            </a:custGeom>
            <a:solidFill>
              <a:srgbClr val="000000">
                <a:alpha val="0"/>
              </a:srgbClr>
            </a:solidFill>
            <a:ln w="19050" cap="sq">
              <a:solidFill>
                <a:srgbClr val="8B0011"/>
              </a:solidFill>
              <a:prstDash val="solid"/>
              <a:miter/>
            </a:ln>
          </p:spPr>
          <p:txBody>
            <a:bodyPr>
              <a:scene3d>
                <a:camera prst="orthographicFront"/>
                <a:lightRig rig="threePt" dir="t"/>
              </a:scene3d>
            </a:bodyPr>
            <a:lstStyle/>
            <a:p>
              <a:endParaRPr lang="zh-CN" altLang="en-US">
                <a:ln/>
                <a:solidFill>
                  <a:schemeClr val="bg2"/>
                </a:solidFill>
                <a:effectLst/>
              </a:endParaRPr>
            </a:p>
          </p:txBody>
        </p:sp>
        <p:sp>
          <p:nvSpPr>
            <p:cNvPr id="10" name="TextBox 10"/>
            <p:cNvSpPr txBox="1"/>
            <p:nvPr/>
          </p:nvSpPr>
          <p:spPr>
            <a:xfrm>
              <a:off x="0" y="-28575"/>
              <a:ext cx="1751855" cy="1776273"/>
            </a:xfrm>
            <a:prstGeom prst="rect">
              <a:avLst/>
            </a:prstGeom>
          </p:spPr>
          <p:txBody>
            <a:bodyPr lIns="50800" tIns="50800" rIns="50800" bIns="50800" rtlCol="0" anchor="ctr">
              <a:scene3d>
                <a:camera prst="orthographicFront"/>
                <a:lightRig rig="threePt" dir="t"/>
              </a:scene3d>
            </a:bodyPr>
            <a:lstStyle/>
            <a:p>
              <a:pPr algn="just">
                <a:lnSpc>
                  <a:spcPts val="2660"/>
                </a:lnSpc>
              </a:pPr>
              <a:endParaRPr>
                <a:ln/>
                <a:solidFill>
                  <a:schemeClr val="bg2"/>
                </a:solidFill>
                <a:effectLst/>
              </a:endParaRPr>
            </a:p>
            <a:p>
              <a:pPr algn="just">
                <a:lnSpc>
                  <a:spcPts val="2660"/>
                </a:lnSpc>
              </a:pPr>
              <a:endParaRPr>
                <a:ln/>
                <a:solidFill>
                  <a:schemeClr val="bg2"/>
                </a:solidFill>
                <a:effectLst/>
              </a:endParaRPr>
            </a:p>
          </p:txBody>
        </p:sp>
      </p:grpSp>
      <p:grpSp>
        <p:nvGrpSpPr>
          <p:cNvPr id="11" name="Group 11"/>
          <p:cNvGrpSpPr/>
          <p:nvPr/>
        </p:nvGrpSpPr>
        <p:grpSpPr>
          <a:xfrm>
            <a:off x="9144000" y="2960487"/>
            <a:ext cx="8227573" cy="6622692"/>
            <a:chOff x="0" y="0"/>
            <a:chExt cx="2811278" cy="2262906"/>
          </a:xfrm>
        </p:grpSpPr>
        <p:sp>
          <p:nvSpPr>
            <p:cNvPr id="12" name="Freeform 12"/>
            <p:cNvSpPr/>
            <p:nvPr/>
          </p:nvSpPr>
          <p:spPr>
            <a:xfrm>
              <a:off x="0" y="0"/>
              <a:ext cx="2811278" cy="2262906"/>
            </a:xfrm>
            <a:custGeom>
              <a:avLst/>
              <a:gdLst/>
              <a:ahLst/>
              <a:cxnLst/>
              <a:rect l="l" t="t" r="r" b="b"/>
              <a:pathLst>
                <a:path w="2811278" h="2262906">
                  <a:moveTo>
                    <a:pt x="0" y="0"/>
                  </a:moveTo>
                  <a:lnTo>
                    <a:pt x="2811278" y="0"/>
                  </a:lnTo>
                  <a:lnTo>
                    <a:pt x="2811278" y="2262906"/>
                  </a:lnTo>
                  <a:lnTo>
                    <a:pt x="0" y="2262906"/>
                  </a:lnTo>
                  <a:close/>
                </a:path>
              </a:pathLst>
            </a:custGeom>
            <a:solidFill>
              <a:srgbClr val="8B0011"/>
            </a:solidFill>
          </p:spPr>
          <p:txBody>
            <a:bodyPr/>
            <a:lstStyle/>
            <a:p>
              <a:endParaRPr lang="zh-CN" altLang="en-US"/>
            </a:p>
          </p:txBody>
        </p:sp>
        <p:sp>
          <p:nvSpPr>
            <p:cNvPr id="13" name="TextBox 13"/>
            <p:cNvSpPr txBox="1"/>
            <p:nvPr/>
          </p:nvSpPr>
          <p:spPr>
            <a:xfrm>
              <a:off x="0" y="-28575"/>
              <a:ext cx="2811278" cy="2291481"/>
            </a:xfrm>
            <a:prstGeom prst="rect">
              <a:avLst/>
            </a:prstGeom>
          </p:spPr>
          <p:txBody>
            <a:bodyPr lIns="50800" tIns="50800" rIns="50800" bIns="50800" rtlCol="0" anchor="ctr"/>
            <a:lstStyle/>
            <a:p>
              <a:pPr algn="ctr">
                <a:lnSpc>
                  <a:spcPts val="2660"/>
                </a:lnSpc>
              </a:pPr>
              <a:endParaRPr/>
            </a:p>
          </p:txBody>
        </p:sp>
      </p:grpSp>
      <p:sp>
        <p:nvSpPr>
          <p:cNvPr id="14" name="TextBox 14"/>
          <p:cNvSpPr txBox="1"/>
          <p:nvPr/>
        </p:nvSpPr>
        <p:spPr>
          <a:xfrm>
            <a:off x="2042166" y="2140301"/>
            <a:ext cx="14778917" cy="807085"/>
          </a:xfrm>
          <a:prstGeom prst="rect">
            <a:avLst/>
          </a:prstGeom>
        </p:spPr>
        <p:txBody>
          <a:bodyPr lIns="0" tIns="0" rIns="0" bIns="0" rtlCol="0" anchor="t">
            <a:spAutoFit/>
          </a:bodyPr>
          <a:lstStyle/>
          <a:p>
            <a:pPr algn="l">
              <a:lnSpc>
                <a:spcPts val="2940"/>
              </a:lnSpc>
              <a:spcBef>
                <a:spcPct val="0"/>
              </a:spcBef>
            </a:pPr>
            <a:r>
              <a:rPr lang="en-US" sz="21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项目总体架构（Yii2 Advanced），基于 </a:t>
            </a:r>
            <a:r>
              <a:rPr lang="en-US" sz="2100">
                <a:solidFill>
                  <a:srgbClr val="8B0011"/>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Yii2 Advanced Application Template</a:t>
            </a:r>
            <a:r>
              <a:rPr lang="en-US" sz="21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，采用 </a:t>
            </a:r>
            <a:r>
              <a:rPr lang="en-US" sz="2100">
                <a:solidFill>
                  <a:srgbClr val="8B0011"/>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前后台分离 + 公共模块共享</a:t>
            </a:r>
            <a:r>
              <a:rPr lang="en-US" sz="21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 的架构设计</a:t>
            </a:r>
          </a:p>
          <a:p>
            <a:pPr algn="l">
              <a:lnSpc>
                <a:spcPts val="3640"/>
              </a:lnSpc>
              <a:spcBef>
                <a:spcPct val="0"/>
              </a:spcBef>
            </a:pPr>
            <a:endParaRPr lang="en-US" sz="21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p:txBody>
      </p:sp>
      <p:sp>
        <p:nvSpPr>
          <p:cNvPr id="15" name="TextBox 15"/>
          <p:cNvSpPr txBox="1"/>
          <p:nvPr/>
        </p:nvSpPr>
        <p:spPr>
          <a:xfrm>
            <a:off x="1752369" y="3045118"/>
            <a:ext cx="6370365" cy="3051175"/>
          </a:xfrm>
          <a:prstGeom prst="rect">
            <a:avLst/>
          </a:prstGeom>
        </p:spPr>
        <p:txBody>
          <a:bodyPr lIns="0" tIns="0" rIns="0" bIns="0" rtlCol="0" anchor="t">
            <a:spAutoFit/>
          </a:bodyPr>
          <a:lstStyle/>
          <a:p>
            <a:pPr algn="l">
              <a:lnSpc>
                <a:spcPts val="3500"/>
              </a:lnSpc>
              <a:spcBef>
                <a:spcPct val="0"/>
              </a:spcBef>
            </a:pPr>
            <a:r>
              <a:rPr lang="en-US" sz="2500" b="1" dirty="0" err="1">
                <a:solidFill>
                  <a:srgbClr val="8B0011"/>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系统分层与目录结构</a:t>
            </a:r>
            <a:endParaRPr lang="en-US" sz="2500" b="1" dirty="0">
              <a:solidFill>
                <a:srgbClr val="8B0011"/>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endParaRPr>
          </a:p>
          <a:p>
            <a:pPr algn="l">
              <a:lnSpc>
                <a:spcPts val="3500"/>
              </a:lnSpc>
              <a:spcBef>
                <a:spcPct val="0"/>
              </a:spcBef>
            </a:pPr>
            <a:r>
              <a:rPr lang="en-US" sz="25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frontend：用户前台站点（内容展示与交互</a:t>
            </a:r>
            <a:r>
              <a:rPr lang="en-US" sz="25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p>
          <a:p>
            <a:pPr algn="l">
              <a:lnSpc>
                <a:spcPts val="3500"/>
              </a:lnSpc>
              <a:spcBef>
                <a:spcPct val="0"/>
              </a:spcBef>
            </a:pPr>
            <a:r>
              <a:rPr lang="en-US" sz="25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backend：管理员后台（数据管理与审核</a:t>
            </a:r>
            <a:r>
              <a:rPr lang="en-US" sz="25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p>
          <a:p>
            <a:pPr algn="l">
              <a:lnSpc>
                <a:spcPts val="3500"/>
              </a:lnSpc>
              <a:spcBef>
                <a:spcPct val="0"/>
              </a:spcBef>
            </a:pPr>
            <a:r>
              <a:rPr lang="en-US" sz="25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common：共享模型、组件与配置</a:t>
            </a:r>
            <a:endParaRPr lang="en-US" sz="25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l">
              <a:lnSpc>
                <a:spcPts val="3500"/>
              </a:lnSpc>
              <a:spcBef>
                <a:spcPct val="0"/>
              </a:spcBef>
            </a:pPr>
            <a:r>
              <a:rPr lang="en-US" sz="25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console：命令行工具与数据库迁移</a:t>
            </a:r>
            <a:endParaRPr lang="en-US" sz="25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l">
              <a:lnSpc>
                <a:spcPts val="3500"/>
              </a:lnSpc>
              <a:spcBef>
                <a:spcPct val="0"/>
              </a:spcBef>
            </a:pPr>
            <a:r>
              <a:rPr lang="en-US" sz="25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environments：多环境配置模板</a:t>
            </a:r>
            <a:endParaRPr lang="en-US" sz="25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l">
              <a:lnSpc>
                <a:spcPts val="3500"/>
              </a:lnSpc>
              <a:spcBef>
                <a:spcPct val="0"/>
              </a:spcBef>
            </a:pPr>
            <a:r>
              <a:rPr lang="en-US" sz="25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vendor：第三方依赖库</a:t>
            </a:r>
            <a:endParaRPr lang="en-US" sz="25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p:txBody>
      </p:sp>
      <p:sp>
        <p:nvSpPr>
          <p:cNvPr id="16" name="TextBox 16"/>
          <p:cNvSpPr txBox="1"/>
          <p:nvPr/>
        </p:nvSpPr>
        <p:spPr>
          <a:xfrm>
            <a:off x="1752369" y="6645275"/>
            <a:ext cx="6639595" cy="2613025"/>
          </a:xfrm>
          <a:prstGeom prst="rect">
            <a:avLst/>
          </a:prstGeom>
        </p:spPr>
        <p:txBody>
          <a:bodyPr lIns="0" tIns="0" rIns="0" bIns="0" rtlCol="0" anchor="t">
            <a:spAutoFit/>
          </a:bodyPr>
          <a:lstStyle/>
          <a:p>
            <a:pPr algn="l">
              <a:lnSpc>
                <a:spcPts val="3500"/>
              </a:lnSpc>
              <a:spcBef>
                <a:spcPct val="0"/>
              </a:spcBef>
            </a:pPr>
            <a:r>
              <a:rPr lang="en-US" sz="2500" b="1">
                <a:solidFill>
                  <a:srgbClr val="8B0011"/>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技术栈选型</a:t>
            </a:r>
          </a:p>
          <a:p>
            <a:pPr algn="l">
              <a:lnSpc>
                <a:spcPts val="3500"/>
              </a:lnSpc>
              <a:spcBef>
                <a:spcPct val="0"/>
              </a:spcBef>
            </a:pPr>
            <a:r>
              <a:rPr lang="en-US" sz="25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后端：PHP 7+ / Yii2 Advanced</a:t>
            </a:r>
          </a:p>
          <a:p>
            <a:pPr algn="l">
              <a:lnSpc>
                <a:spcPts val="3500"/>
              </a:lnSpc>
              <a:spcBef>
                <a:spcPct val="0"/>
              </a:spcBef>
            </a:pPr>
            <a:r>
              <a:rPr lang="en-US" sz="25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数据库：MySQL</a:t>
            </a:r>
          </a:p>
          <a:p>
            <a:pPr algn="l">
              <a:lnSpc>
                <a:spcPts val="3500"/>
              </a:lnSpc>
              <a:spcBef>
                <a:spcPct val="0"/>
              </a:spcBef>
            </a:pPr>
            <a:r>
              <a:rPr lang="en-US" sz="25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前端：Bootstrap 3</a:t>
            </a:r>
          </a:p>
          <a:p>
            <a:pPr algn="l">
              <a:lnSpc>
                <a:spcPts val="3500"/>
              </a:lnSpc>
              <a:spcBef>
                <a:spcPct val="0"/>
              </a:spcBef>
            </a:pPr>
            <a:r>
              <a:rPr lang="en-US" sz="25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可视化：ECharts、Three.js（部分模块）</a:t>
            </a:r>
          </a:p>
          <a:p>
            <a:pPr algn="l">
              <a:lnSpc>
                <a:spcPts val="3500"/>
              </a:lnSpc>
              <a:spcBef>
                <a:spcPct val="0"/>
              </a:spcBef>
            </a:pPr>
            <a:r>
              <a:rPr lang="en-US" sz="25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运行环境：XAMPP（Apache + PHP + MySQL）</a:t>
            </a:r>
          </a:p>
        </p:txBody>
      </p:sp>
      <p:sp>
        <p:nvSpPr>
          <p:cNvPr id="17" name="TextBox 17"/>
          <p:cNvSpPr txBox="1"/>
          <p:nvPr/>
        </p:nvSpPr>
        <p:spPr>
          <a:xfrm>
            <a:off x="8122733" y="3045118"/>
            <a:ext cx="6027985" cy="3489325"/>
          </a:xfrm>
          <a:prstGeom prst="rect">
            <a:avLst/>
          </a:prstGeom>
        </p:spPr>
        <p:txBody>
          <a:bodyPr lIns="0" tIns="0" rIns="0" bIns="0" rtlCol="0" anchor="t">
            <a:spAutoFit/>
          </a:bodyPr>
          <a:lstStyle/>
          <a:p>
            <a:pPr algn="ctr">
              <a:lnSpc>
                <a:spcPts val="3500"/>
              </a:lnSpc>
              <a:spcBef>
                <a:spcPct val="0"/>
              </a:spcBef>
            </a:pPr>
            <a:r>
              <a:rPr lang="en-US" sz="2500" b="1">
                <a:solidFill>
                  <a:srgbClr val="FFFFFF"/>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前台功能模块设计</a:t>
            </a:r>
          </a:p>
          <a:p>
            <a:pPr algn="ctr">
              <a:lnSpc>
                <a:spcPts val="3500"/>
              </a:lnSpc>
              <a:spcBef>
                <a:spcPct val="0"/>
              </a:spcBef>
            </a:pPr>
            <a:r>
              <a:rPr lang="en-US" sz="2500">
                <a:solidFill>
                  <a:srgbClr val="FFFFFF"/>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专题首页</a:t>
            </a:r>
          </a:p>
          <a:p>
            <a:pPr algn="ctr">
              <a:lnSpc>
                <a:spcPts val="3500"/>
              </a:lnSpc>
              <a:spcBef>
                <a:spcPct val="0"/>
              </a:spcBef>
            </a:pPr>
            <a:r>
              <a:rPr lang="en-US" sz="2500">
                <a:solidFill>
                  <a:srgbClr val="FFFFFF"/>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时间轴（历史事件展示）</a:t>
            </a:r>
          </a:p>
          <a:p>
            <a:pPr algn="ctr">
              <a:lnSpc>
                <a:spcPts val="3500"/>
              </a:lnSpc>
              <a:spcBef>
                <a:spcPct val="0"/>
              </a:spcBef>
            </a:pPr>
            <a:r>
              <a:rPr lang="en-US" sz="2500">
                <a:solidFill>
                  <a:srgbClr val="FFFFFF"/>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抗战地标（地图 + 列表）</a:t>
            </a:r>
          </a:p>
          <a:p>
            <a:pPr algn="ctr">
              <a:lnSpc>
                <a:spcPts val="3500"/>
              </a:lnSpc>
              <a:spcBef>
                <a:spcPct val="0"/>
              </a:spcBef>
            </a:pPr>
            <a:r>
              <a:rPr lang="en-US" sz="2500">
                <a:solidFill>
                  <a:srgbClr val="FFFFFF"/>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数据统计与可视化</a:t>
            </a:r>
          </a:p>
          <a:p>
            <a:pPr algn="ctr">
              <a:lnSpc>
                <a:spcPts val="3500"/>
              </a:lnSpc>
              <a:spcBef>
                <a:spcPct val="0"/>
              </a:spcBef>
            </a:pPr>
            <a:r>
              <a:rPr lang="en-US" sz="2500">
                <a:solidFill>
                  <a:srgbClr val="FFFFFF"/>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人物专栏 / 影视信息</a:t>
            </a:r>
          </a:p>
          <a:p>
            <a:pPr algn="ctr">
              <a:lnSpc>
                <a:spcPts val="3500"/>
              </a:lnSpc>
              <a:spcBef>
                <a:spcPct val="0"/>
              </a:spcBef>
            </a:pPr>
            <a:r>
              <a:rPr lang="en-US" sz="2500">
                <a:solidFill>
                  <a:srgbClr val="FFFFFF"/>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留言板</a:t>
            </a:r>
          </a:p>
          <a:p>
            <a:pPr algn="ctr">
              <a:lnSpc>
                <a:spcPts val="3500"/>
              </a:lnSpc>
              <a:spcBef>
                <a:spcPct val="0"/>
              </a:spcBef>
            </a:pPr>
            <a:r>
              <a:rPr lang="en-US" sz="2500">
                <a:solidFill>
                  <a:srgbClr val="FFFFFF"/>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团队介绍</a:t>
            </a:r>
          </a:p>
        </p:txBody>
      </p:sp>
      <p:sp>
        <p:nvSpPr>
          <p:cNvPr id="18" name="TextBox 18"/>
          <p:cNvSpPr txBox="1"/>
          <p:nvPr/>
        </p:nvSpPr>
        <p:spPr>
          <a:xfrm>
            <a:off x="13061082" y="3045118"/>
            <a:ext cx="4198218" cy="3489325"/>
          </a:xfrm>
          <a:prstGeom prst="rect">
            <a:avLst/>
          </a:prstGeom>
        </p:spPr>
        <p:txBody>
          <a:bodyPr lIns="0" tIns="0" rIns="0" bIns="0" rtlCol="0" anchor="t">
            <a:spAutoFit/>
          </a:bodyPr>
          <a:lstStyle/>
          <a:p>
            <a:pPr algn="ctr">
              <a:lnSpc>
                <a:spcPts val="3500"/>
              </a:lnSpc>
              <a:spcBef>
                <a:spcPct val="0"/>
              </a:spcBef>
            </a:pPr>
            <a:r>
              <a:rPr lang="en-US" sz="2500" b="1">
                <a:solidFill>
                  <a:srgbClr val="FFFFFF"/>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后台功能与管理职责</a:t>
            </a:r>
          </a:p>
          <a:p>
            <a:pPr algn="ctr">
              <a:lnSpc>
                <a:spcPts val="3500"/>
              </a:lnSpc>
              <a:spcBef>
                <a:spcPct val="0"/>
              </a:spcBef>
            </a:pPr>
            <a:r>
              <a:rPr lang="en-US" sz="2500">
                <a:solidFill>
                  <a:srgbClr val="FFFFFF"/>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各模块数据 CRUD 管理</a:t>
            </a:r>
          </a:p>
          <a:p>
            <a:pPr algn="ctr">
              <a:lnSpc>
                <a:spcPts val="3500"/>
              </a:lnSpc>
              <a:spcBef>
                <a:spcPct val="0"/>
              </a:spcBef>
            </a:pPr>
            <a:r>
              <a:rPr lang="en-US" sz="2500">
                <a:solidFill>
                  <a:srgbClr val="FFFFFF"/>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战役 / 地标</a:t>
            </a:r>
          </a:p>
          <a:p>
            <a:pPr algn="ctr">
              <a:lnSpc>
                <a:spcPts val="3500"/>
              </a:lnSpc>
              <a:spcBef>
                <a:spcPct val="0"/>
              </a:spcBef>
            </a:pPr>
            <a:r>
              <a:rPr lang="en-US" sz="2500">
                <a:solidFill>
                  <a:srgbClr val="FFFFFF"/>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人物 / 影视</a:t>
            </a:r>
          </a:p>
          <a:p>
            <a:pPr algn="ctr">
              <a:lnSpc>
                <a:spcPts val="3500"/>
              </a:lnSpc>
              <a:spcBef>
                <a:spcPct val="0"/>
              </a:spcBef>
            </a:pPr>
            <a:r>
              <a:rPr lang="en-US" sz="2500">
                <a:solidFill>
                  <a:srgbClr val="FFFFFF"/>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数据统计</a:t>
            </a:r>
          </a:p>
          <a:p>
            <a:pPr algn="ctr">
              <a:lnSpc>
                <a:spcPts val="3500"/>
              </a:lnSpc>
              <a:spcBef>
                <a:spcPct val="0"/>
              </a:spcBef>
            </a:pPr>
            <a:r>
              <a:rPr lang="en-US" sz="2500">
                <a:solidFill>
                  <a:srgbClr val="FFFFFF"/>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留言审核与内容管理</a:t>
            </a:r>
          </a:p>
          <a:p>
            <a:pPr algn="ctr">
              <a:lnSpc>
                <a:spcPts val="3500"/>
              </a:lnSpc>
              <a:spcBef>
                <a:spcPct val="0"/>
              </a:spcBef>
            </a:pPr>
            <a:r>
              <a:rPr lang="en-US" sz="2500">
                <a:solidFill>
                  <a:srgbClr val="FFFFFF"/>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首页专题内容配置</a:t>
            </a:r>
          </a:p>
          <a:p>
            <a:pPr algn="ctr">
              <a:lnSpc>
                <a:spcPts val="3500"/>
              </a:lnSpc>
              <a:spcBef>
                <a:spcPct val="0"/>
              </a:spcBef>
            </a:pPr>
            <a:r>
              <a:rPr lang="en-US" sz="2500">
                <a:solidFill>
                  <a:srgbClr val="FFFFFF"/>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控制内容 展示顺序与启用状态</a:t>
            </a:r>
          </a:p>
        </p:txBody>
      </p:sp>
      <p:sp>
        <p:nvSpPr>
          <p:cNvPr id="19" name="TextBox 19"/>
          <p:cNvSpPr txBox="1"/>
          <p:nvPr/>
        </p:nvSpPr>
        <p:spPr>
          <a:xfrm>
            <a:off x="9329679" y="6822824"/>
            <a:ext cx="7856214" cy="2613025"/>
          </a:xfrm>
          <a:prstGeom prst="rect">
            <a:avLst/>
          </a:prstGeom>
        </p:spPr>
        <p:txBody>
          <a:bodyPr lIns="0" tIns="0" rIns="0" bIns="0" rtlCol="0" anchor="t">
            <a:spAutoFit/>
          </a:bodyPr>
          <a:lstStyle/>
          <a:p>
            <a:pPr algn="l">
              <a:lnSpc>
                <a:spcPts val="3500"/>
              </a:lnSpc>
              <a:spcBef>
                <a:spcPct val="0"/>
              </a:spcBef>
            </a:pPr>
            <a:r>
              <a:rPr lang="en-US" sz="2500" b="1">
                <a:solidFill>
                  <a:srgbClr val="FFFFFF"/>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数据模型层设计</a:t>
            </a:r>
          </a:p>
          <a:p>
            <a:pPr algn="l">
              <a:lnSpc>
                <a:spcPts val="3500"/>
              </a:lnSpc>
              <a:spcBef>
                <a:spcPct val="0"/>
              </a:spcBef>
            </a:pPr>
            <a:r>
              <a:rPr lang="en-US" sz="2500">
                <a:solidFill>
                  <a:srgbClr val="FFFFFF"/>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基于 ActiveRecord 设计，模型集中于 common/models前后端共用统一数据模型</a:t>
            </a:r>
          </a:p>
          <a:p>
            <a:pPr algn="l">
              <a:lnSpc>
                <a:spcPts val="3500"/>
              </a:lnSpc>
              <a:spcBef>
                <a:spcPct val="0"/>
              </a:spcBef>
            </a:pPr>
            <a:r>
              <a:rPr lang="en-US" sz="2500">
                <a:solidFill>
                  <a:srgbClr val="FFFFFF"/>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核心模型示例：</a:t>
            </a:r>
          </a:p>
          <a:p>
            <a:pPr algn="l">
              <a:lnSpc>
                <a:spcPts val="3500"/>
              </a:lnSpc>
              <a:spcBef>
                <a:spcPct val="0"/>
              </a:spcBef>
            </a:pPr>
            <a:r>
              <a:rPr lang="en-US" sz="2500">
                <a:solidFill>
                  <a:srgbClr val="FFFFFF"/>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Battle、MapMarker、Figure、MediaResource、Statistic、GuestbookMessage、HomepageFeature</a:t>
            </a:r>
          </a:p>
        </p:txBody>
      </p:sp>
      <p:sp>
        <p:nvSpPr>
          <p:cNvPr id="20" name="TextBox 20"/>
          <p:cNvSpPr txBox="1"/>
          <p:nvPr/>
        </p:nvSpPr>
        <p:spPr>
          <a:xfrm>
            <a:off x="914400" y="1489787"/>
            <a:ext cx="5574956" cy="347212"/>
          </a:xfrm>
          <a:prstGeom prst="rect">
            <a:avLst/>
          </a:prstGeom>
        </p:spPr>
        <p:txBody>
          <a:bodyPr lIns="0" tIns="0" rIns="0" bIns="0" rtlCol="0" anchor="t">
            <a:spAutoFit/>
          </a:bodyPr>
          <a:lstStyle/>
          <a:p>
            <a:pPr algn="l">
              <a:lnSpc>
                <a:spcPts val="2605"/>
              </a:lnSpc>
            </a:pPr>
            <a:r>
              <a:rPr lang="en-US" sz="1860" u="sng" dirty="0">
                <a:solidFill>
                  <a:srgbClr val="000000"/>
                </a:solidFill>
                <a:latin typeface="Arimo" panose="020B0604020202020204"/>
                <a:ea typeface="Arimo" panose="020B0604020202020204"/>
                <a:cs typeface="Arimo" panose="020B0604020202020204"/>
                <a:sym typeface="Arimo" panose="020B0604020202020204"/>
                <a:hlinkClick r:id="rId4" tooltip="https://github.com/Scarlettyan6/yii/tree/%E7%BB%88"/>
              </a:rPr>
              <a:t>https://github.com/Scarlettyan6/yii/tree/%E7%BB%88</a:t>
            </a:r>
          </a:p>
        </p:txBody>
      </p:sp>
      <p:sp>
        <p:nvSpPr>
          <p:cNvPr id="21" name="TextBox 21"/>
          <p:cNvSpPr txBox="1"/>
          <p:nvPr/>
        </p:nvSpPr>
        <p:spPr>
          <a:xfrm>
            <a:off x="781012" y="979527"/>
            <a:ext cx="1504988" cy="413126"/>
          </a:xfrm>
          <a:prstGeom prst="rect">
            <a:avLst/>
          </a:prstGeom>
        </p:spPr>
        <p:txBody>
          <a:bodyPr wrap="square" lIns="0" tIns="0" rIns="0" bIns="0" rtlCol="0" anchor="t">
            <a:spAutoFit/>
          </a:bodyPr>
          <a:lstStyle/>
          <a:p>
            <a:pPr algn="ctr">
              <a:lnSpc>
                <a:spcPts val="3500"/>
              </a:lnSpc>
              <a:spcBef>
                <a:spcPct val="0"/>
              </a:spcBef>
            </a:pPr>
            <a:r>
              <a:rPr lang="en-US" sz="2500" b="1" dirty="0" err="1">
                <a:solidFill>
                  <a:srgbClr val="8B0011"/>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仓库地址</a:t>
            </a:r>
            <a:endParaRPr lang="en-US" sz="2500" b="1" dirty="0">
              <a:solidFill>
                <a:srgbClr val="8B0011"/>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2232751" y="7825360"/>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3" name="Freeform 3"/>
          <p:cNvSpPr/>
          <p:nvPr/>
        </p:nvSpPr>
        <p:spPr>
          <a:xfrm rot="-5400000" flipH="1">
            <a:off x="14777542" y="805514"/>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grpSp>
        <p:nvGrpSpPr>
          <p:cNvPr id="4" name="Group 4"/>
          <p:cNvGrpSpPr/>
          <p:nvPr/>
        </p:nvGrpSpPr>
        <p:grpSpPr>
          <a:xfrm>
            <a:off x="-94605" y="-172349"/>
            <a:ext cx="18477209" cy="451224"/>
            <a:chOff x="0" y="0"/>
            <a:chExt cx="4519404" cy="110366"/>
          </a:xfrm>
        </p:grpSpPr>
        <p:sp>
          <p:nvSpPr>
            <p:cNvPr id="5" name="Freeform 5"/>
            <p:cNvSpPr/>
            <p:nvPr/>
          </p:nvSpPr>
          <p:spPr>
            <a:xfrm>
              <a:off x="0" y="0"/>
              <a:ext cx="4519404" cy="110366"/>
            </a:xfrm>
            <a:custGeom>
              <a:avLst/>
              <a:gdLst/>
              <a:ahLst/>
              <a:cxnLst/>
              <a:rect l="l" t="t" r="r" b="b"/>
              <a:pathLst>
                <a:path w="4519404" h="110366">
                  <a:moveTo>
                    <a:pt x="0" y="0"/>
                  </a:moveTo>
                  <a:lnTo>
                    <a:pt x="4519404" y="0"/>
                  </a:lnTo>
                  <a:lnTo>
                    <a:pt x="4519404" y="110366"/>
                  </a:lnTo>
                  <a:lnTo>
                    <a:pt x="0" y="110366"/>
                  </a:lnTo>
                  <a:close/>
                </a:path>
              </a:pathLst>
            </a:custGeom>
            <a:solidFill>
              <a:srgbClr val="8B0011"/>
            </a:solidFill>
          </p:spPr>
          <p:txBody>
            <a:bodyPr/>
            <a:lstStyle/>
            <a:p>
              <a:endParaRPr lang="zh-CN" altLang="en-US"/>
            </a:p>
          </p:txBody>
        </p:sp>
        <p:sp>
          <p:nvSpPr>
            <p:cNvPr id="6" name="TextBox 6"/>
            <p:cNvSpPr txBox="1"/>
            <p:nvPr/>
          </p:nvSpPr>
          <p:spPr>
            <a:xfrm>
              <a:off x="0" y="-47625"/>
              <a:ext cx="4519404" cy="157991"/>
            </a:xfrm>
            <a:prstGeom prst="rect">
              <a:avLst/>
            </a:prstGeom>
          </p:spPr>
          <p:txBody>
            <a:bodyPr lIns="50800" tIns="50800" rIns="50800" bIns="50800" rtlCol="0" anchor="ctr"/>
            <a:lstStyle/>
            <a:p>
              <a:pPr algn="ctr">
                <a:lnSpc>
                  <a:spcPts val="3210"/>
                </a:lnSpc>
              </a:pPr>
              <a:endParaRPr/>
            </a:p>
          </p:txBody>
        </p:sp>
      </p:grpSp>
      <p:grpSp>
        <p:nvGrpSpPr>
          <p:cNvPr id="7" name="Group 7"/>
          <p:cNvGrpSpPr/>
          <p:nvPr/>
        </p:nvGrpSpPr>
        <p:grpSpPr>
          <a:xfrm>
            <a:off x="867083" y="2306325"/>
            <a:ext cx="6069682" cy="7560117"/>
            <a:chOff x="0" y="0"/>
            <a:chExt cx="1598599" cy="1991142"/>
          </a:xfrm>
          <a:noFill/>
        </p:grpSpPr>
        <p:sp>
          <p:nvSpPr>
            <p:cNvPr id="8" name="Freeform 8"/>
            <p:cNvSpPr/>
            <p:nvPr/>
          </p:nvSpPr>
          <p:spPr>
            <a:xfrm>
              <a:off x="0" y="0"/>
              <a:ext cx="1598599" cy="1991142"/>
            </a:xfrm>
            <a:custGeom>
              <a:avLst/>
              <a:gdLst/>
              <a:ahLst/>
              <a:cxnLst/>
              <a:rect l="l" t="t" r="r" b="b"/>
              <a:pathLst>
                <a:path w="1598599" h="1991142">
                  <a:moveTo>
                    <a:pt x="0" y="0"/>
                  </a:moveTo>
                  <a:lnTo>
                    <a:pt x="1598599" y="0"/>
                  </a:lnTo>
                  <a:lnTo>
                    <a:pt x="1598599" y="1991142"/>
                  </a:lnTo>
                  <a:lnTo>
                    <a:pt x="0" y="1991142"/>
                  </a:lnTo>
                  <a:close/>
                </a:path>
              </a:pathLst>
            </a:custGeom>
            <a:grpFill/>
            <a:ln w="19050" cap="sq">
              <a:solidFill>
                <a:srgbClr val="8B0011"/>
              </a:solidFill>
              <a:prstDash val="solid"/>
              <a:miter/>
            </a:ln>
          </p:spPr>
          <p:txBody>
            <a:bodyPr/>
            <a:lstStyle/>
            <a:p>
              <a:endParaRPr lang="zh-CN" altLang="en-US"/>
            </a:p>
          </p:txBody>
        </p:sp>
        <p:sp>
          <p:nvSpPr>
            <p:cNvPr id="9" name="TextBox 9"/>
            <p:cNvSpPr txBox="1"/>
            <p:nvPr/>
          </p:nvSpPr>
          <p:spPr>
            <a:xfrm>
              <a:off x="0" y="-28575"/>
              <a:ext cx="1598599" cy="2019717"/>
            </a:xfrm>
            <a:prstGeom prst="rect">
              <a:avLst/>
            </a:prstGeom>
            <a:grpFill/>
          </p:spPr>
          <p:txBody>
            <a:bodyPr lIns="50800" tIns="50800" rIns="50800" bIns="50800" rtlCol="0" anchor="ctr"/>
            <a:lstStyle/>
            <a:p>
              <a:pPr algn="just">
                <a:lnSpc>
                  <a:spcPts val="2660"/>
                </a:lnSpc>
              </a:pPr>
              <a:endParaRPr/>
            </a:p>
            <a:p>
              <a:pPr algn="just">
                <a:lnSpc>
                  <a:spcPts val="2660"/>
                </a:lnSpc>
              </a:pPr>
              <a:endParaRPr/>
            </a:p>
          </p:txBody>
        </p:sp>
      </p:grpSp>
      <p:grpSp>
        <p:nvGrpSpPr>
          <p:cNvPr id="10" name="Group 10"/>
          <p:cNvGrpSpPr/>
          <p:nvPr/>
        </p:nvGrpSpPr>
        <p:grpSpPr>
          <a:xfrm>
            <a:off x="7189121" y="2306325"/>
            <a:ext cx="10460025" cy="7592529"/>
            <a:chOff x="0" y="0"/>
            <a:chExt cx="3574084" cy="2594290"/>
          </a:xfrm>
        </p:grpSpPr>
        <p:sp>
          <p:nvSpPr>
            <p:cNvPr id="11" name="Freeform 11"/>
            <p:cNvSpPr/>
            <p:nvPr/>
          </p:nvSpPr>
          <p:spPr>
            <a:xfrm>
              <a:off x="0" y="0"/>
              <a:ext cx="3574085" cy="2594290"/>
            </a:xfrm>
            <a:custGeom>
              <a:avLst/>
              <a:gdLst/>
              <a:ahLst/>
              <a:cxnLst/>
              <a:rect l="l" t="t" r="r" b="b"/>
              <a:pathLst>
                <a:path w="3574085" h="2594290">
                  <a:moveTo>
                    <a:pt x="0" y="0"/>
                  </a:moveTo>
                  <a:lnTo>
                    <a:pt x="3574085" y="0"/>
                  </a:lnTo>
                  <a:lnTo>
                    <a:pt x="3574085" y="2594290"/>
                  </a:lnTo>
                  <a:lnTo>
                    <a:pt x="0" y="2594290"/>
                  </a:lnTo>
                  <a:close/>
                </a:path>
              </a:pathLst>
            </a:custGeom>
            <a:solidFill>
              <a:srgbClr val="8B0011"/>
            </a:solidFill>
          </p:spPr>
          <p:txBody>
            <a:bodyPr/>
            <a:lstStyle/>
            <a:p>
              <a:endParaRPr lang="zh-CN" altLang="en-US"/>
            </a:p>
          </p:txBody>
        </p:sp>
        <p:sp>
          <p:nvSpPr>
            <p:cNvPr id="12" name="TextBox 12"/>
            <p:cNvSpPr txBox="1"/>
            <p:nvPr/>
          </p:nvSpPr>
          <p:spPr>
            <a:xfrm>
              <a:off x="0" y="-28575"/>
              <a:ext cx="3574084" cy="2622865"/>
            </a:xfrm>
            <a:prstGeom prst="rect">
              <a:avLst/>
            </a:prstGeom>
          </p:spPr>
          <p:txBody>
            <a:bodyPr lIns="50800" tIns="50800" rIns="50800" bIns="50800" rtlCol="0" anchor="ctr"/>
            <a:lstStyle/>
            <a:p>
              <a:pPr algn="ctr">
                <a:lnSpc>
                  <a:spcPts val="2660"/>
                </a:lnSpc>
              </a:pPr>
              <a:endParaRPr/>
            </a:p>
          </p:txBody>
        </p:sp>
      </p:grpSp>
      <p:sp>
        <p:nvSpPr>
          <p:cNvPr id="13" name="Freeform 13"/>
          <p:cNvSpPr/>
          <p:nvPr/>
        </p:nvSpPr>
        <p:spPr>
          <a:xfrm>
            <a:off x="1028700" y="2876453"/>
            <a:ext cx="5691639" cy="6452273"/>
          </a:xfrm>
          <a:custGeom>
            <a:avLst/>
            <a:gdLst/>
            <a:ahLst/>
            <a:cxnLst/>
            <a:rect l="l" t="t" r="r" b="b"/>
            <a:pathLst>
              <a:path w="5691639" h="6452273">
                <a:moveTo>
                  <a:pt x="0" y="0"/>
                </a:moveTo>
                <a:lnTo>
                  <a:pt x="5691639" y="0"/>
                </a:lnTo>
                <a:lnTo>
                  <a:pt x="5691639" y="6452273"/>
                </a:lnTo>
                <a:lnTo>
                  <a:pt x="0" y="6452273"/>
                </a:lnTo>
                <a:lnTo>
                  <a:pt x="0" y="0"/>
                </a:lnTo>
                <a:close/>
              </a:path>
            </a:pathLst>
          </a:custGeom>
          <a:blipFill>
            <a:blip r:embed="rId4"/>
            <a:stretch>
              <a:fillRect/>
            </a:stretch>
          </a:blipFill>
        </p:spPr>
        <p:txBody>
          <a:bodyPr/>
          <a:lstStyle/>
          <a:p>
            <a:endParaRPr lang="zh-CN" altLang="en-US"/>
          </a:p>
        </p:txBody>
      </p:sp>
      <p:sp>
        <p:nvSpPr>
          <p:cNvPr id="14" name="TextBox 14"/>
          <p:cNvSpPr txBox="1"/>
          <p:nvPr/>
        </p:nvSpPr>
        <p:spPr>
          <a:xfrm>
            <a:off x="6355968" y="814427"/>
            <a:ext cx="5576065" cy="800100"/>
          </a:xfrm>
          <a:prstGeom prst="rect">
            <a:avLst/>
          </a:prstGeom>
        </p:spPr>
        <p:txBody>
          <a:bodyPr lIns="0" tIns="0" rIns="0" bIns="0" rtlCol="0" anchor="t">
            <a:spAutoFit/>
          </a:bodyPr>
          <a:lstStyle/>
          <a:p>
            <a:pPr algn="ctr">
              <a:lnSpc>
                <a:spcPts val="6360"/>
              </a:lnSpc>
            </a:pPr>
            <a:r>
              <a:rPr lang="en-US" sz="53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表的设计</a:t>
            </a:r>
          </a:p>
        </p:txBody>
      </p:sp>
      <p:sp>
        <p:nvSpPr>
          <p:cNvPr id="15" name="TextBox 15"/>
          <p:cNvSpPr txBox="1"/>
          <p:nvPr/>
        </p:nvSpPr>
        <p:spPr>
          <a:xfrm>
            <a:off x="2042166" y="1715140"/>
            <a:ext cx="14778917" cy="438786"/>
          </a:xfrm>
          <a:prstGeom prst="rect">
            <a:avLst/>
          </a:prstGeom>
        </p:spPr>
        <p:txBody>
          <a:bodyPr lIns="0" tIns="0" rIns="0" bIns="0" rtlCol="0" anchor="t">
            <a:spAutoFit/>
          </a:bodyPr>
          <a:lstStyle/>
          <a:p>
            <a:pPr algn="l">
              <a:lnSpc>
                <a:spcPts val="3640"/>
              </a:lnSpc>
              <a:spcBef>
                <a:spcPct val="0"/>
              </a:spcBef>
            </a:pPr>
            <a:r>
              <a:rPr lang="en-US" sz="26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该项目一共有</a:t>
            </a:r>
            <a:r>
              <a:rPr lang="en-US" sz="2600" b="1">
                <a:solidFill>
                  <a:srgbClr val="8B0011"/>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十二</a:t>
            </a:r>
            <a:r>
              <a:rPr lang="en-US" sz="26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张表</a:t>
            </a:r>
          </a:p>
        </p:txBody>
      </p:sp>
      <p:sp>
        <p:nvSpPr>
          <p:cNvPr id="16" name="TextBox 16"/>
          <p:cNvSpPr txBox="1"/>
          <p:nvPr/>
        </p:nvSpPr>
        <p:spPr>
          <a:xfrm>
            <a:off x="7384044" y="2547529"/>
            <a:ext cx="10070179" cy="7030086"/>
          </a:xfrm>
          <a:prstGeom prst="rect">
            <a:avLst/>
          </a:prstGeom>
        </p:spPr>
        <p:txBody>
          <a:bodyPr lIns="0" tIns="0" rIns="0" bIns="0" rtlCol="0" anchor="t">
            <a:spAutoFit/>
          </a:bodyPr>
          <a:lstStyle/>
          <a:p>
            <a:pPr algn="l">
              <a:lnSpc>
                <a:spcPts val="3780"/>
              </a:lnSpc>
              <a:spcBef>
                <a:spcPct val="0"/>
              </a:spcBef>
            </a:pPr>
            <a:r>
              <a:rPr lang="en-US" sz="2700" b="1">
                <a:solidFill>
                  <a:srgbClr val="FFFFFF"/>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表的作用简述：</a:t>
            </a:r>
          </a:p>
          <a:p>
            <a:pPr algn="l">
              <a:lnSpc>
                <a:spcPts val="3500"/>
              </a:lnSpc>
              <a:spcBef>
                <a:spcPct val="0"/>
              </a:spcBef>
            </a:pPr>
            <a:r>
              <a:rPr lang="en-US" sz="2500" b="1">
                <a:solidFill>
                  <a:srgbClr val="FFFFFF"/>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battle：战争/战役主表，记录名称、时间、地点等基础信息。</a:t>
            </a:r>
          </a:p>
          <a:p>
            <a:pPr algn="l">
              <a:lnSpc>
                <a:spcPts val="3500"/>
              </a:lnSpc>
              <a:spcBef>
                <a:spcPct val="0"/>
              </a:spcBef>
            </a:pPr>
            <a:r>
              <a:rPr lang="en-US" sz="2500" b="1">
                <a:solidFill>
                  <a:srgbClr val="FFFFFF"/>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figure：人物表，记录人物基本信息、简介等。</a:t>
            </a:r>
          </a:p>
          <a:p>
            <a:pPr algn="l">
              <a:lnSpc>
                <a:spcPts val="3500"/>
              </a:lnSpc>
              <a:spcBef>
                <a:spcPct val="0"/>
              </a:spcBef>
            </a:pPr>
            <a:r>
              <a:rPr lang="en-US" sz="2500" b="1">
                <a:solidFill>
                  <a:srgbClr val="FFFFFF"/>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guestbook_message：前台留言板的留言存储表。</a:t>
            </a:r>
          </a:p>
          <a:p>
            <a:pPr algn="l">
              <a:lnSpc>
                <a:spcPts val="3500"/>
              </a:lnSpc>
              <a:spcBef>
                <a:spcPct val="0"/>
              </a:spcBef>
            </a:pPr>
            <a:r>
              <a:rPr lang="en-US" sz="2500" b="1">
                <a:solidFill>
                  <a:srgbClr val="FFFFFF"/>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homepage_feature：首页推荐内容表</a:t>
            </a:r>
          </a:p>
          <a:p>
            <a:pPr algn="l">
              <a:lnSpc>
                <a:spcPts val="3500"/>
              </a:lnSpc>
              <a:spcBef>
                <a:spcPct val="0"/>
              </a:spcBef>
            </a:pPr>
            <a:r>
              <a:rPr lang="en-US" sz="2500" b="1">
                <a:solidFill>
                  <a:srgbClr val="FFFFFF"/>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important_meeting：重要会议主表</a:t>
            </a:r>
          </a:p>
          <a:p>
            <a:pPr algn="l">
              <a:lnSpc>
                <a:spcPts val="3500"/>
              </a:lnSpc>
              <a:spcBef>
                <a:spcPct val="0"/>
              </a:spcBef>
            </a:pPr>
            <a:r>
              <a:rPr lang="en-US" sz="2500" b="1">
                <a:solidFill>
                  <a:srgbClr val="FFFFFF"/>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important_meeting_highlight：会议亮点表，附属 important_meeting，用于存储每个会议的亮点条目</a:t>
            </a:r>
          </a:p>
          <a:p>
            <a:pPr algn="l">
              <a:lnSpc>
                <a:spcPts val="3500"/>
              </a:lnSpc>
              <a:spcBef>
                <a:spcPct val="0"/>
              </a:spcBef>
            </a:pPr>
            <a:r>
              <a:rPr lang="en-US" sz="2500" b="1">
                <a:solidFill>
                  <a:srgbClr val="FFFFFF"/>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media_resource：媒体资源表</a:t>
            </a:r>
          </a:p>
          <a:p>
            <a:pPr algn="l">
              <a:lnSpc>
                <a:spcPts val="3500"/>
              </a:lnSpc>
              <a:spcBef>
                <a:spcPct val="0"/>
              </a:spcBef>
            </a:pPr>
            <a:r>
              <a:rPr lang="en-US" sz="2500" b="1">
                <a:solidFill>
                  <a:srgbClr val="FFFFFF"/>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migration：Yii 自动维护的迁移执行历史表，用于记录哪些迁移已执行</a:t>
            </a:r>
          </a:p>
          <a:p>
            <a:pPr algn="l">
              <a:lnSpc>
                <a:spcPts val="3500"/>
              </a:lnSpc>
              <a:spcBef>
                <a:spcPct val="0"/>
              </a:spcBef>
            </a:pPr>
            <a:r>
              <a:rPr lang="en-US" sz="2500" b="1">
                <a:solidFill>
                  <a:srgbClr val="FFFFFF"/>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timeline_event：时间线事件表，用于按时间展示的历史/事件条目。</a:t>
            </a:r>
          </a:p>
          <a:p>
            <a:pPr algn="l">
              <a:lnSpc>
                <a:spcPts val="3500"/>
              </a:lnSpc>
              <a:spcBef>
                <a:spcPct val="0"/>
              </a:spcBef>
            </a:pPr>
            <a:r>
              <a:rPr lang="en-US" sz="2500" b="1">
                <a:solidFill>
                  <a:srgbClr val="FFFFFF"/>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user：用户表，登录与权限验证的基础用户数据。</a:t>
            </a:r>
          </a:p>
          <a:p>
            <a:pPr algn="l">
              <a:lnSpc>
                <a:spcPts val="3500"/>
              </a:lnSpc>
              <a:spcBef>
                <a:spcPct val="0"/>
              </a:spcBef>
            </a:pPr>
            <a:r>
              <a:rPr lang="en-US" sz="2500" b="1">
                <a:solidFill>
                  <a:srgbClr val="FFFFFF"/>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war_dataset：战役数据集配置表，存储某个数据集的名称、键值、排序等。</a:t>
            </a:r>
          </a:p>
          <a:p>
            <a:pPr algn="l">
              <a:lnSpc>
                <a:spcPts val="3500"/>
              </a:lnSpc>
              <a:spcBef>
                <a:spcPct val="0"/>
              </a:spcBef>
            </a:pPr>
            <a:r>
              <a:rPr lang="en-US" sz="2500" b="1">
                <a:solidFill>
                  <a:srgbClr val="FFFFFF"/>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war_record：战役记录表，关联 war_dataset，存放每条记录的时间、地点、参战方等数据。</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60009" y="3342447"/>
            <a:ext cx="3540935" cy="688803"/>
            <a:chOff x="0" y="0"/>
            <a:chExt cx="1030162" cy="200393"/>
          </a:xfrm>
        </p:grpSpPr>
        <p:sp>
          <p:nvSpPr>
            <p:cNvPr id="3" name="Freeform 3"/>
            <p:cNvSpPr/>
            <p:nvPr/>
          </p:nvSpPr>
          <p:spPr>
            <a:xfrm>
              <a:off x="0" y="0"/>
              <a:ext cx="1030162" cy="200393"/>
            </a:xfrm>
            <a:custGeom>
              <a:avLst/>
              <a:gdLst/>
              <a:ahLst/>
              <a:cxnLst/>
              <a:rect l="l" t="t" r="r" b="b"/>
              <a:pathLst>
                <a:path w="1030162" h="200393">
                  <a:moveTo>
                    <a:pt x="100196" y="0"/>
                  </a:moveTo>
                  <a:lnTo>
                    <a:pt x="929965" y="0"/>
                  </a:lnTo>
                  <a:cubicBezTo>
                    <a:pt x="956539" y="0"/>
                    <a:pt x="982024" y="10556"/>
                    <a:pt x="1000815" y="29347"/>
                  </a:cubicBezTo>
                  <a:cubicBezTo>
                    <a:pt x="1019605" y="48137"/>
                    <a:pt x="1030162" y="73623"/>
                    <a:pt x="1030162" y="100196"/>
                  </a:cubicBezTo>
                  <a:lnTo>
                    <a:pt x="1030162" y="100196"/>
                  </a:lnTo>
                  <a:cubicBezTo>
                    <a:pt x="1030162" y="155533"/>
                    <a:pt x="985302" y="200393"/>
                    <a:pt x="929965" y="200393"/>
                  </a:cubicBezTo>
                  <a:lnTo>
                    <a:pt x="100196" y="200393"/>
                  </a:lnTo>
                  <a:cubicBezTo>
                    <a:pt x="44859" y="200393"/>
                    <a:pt x="0" y="155533"/>
                    <a:pt x="0" y="100196"/>
                  </a:cubicBezTo>
                  <a:lnTo>
                    <a:pt x="0" y="100196"/>
                  </a:lnTo>
                  <a:cubicBezTo>
                    <a:pt x="0" y="44859"/>
                    <a:pt x="44859" y="0"/>
                    <a:pt x="100196" y="0"/>
                  </a:cubicBezTo>
                  <a:close/>
                </a:path>
              </a:pathLst>
            </a:custGeom>
            <a:solidFill>
              <a:srgbClr val="8B0011"/>
            </a:solidFill>
          </p:spPr>
          <p:txBody>
            <a:bodyPr/>
            <a:lstStyle/>
            <a:p>
              <a:endParaRPr lang="zh-CN" altLang="en-US"/>
            </a:p>
          </p:txBody>
        </p:sp>
        <p:sp>
          <p:nvSpPr>
            <p:cNvPr id="4" name="TextBox 4"/>
            <p:cNvSpPr txBox="1"/>
            <p:nvPr/>
          </p:nvSpPr>
          <p:spPr>
            <a:xfrm>
              <a:off x="0" y="-47625"/>
              <a:ext cx="1030162" cy="248018"/>
            </a:xfrm>
            <a:prstGeom prst="rect">
              <a:avLst/>
            </a:prstGeom>
          </p:spPr>
          <p:txBody>
            <a:bodyPr lIns="50800" tIns="50800" rIns="50800" bIns="50800" rtlCol="0" anchor="ctr"/>
            <a:lstStyle/>
            <a:p>
              <a:pPr algn="ctr">
                <a:lnSpc>
                  <a:spcPts val="3105"/>
                </a:lnSpc>
              </a:pPr>
              <a:endParaRPr/>
            </a:p>
          </p:txBody>
        </p:sp>
      </p:grpSp>
      <p:sp>
        <p:nvSpPr>
          <p:cNvPr id="5" name="TextBox 5"/>
          <p:cNvSpPr txBox="1"/>
          <p:nvPr/>
        </p:nvSpPr>
        <p:spPr>
          <a:xfrm>
            <a:off x="1760009" y="4111894"/>
            <a:ext cx="7643783" cy="1324356"/>
          </a:xfrm>
          <a:prstGeom prst="rect">
            <a:avLst/>
          </a:prstGeom>
        </p:spPr>
        <p:txBody>
          <a:bodyPr lIns="0" tIns="0" rIns="0" bIns="0" rtlCol="0" anchor="t">
            <a:spAutoFit/>
          </a:bodyPr>
          <a:lstStyle/>
          <a:p>
            <a:pPr marL="0" lvl="0" indent="0" algn="l">
              <a:lnSpc>
                <a:spcPts val="10690"/>
              </a:lnSpc>
              <a:spcBef>
                <a:spcPct val="0"/>
              </a:spcBef>
            </a:pPr>
            <a:r>
              <a:rPr lang="en-US" sz="8100" b="1">
                <a:solidFill>
                  <a:srgbClr val="1E1E1E"/>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各模块内容</a:t>
            </a:r>
          </a:p>
        </p:txBody>
      </p:sp>
      <p:sp>
        <p:nvSpPr>
          <p:cNvPr id="6" name="TextBox 6"/>
          <p:cNvSpPr txBox="1"/>
          <p:nvPr/>
        </p:nvSpPr>
        <p:spPr>
          <a:xfrm>
            <a:off x="1760009" y="5474350"/>
            <a:ext cx="7519484" cy="485775"/>
          </a:xfrm>
          <a:prstGeom prst="rect">
            <a:avLst/>
          </a:prstGeom>
        </p:spPr>
        <p:txBody>
          <a:bodyPr lIns="0" tIns="0" rIns="0" bIns="0" rtlCol="0" anchor="t">
            <a:spAutoFit/>
          </a:bodyPr>
          <a:lstStyle/>
          <a:p>
            <a:pPr marL="0" lvl="0" indent="0" algn="l">
              <a:lnSpc>
                <a:spcPts val="3360"/>
              </a:lnSpc>
              <a:spcBef>
                <a:spcPct val="0"/>
              </a:spcBef>
            </a:pPr>
            <a:r>
              <a:rPr lang="en-US" sz="2800">
                <a:solidFill>
                  <a:srgbClr val="8B0011"/>
                </a:solidFill>
                <a:latin typeface="Akzidenz-Grotesk" panose="02000503030000020003"/>
                <a:ea typeface="Akzidenz-Grotesk" panose="02000503030000020003"/>
                <a:cs typeface="Akzidenz-Grotesk" panose="02000503030000020003"/>
                <a:sym typeface="Akzidenz-Grotesk" panose="02000503030000020003"/>
              </a:rPr>
              <a:t>Comprehensive contribution performance</a:t>
            </a:r>
          </a:p>
        </p:txBody>
      </p:sp>
      <p:sp>
        <p:nvSpPr>
          <p:cNvPr id="7" name="TextBox 7"/>
          <p:cNvSpPr txBox="1"/>
          <p:nvPr/>
        </p:nvSpPr>
        <p:spPr>
          <a:xfrm>
            <a:off x="1992259" y="3377805"/>
            <a:ext cx="3076435" cy="540258"/>
          </a:xfrm>
          <a:prstGeom prst="rect">
            <a:avLst/>
          </a:prstGeom>
        </p:spPr>
        <p:txBody>
          <a:bodyPr lIns="0" tIns="0" rIns="0" bIns="0" rtlCol="0" anchor="t">
            <a:spAutoFit/>
          </a:bodyPr>
          <a:lstStyle/>
          <a:p>
            <a:pPr marL="0" lvl="0" indent="0" algn="ctr">
              <a:lnSpc>
                <a:spcPts val="4355"/>
              </a:lnSpc>
              <a:spcBef>
                <a:spcPct val="0"/>
              </a:spcBef>
            </a:pPr>
            <a:r>
              <a:rPr lang="en-US" sz="3300" b="1">
                <a:solidFill>
                  <a:srgbClr val="FFFFFF"/>
                </a:solidFill>
                <a:latin typeface="思源黑体 1 Medium" panose="020B0600000000000000" charset="-122"/>
                <a:ea typeface="思源黑体 1 Medium" panose="020B0600000000000000" charset="-122"/>
                <a:cs typeface="思源黑体 1 Medium" panose="020B0600000000000000" charset="-122"/>
                <a:sym typeface="思源黑体 1 Medium" panose="020B0600000000000000" charset="-122"/>
              </a:rPr>
              <a:t>第三章节</a:t>
            </a:r>
          </a:p>
        </p:txBody>
      </p:sp>
      <p:sp>
        <p:nvSpPr>
          <p:cNvPr id="8" name="TextBox 8"/>
          <p:cNvSpPr txBox="1"/>
          <p:nvPr/>
        </p:nvSpPr>
        <p:spPr>
          <a:xfrm>
            <a:off x="11447469" y="1911560"/>
            <a:ext cx="5464967" cy="5600700"/>
          </a:xfrm>
          <a:prstGeom prst="rect">
            <a:avLst/>
          </a:prstGeom>
        </p:spPr>
        <p:txBody>
          <a:bodyPr lIns="0" tIns="0" rIns="0" bIns="0" rtlCol="0" anchor="t">
            <a:spAutoFit/>
          </a:bodyPr>
          <a:lstStyle/>
          <a:p>
            <a:pPr algn="ctr">
              <a:lnSpc>
                <a:spcPts val="39070"/>
              </a:lnSpc>
            </a:pPr>
            <a:r>
              <a:rPr lang="en-US" sz="32560" b="1">
                <a:solidFill>
                  <a:srgbClr val="8B0011"/>
                </a:solidFill>
                <a:latin typeface="Akzidenz-Grotesk Bold" panose="02000803050000020004"/>
                <a:ea typeface="Akzidenz-Grotesk Bold" panose="02000803050000020004"/>
                <a:cs typeface="Akzidenz-Grotesk Bold" panose="02000803050000020004"/>
                <a:sym typeface="Akzidenz-Grotesk Bold" panose="02000803050000020004"/>
              </a:rPr>
              <a:t>03</a:t>
            </a:r>
          </a:p>
        </p:txBody>
      </p:sp>
      <p:sp>
        <p:nvSpPr>
          <p:cNvPr id="9" name="Freeform 9"/>
          <p:cNvSpPr/>
          <p:nvPr/>
        </p:nvSpPr>
        <p:spPr>
          <a:xfrm rot="-10800000">
            <a:off x="9490114" y="-540022"/>
            <a:ext cx="11136611" cy="3211381"/>
          </a:xfrm>
          <a:custGeom>
            <a:avLst/>
            <a:gdLst/>
            <a:ahLst/>
            <a:cxnLst/>
            <a:rect l="l" t="t" r="r" b="b"/>
            <a:pathLst>
              <a:path w="11136611" h="3211381">
                <a:moveTo>
                  <a:pt x="0" y="0"/>
                </a:moveTo>
                <a:lnTo>
                  <a:pt x="11136611" y="0"/>
                </a:lnTo>
                <a:lnTo>
                  <a:pt x="11136611" y="3211381"/>
                </a:lnTo>
                <a:lnTo>
                  <a:pt x="0" y="32113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0" name="Freeform 10"/>
          <p:cNvSpPr/>
          <p:nvPr/>
        </p:nvSpPr>
        <p:spPr>
          <a:xfrm>
            <a:off x="-2338725" y="7615641"/>
            <a:ext cx="11136611" cy="3211381"/>
          </a:xfrm>
          <a:custGeom>
            <a:avLst/>
            <a:gdLst/>
            <a:ahLst/>
            <a:cxnLst/>
            <a:rect l="l" t="t" r="r" b="b"/>
            <a:pathLst>
              <a:path w="11136611" h="3211381">
                <a:moveTo>
                  <a:pt x="0" y="0"/>
                </a:moveTo>
                <a:lnTo>
                  <a:pt x="11136611" y="0"/>
                </a:lnTo>
                <a:lnTo>
                  <a:pt x="11136611" y="3211381"/>
                </a:lnTo>
                <a:lnTo>
                  <a:pt x="0" y="32113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1" name="Freeform 11"/>
          <p:cNvSpPr/>
          <p:nvPr/>
        </p:nvSpPr>
        <p:spPr>
          <a:xfrm rot="-5275027">
            <a:off x="10448454" y="6857005"/>
            <a:ext cx="1998030" cy="2436622"/>
          </a:xfrm>
          <a:custGeom>
            <a:avLst/>
            <a:gdLst/>
            <a:ahLst/>
            <a:cxnLst/>
            <a:rect l="l" t="t" r="r" b="b"/>
            <a:pathLst>
              <a:path w="1998030" h="2436622">
                <a:moveTo>
                  <a:pt x="0" y="0"/>
                </a:moveTo>
                <a:lnTo>
                  <a:pt x="1998030" y="0"/>
                </a:lnTo>
                <a:lnTo>
                  <a:pt x="1998030" y="2436622"/>
                </a:lnTo>
                <a:lnTo>
                  <a:pt x="0" y="2436622"/>
                </a:lnTo>
                <a:lnTo>
                  <a:pt x="0" y="0"/>
                </a:lnTo>
                <a:close/>
              </a:path>
            </a:pathLst>
          </a:custGeom>
          <a:blipFill>
            <a:blip r:embed="rId4">
              <a:alphaModFix amt="26000"/>
              <a:extLst>
                <a:ext uri="{96DAC541-7B7A-43D3-8B79-37D633B846F1}">
                  <asvg:svgBlip xmlns:asvg="http://schemas.microsoft.com/office/drawing/2016/SVG/main" r:embed="rId5"/>
                </a:ext>
              </a:extLst>
            </a:blip>
            <a:stretch>
              <a:fillRect/>
            </a:stretch>
          </a:blipFill>
        </p:spPr>
        <p:txBody>
          <a:bodyPr/>
          <a:lstStyle/>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2232751" y="7825360"/>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3" name="Freeform 3"/>
          <p:cNvSpPr/>
          <p:nvPr/>
        </p:nvSpPr>
        <p:spPr>
          <a:xfrm rot="-5400000" flipH="1">
            <a:off x="14777542" y="805514"/>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grpSp>
        <p:nvGrpSpPr>
          <p:cNvPr id="4" name="Group 4"/>
          <p:cNvGrpSpPr/>
          <p:nvPr/>
        </p:nvGrpSpPr>
        <p:grpSpPr>
          <a:xfrm>
            <a:off x="-94605" y="-172349"/>
            <a:ext cx="18477209" cy="451224"/>
            <a:chOff x="0" y="0"/>
            <a:chExt cx="4519404" cy="110366"/>
          </a:xfrm>
        </p:grpSpPr>
        <p:sp>
          <p:nvSpPr>
            <p:cNvPr id="5" name="Freeform 5"/>
            <p:cNvSpPr/>
            <p:nvPr/>
          </p:nvSpPr>
          <p:spPr>
            <a:xfrm>
              <a:off x="0" y="0"/>
              <a:ext cx="4519404" cy="110366"/>
            </a:xfrm>
            <a:custGeom>
              <a:avLst/>
              <a:gdLst/>
              <a:ahLst/>
              <a:cxnLst/>
              <a:rect l="l" t="t" r="r" b="b"/>
              <a:pathLst>
                <a:path w="4519404" h="110366">
                  <a:moveTo>
                    <a:pt x="0" y="0"/>
                  </a:moveTo>
                  <a:lnTo>
                    <a:pt x="4519404" y="0"/>
                  </a:lnTo>
                  <a:lnTo>
                    <a:pt x="4519404" y="110366"/>
                  </a:lnTo>
                  <a:lnTo>
                    <a:pt x="0" y="110366"/>
                  </a:lnTo>
                  <a:close/>
                </a:path>
              </a:pathLst>
            </a:custGeom>
            <a:solidFill>
              <a:srgbClr val="8B0011"/>
            </a:solidFill>
          </p:spPr>
          <p:txBody>
            <a:bodyPr/>
            <a:lstStyle/>
            <a:p>
              <a:endParaRPr lang="zh-CN" altLang="en-US"/>
            </a:p>
          </p:txBody>
        </p:sp>
        <p:sp>
          <p:nvSpPr>
            <p:cNvPr id="6" name="TextBox 6"/>
            <p:cNvSpPr txBox="1"/>
            <p:nvPr/>
          </p:nvSpPr>
          <p:spPr>
            <a:xfrm>
              <a:off x="0" y="-47625"/>
              <a:ext cx="4519404" cy="157991"/>
            </a:xfrm>
            <a:prstGeom prst="rect">
              <a:avLst/>
            </a:prstGeom>
          </p:spPr>
          <p:txBody>
            <a:bodyPr lIns="50800" tIns="50800" rIns="50800" bIns="50800" rtlCol="0" anchor="ctr"/>
            <a:lstStyle/>
            <a:p>
              <a:pPr algn="ctr">
                <a:lnSpc>
                  <a:spcPts val="3210"/>
                </a:lnSpc>
              </a:pPr>
              <a:endParaRPr/>
            </a:p>
          </p:txBody>
        </p:sp>
      </p:grpSp>
      <p:grpSp>
        <p:nvGrpSpPr>
          <p:cNvPr id="7" name="Group 7"/>
          <p:cNvGrpSpPr/>
          <p:nvPr/>
        </p:nvGrpSpPr>
        <p:grpSpPr>
          <a:xfrm>
            <a:off x="443930" y="1871195"/>
            <a:ext cx="8505146" cy="7953003"/>
            <a:chOff x="0" y="0"/>
            <a:chExt cx="2906122" cy="2717461"/>
          </a:xfrm>
        </p:grpSpPr>
        <p:sp>
          <p:nvSpPr>
            <p:cNvPr id="8" name="Freeform 8"/>
            <p:cNvSpPr/>
            <p:nvPr/>
          </p:nvSpPr>
          <p:spPr>
            <a:xfrm>
              <a:off x="0" y="0"/>
              <a:ext cx="2906122" cy="2717460"/>
            </a:xfrm>
            <a:custGeom>
              <a:avLst/>
              <a:gdLst/>
              <a:ahLst/>
              <a:cxnLst/>
              <a:rect l="l" t="t" r="r" b="b"/>
              <a:pathLst>
                <a:path w="2906122" h="2717460">
                  <a:moveTo>
                    <a:pt x="0" y="0"/>
                  </a:moveTo>
                  <a:lnTo>
                    <a:pt x="2906122" y="0"/>
                  </a:lnTo>
                  <a:lnTo>
                    <a:pt x="2906122" y="2717460"/>
                  </a:lnTo>
                  <a:lnTo>
                    <a:pt x="0" y="2717460"/>
                  </a:lnTo>
                  <a:close/>
                </a:path>
              </a:pathLst>
            </a:custGeom>
            <a:solidFill>
              <a:srgbClr val="8B0011"/>
            </a:solidFill>
          </p:spPr>
          <p:txBody>
            <a:bodyPr/>
            <a:lstStyle/>
            <a:p>
              <a:endParaRPr lang="zh-CN" altLang="en-US"/>
            </a:p>
          </p:txBody>
        </p:sp>
        <p:sp>
          <p:nvSpPr>
            <p:cNvPr id="9" name="TextBox 9"/>
            <p:cNvSpPr txBox="1"/>
            <p:nvPr/>
          </p:nvSpPr>
          <p:spPr>
            <a:xfrm>
              <a:off x="0" y="-28575"/>
              <a:ext cx="2906122" cy="2746036"/>
            </a:xfrm>
            <a:prstGeom prst="rect">
              <a:avLst/>
            </a:prstGeom>
          </p:spPr>
          <p:txBody>
            <a:bodyPr lIns="50800" tIns="50800" rIns="50800" bIns="50800" rtlCol="0" anchor="ctr"/>
            <a:lstStyle/>
            <a:p>
              <a:pPr algn="ctr">
                <a:lnSpc>
                  <a:spcPts val="2660"/>
                </a:lnSpc>
              </a:pPr>
              <a:endParaRPr/>
            </a:p>
          </p:txBody>
        </p:sp>
      </p:grpSp>
      <p:sp>
        <p:nvSpPr>
          <p:cNvPr id="10" name="Freeform 10"/>
          <p:cNvSpPr/>
          <p:nvPr/>
        </p:nvSpPr>
        <p:spPr>
          <a:xfrm>
            <a:off x="9724104" y="6307840"/>
            <a:ext cx="6231396" cy="3703810"/>
          </a:xfrm>
          <a:custGeom>
            <a:avLst/>
            <a:gdLst/>
            <a:ahLst/>
            <a:cxnLst/>
            <a:rect l="l" t="t" r="r" b="b"/>
            <a:pathLst>
              <a:path w="6231396" h="3703810">
                <a:moveTo>
                  <a:pt x="0" y="0"/>
                </a:moveTo>
                <a:lnTo>
                  <a:pt x="6231396" y="0"/>
                </a:lnTo>
                <a:lnTo>
                  <a:pt x="6231396" y="3703810"/>
                </a:lnTo>
                <a:lnTo>
                  <a:pt x="0" y="3703810"/>
                </a:lnTo>
                <a:lnTo>
                  <a:pt x="0" y="0"/>
                </a:lnTo>
                <a:close/>
              </a:path>
            </a:pathLst>
          </a:custGeom>
          <a:blipFill>
            <a:blip r:embed="rId4"/>
            <a:stretch>
              <a:fillRect r="-7337"/>
            </a:stretch>
          </a:blipFill>
        </p:spPr>
        <p:txBody>
          <a:bodyPr/>
          <a:lstStyle/>
          <a:p>
            <a:endParaRPr lang="zh-CN" altLang="en-US"/>
          </a:p>
        </p:txBody>
      </p:sp>
      <p:sp>
        <p:nvSpPr>
          <p:cNvPr id="11" name="Freeform 11"/>
          <p:cNvSpPr/>
          <p:nvPr/>
        </p:nvSpPr>
        <p:spPr>
          <a:xfrm>
            <a:off x="9789108" y="1746355"/>
            <a:ext cx="6378621" cy="4265703"/>
          </a:xfrm>
          <a:custGeom>
            <a:avLst/>
            <a:gdLst/>
            <a:ahLst/>
            <a:cxnLst/>
            <a:rect l="l" t="t" r="r" b="b"/>
            <a:pathLst>
              <a:path w="6378621" h="4265703">
                <a:moveTo>
                  <a:pt x="0" y="0"/>
                </a:moveTo>
                <a:lnTo>
                  <a:pt x="6378621" y="0"/>
                </a:lnTo>
                <a:lnTo>
                  <a:pt x="6378621" y="4265703"/>
                </a:lnTo>
                <a:lnTo>
                  <a:pt x="0" y="4265703"/>
                </a:lnTo>
                <a:lnTo>
                  <a:pt x="0" y="0"/>
                </a:lnTo>
                <a:close/>
              </a:path>
            </a:pathLst>
          </a:custGeom>
          <a:blipFill>
            <a:blip r:embed="rId5"/>
            <a:stretch>
              <a:fillRect/>
            </a:stretch>
          </a:blipFill>
        </p:spPr>
        <p:txBody>
          <a:bodyPr/>
          <a:lstStyle/>
          <a:p>
            <a:endParaRPr lang="zh-CN" altLang="en-US"/>
          </a:p>
        </p:txBody>
      </p:sp>
      <p:sp>
        <p:nvSpPr>
          <p:cNvPr id="12" name="TextBox 12"/>
          <p:cNvSpPr txBox="1"/>
          <p:nvPr/>
        </p:nvSpPr>
        <p:spPr>
          <a:xfrm>
            <a:off x="6355968" y="814427"/>
            <a:ext cx="5576065" cy="800100"/>
          </a:xfrm>
          <a:prstGeom prst="rect">
            <a:avLst/>
          </a:prstGeom>
        </p:spPr>
        <p:txBody>
          <a:bodyPr lIns="0" tIns="0" rIns="0" bIns="0" rtlCol="0" anchor="t">
            <a:spAutoFit/>
          </a:bodyPr>
          <a:lstStyle/>
          <a:p>
            <a:pPr algn="ctr">
              <a:lnSpc>
                <a:spcPts val="6360"/>
              </a:lnSpc>
            </a:pPr>
            <a:r>
              <a:rPr lang="en-US" sz="53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专题首页设计</a:t>
            </a:r>
          </a:p>
        </p:txBody>
      </p:sp>
      <p:sp>
        <p:nvSpPr>
          <p:cNvPr id="13" name="TextBox 13"/>
          <p:cNvSpPr txBox="1"/>
          <p:nvPr/>
        </p:nvSpPr>
        <p:spPr>
          <a:xfrm>
            <a:off x="541392" y="1804829"/>
            <a:ext cx="8310223" cy="7771411"/>
          </a:xfrm>
          <a:prstGeom prst="rect">
            <a:avLst/>
          </a:prstGeom>
        </p:spPr>
        <p:txBody>
          <a:bodyPr lIns="0" tIns="0" rIns="0" bIns="0" rtlCol="0" anchor="t">
            <a:spAutoFit/>
          </a:bodyPr>
          <a:lstStyle/>
          <a:p>
            <a:pPr algn="l">
              <a:lnSpc>
                <a:spcPts val="6305"/>
              </a:lnSpc>
            </a:pPr>
            <a:r>
              <a:rPr lang="en-US" sz="2520" b="1">
                <a:solidFill>
                  <a:srgbClr val="FFFFFF"/>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页面界面说明</a:t>
            </a:r>
          </a:p>
          <a:p>
            <a:pPr marL="479425" lvl="1" indent="-240030" algn="l">
              <a:lnSpc>
                <a:spcPts val="5555"/>
              </a:lnSpc>
              <a:buFont typeface="Arial" panose="020B0604020202020204"/>
              <a:buChar char="•"/>
            </a:pPr>
            <a:r>
              <a:rPr lang="en-US" sz="2220" b="1">
                <a:solidFill>
                  <a:srgbClr val="FFFFFF"/>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页面为“抗战80周年纪念”专题网站首页，整体风格庄重肃穆，以红色为主色调，突出纪念主题与历史氛围。</a:t>
            </a:r>
          </a:p>
          <a:p>
            <a:pPr marL="479425" lvl="1" indent="-240030" algn="l">
              <a:lnSpc>
                <a:spcPts val="5555"/>
              </a:lnSpc>
              <a:buFont typeface="Arial" panose="020B0604020202020204"/>
              <a:buChar char="•"/>
            </a:pPr>
            <a:r>
              <a:rPr lang="en-US" sz="2220" b="1">
                <a:solidFill>
                  <a:srgbClr val="FFFFFF"/>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采用顶部导航 + 主内容区 + 侧边栏的经典双栏布局</a:t>
            </a:r>
          </a:p>
          <a:p>
            <a:pPr marL="479425" lvl="1" indent="-240030" algn="l">
              <a:lnSpc>
                <a:spcPts val="5555"/>
              </a:lnSpc>
              <a:buFont typeface="Arial" panose="020B0604020202020204"/>
              <a:buChar char="•"/>
            </a:pPr>
            <a:r>
              <a:rPr lang="en-US" sz="2220" b="1">
                <a:solidFill>
                  <a:srgbClr val="FFFFFF"/>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顶部导航栏包含专题首页、时间线、人物专栏、影像信息等模块，功能结构完整。</a:t>
            </a:r>
          </a:p>
          <a:p>
            <a:pPr marL="479425" lvl="1" indent="-240030" algn="l">
              <a:lnSpc>
                <a:spcPts val="5555"/>
              </a:lnSpc>
              <a:buFont typeface="Arial" panose="020B0604020202020204"/>
              <a:buChar char="•"/>
            </a:pPr>
            <a:r>
              <a:rPr lang="en-US" sz="2220" b="1">
                <a:solidFill>
                  <a:srgbClr val="FFFFFF"/>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中央区域以重点新闻图片 + 标题作为视觉核心，突出核心纪念内容。</a:t>
            </a:r>
          </a:p>
          <a:p>
            <a:pPr marL="479425" lvl="1" indent="-240030" algn="l">
              <a:lnSpc>
                <a:spcPts val="5555"/>
              </a:lnSpc>
              <a:buFont typeface="Arial" panose="020B0604020202020204"/>
              <a:buChar char="•"/>
            </a:pPr>
            <a:r>
              <a:rPr lang="en-US" sz="2220" b="1">
                <a:solidFill>
                  <a:srgbClr val="FFFFFF"/>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右侧设置“更多图文速览”列表，用于扩展相关专题信息，提高内容可达性。</a:t>
            </a:r>
          </a:p>
          <a:p>
            <a:pPr marL="479425" lvl="1" indent="-240030" algn="l">
              <a:lnSpc>
                <a:spcPts val="5555"/>
              </a:lnSpc>
              <a:buFont typeface="Arial" panose="020B0604020202020204"/>
              <a:buChar char="•"/>
            </a:pPr>
            <a:r>
              <a:rPr lang="en-US" sz="2220" b="1">
                <a:solidFill>
                  <a:srgbClr val="FFFFFF"/>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最下侧以卡片化形式集中展示在首页的“重要会议”</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2232751" y="7825360"/>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3" name="Freeform 3"/>
          <p:cNvSpPr/>
          <p:nvPr/>
        </p:nvSpPr>
        <p:spPr>
          <a:xfrm rot="-5400000" flipH="1">
            <a:off x="14777542" y="805514"/>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grpSp>
        <p:nvGrpSpPr>
          <p:cNvPr id="4" name="Group 4"/>
          <p:cNvGrpSpPr/>
          <p:nvPr/>
        </p:nvGrpSpPr>
        <p:grpSpPr>
          <a:xfrm>
            <a:off x="-94605" y="-172349"/>
            <a:ext cx="18477209" cy="451224"/>
            <a:chOff x="0" y="0"/>
            <a:chExt cx="4519404" cy="110366"/>
          </a:xfrm>
        </p:grpSpPr>
        <p:sp>
          <p:nvSpPr>
            <p:cNvPr id="5" name="Freeform 5"/>
            <p:cNvSpPr/>
            <p:nvPr/>
          </p:nvSpPr>
          <p:spPr>
            <a:xfrm>
              <a:off x="0" y="0"/>
              <a:ext cx="4519404" cy="110366"/>
            </a:xfrm>
            <a:custGeom>
              <a:avLst/>
              <a:gdLst/>
              <a:ahLst/>
              <a:cxnLst/>
              <a:rect l="l" t="t" r="r" b="b"/>
              <a:pathLst>
                <a:path w="4519404" h="110366">
                  <a:moveTo>
                    <a:pt x="0" y="0"/>
                  </a:moveTo>
                  <a:lnTo>
                    <a:pt x="4519404" y="0"/>
                  </a:lnTo>
                  <a:lnTo>
                    <a:pt x="4519404" y="110366"/>
                  </a:lnTo>
                  <a:lnTo>
                    <a:pt x="0" y="110366"/>
                  </a:lnTo>
                  <a:close/>
                </a:path>
              </a:pathLst>
            </a:custGeom>
            <a:solidFill>
              <a:srgbClr val="8B0011"/>
            </a:solidFill>
          </p:spPr>
          <p:txBody>
            <a:bodyPr/>
            <a:lstStyle/>
            <a:p>
              <a:endParaRPr lang="zh-CN" altLang="en-US"/>
            </a:p>
          </p:txBody>
        </p:sp>
        <p:sp>
          <p:nvSpPr>
            <p:cNvPr id="6" name="TextBox 6"/>
            <p:cNvSpPr txBox="1"/>
            <p:nvPr/>
          </p:nvSpPr>
          <p:spPr>
            <a:xfrm>
              <a:off x="0" y="-47625"/>
              <a:ext cx="4519404" cy="157991"/>
            </a:xfrm>
            <a:prstGeom prst="rect">
              <a:avLst/>
            </a:prstGeom>
          </p:spPr>
          <p:txBody>
            <a:bodyPr lIns="50800" tIns="50800" rIns="50800" bIns="50800" rtlCol="0" anchor="ctr"/>
            <a:lstStyle/>
            <a:p>
              <a:pPr algn="ctr">
                <a:lnSpc>
                  <a:spcPts val="3210"/>
                </a:lnSpc>
              </a:pPr>
              <a:endParaRPr/>
            </a:p>
          </p:txBody>
        </p:sp>
      </p:grpSp>
      <p:sp>
        <p:nvSpPr>
          <p:cNvPr id="8" name="Freeform 8"/>
          <p:cNvSpPr/>
          <p:nvPr/>
        </p:nvSpPr>
        <p:spPr>
          <a:xfrm>
            <a:off x="1612389" y="1816692"/>
            <a:ext cx="7677083" cy="7097276"/>
          </a:xfrm>
          <a:custGeom>
            <a:avLst/>
            <a:gdLst/>
            <a:ahLst/>
            <a:cxnLst/>
            <a:rect l="l" t="t" r="r" b="b"/>
            <a:pathLst>
              <a:path w="2021948" h="1869241">
                <a:moveTo>
                  <a:pt x="0" y="0"/>
                </a:moveTo>
                <a:lnTo>
                  <a:pt x="2021948" y="0"/>
                </a:lnTo>
                <a:lnTo>
                  <a:pt x="2021948" y="1869241"/>
                </a:lnTo>
                <a:lnTo>
                  <a:pt x="0" y="1869241"/>
                </a:lnTo>
                <a:close/>
              </a:path>
            </a:pathLst>
          </a:custGeom>
          <a:solidFill>
            <a:srgbClr val="000000">
              <a:alpha val="0"/>
            </a:srgbClr>
          </a:solidFill>
          <a:ln w="19050" cap="sq">
            <a:gradFill>
              <a:gsLst>
                <a:gs pos="50000">
                  <a:schemeClr val="accent2"/>
                </a:gs>
                <a:gs pos="0">
                  <a:schemeClr val="accent2">
                    <a:lumMod val="25000"/>
                    <a:lumOff val="75000"/>
                  </a:schemeClr>
                </a:gs>
                <a:gs pos="100000">
                  <a:schemeClr val="accent2">
                    <a:lumMod val="85000"/>
                  </a:schemeClr>
                </a:gs>
              </a:gsLst>
              <a:lin ang="5400000" scaled="0"/>
            </a:gradFill>
            <a:prstDash val="solid"/>
            <a:miter/>
          </a:ln>
        </p:spPr>
        <p:txBody>
          <a:bodyPr/>
          <a:lstStyle/>
          <a:p>
            <a:pPr>
              <a:lnSpc>
                <a:spcPts val="5100"/>
              </a:lnSpc>
            </a:pPr>
            <a:endParaRPr lang="en-US" altLang="zh-CN" sz="2700" b="1" dirty="0">
              <a:solidFill>
                <a:srgbClr val="8B0011"/>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endParaRPr>
          </a:p>
          <a:p>
            <a:pPr>
              <a:lnSpc>
                <a:spcPts val="5100"/>
              </a:lnSpc>
            </a:pPr>
            <a:r>
              <a:rPr lang="en-US" altLang="zh-CN" sz="2700" b="1" dirty="0" err="1">
                <a:solidFill>
                  <a:srgbClr val="8B0011"/>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专题首页的后台</a:t>
            </a:r>
            <a:endParaRPr lang="en-US" altLang="zh-CN" sz="2700" b="1" dirty="0">
              <a:solidFill>
                <a:srgbClr val="8B0011"/>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endParaRPr>
          </a:p>
          <a:p>
            <a:pPr>
              <a:lnSpc>
                <a:spcPts val="4725"/>
              </a:lnSpc>
            </a:pPr>
            <a:r>
              <a:rPr lang="en-US" altLang="zh-CN" sz="2500" b="1" dirty="0" err="1">
                <a:solidFill>
                  <a:srgbClr val="000000"/>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专题首页包含首页精选</a:t>
            </a:r>
            <a:r>
              <a:rPr lang="en-US" altLang="zh-CN" sz="2500" b="1" dirty="0">
                <a:solidFill>
                  <a:srgbClr val="000000"/>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a:t>
            </a:r>
            <a:r>
              <a:rPr lang="en-US" altLang="zh-CN" sz="2500" b="1" dirty="0" err="1">
                <a:solidFill>
                  <a:srgbClr val="000000"/>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重要会议</a:t>
            </a:r>
            <a:r>
              <a:rPr lang="en-US" altLang="zh-CN" sz="2500" b="1" dirty="0">
                <a:solidFill>
                  <a:srgbClr val="000000"/>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a:t>
            </a:r>
            <a:r>
              <a:rPr lang="en-US" altLang="zh-CN" sz="2500" b="1" dirty="0" err="1">
                <a:solidFill>
                  <a:srgbClr val="000000"/>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会议亮点三个后台界面，大致操作类似</a:t>
            </a:r>
            <a:r>
              <a:rPr lang="en-US" altLang="zh-CN" sz="2500" b="1" dirty="0">
                <a:solidFill>
                  <a:srgbClr val="000000"/>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a:t>
            </a:r>
          </a:p>
          <a:p>
            <a:pPr marL="539750" lvl="1" indent="-269875" algn="just">
              <a:lnSpc>
                <a:spcPts val="4725"/>
              </a:lnSpc>
              <a:buFont typeface="Arial" panose="020B0604020202020204"/>
              <a:buChar char="•"/>
            </a:pPr>
            <a:r>
              <a:rPr lang="en-US" altLang="zh-CN" sz="25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内容管理：新增</a:t>
            </a:r>
            <a:r>
              <a:rPr lang="en-US" altLang="zh-CN" sz="25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r>
              <a:rPr lang="en-US" altLang="zh-CN" sz="25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编辑封面、标题、副标题、描述、跳转链接；设置显示顺序与启用</a:t>
            </a:r>
            <a:r>
              <a:rPr lang="en-US" altLang="zh-CN" sz="25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r>
              <a:rPr lang="en-US" altLang="zh-CN" sz="25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停用</a:t>
            </a:r>
            <a:r>
              <a:rPr lang="en-US" altLang="zh-CN" sz="25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p>
          <a:p>
            <a:pPr marL="539750" lvl="1" indent="-269875" algn="just">
              <a:lnSpc>
                <a:spcPts val="4725"/>
              </a:lnSpc>
              <a:buFont typeface="Arial" panose="020B0604020202020204"/>
              <a:buChar char="•"/>
            </a:pPr>
            <a:r>
              <a:rPr lang="en-US" altLang="zh-CN" sz="25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首页排序与露出控制：按需调整专题位的</a:t>
            </a:r>
            <a:r>
              <a:rPr lang="en-US" altLang="zh-CN" sz="25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 </a:t>
            </a:r>
            <a:r>
              <a:rPr lang="en-US" altLang="zh-CN" sz="25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display_order，决定首页展示的先后与上线</a:t>
            </a:r>
            <a:r>
              <a:rPr lang="en-US" altLang="zh-CN" sz="25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r>
              <a:rPr lang="en-US" altLang="zh-CN" sz="25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下线</a:t>
            </a:r>
            <a:r>
              <a:rPr lang="en-US" altLang="zh-CN" sz="25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p>
          <a:p>
            <a:pPr marL="539750" lvl="1" indent="-269875" algn="just">
              <a:lnSpc>
                <a:spcPts val="4725"/>
              </a:lnSpc>
              <a:buFont typeface="Arial" panose="020B0604020202020204"/>
              <a:buChar char="•"/>
            </a:pPr>
            <a:r>
              <a:rPr lang="en-US" altLang="zh-CN" sz="25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首页数据源配置：为首页各区块选择</a:t>
            </a:r>
            <a:r>
              <a:rPr lang="en-US" altLang="zh-CN" sz="25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r>
              <a:rPr lang="en-US" altLang="zh-CN" sz="25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调整取数，仅限影响首页展示，不改动其他模块的业务逻辑</a:t>
            </a:r>
            <a:r>
              <a:rPr lang="en-US" altLang="zh-CN" sz="25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p>
        </p:txBody>
      </p:sp>
      <p:sp>
        <p:nvSpPr>
          <p:cNvPr id="10" name="Freeform 10"/>
          <p:cNvSpPr/>
          <p:nvPr/>
        </p:nvSpPr>
        <p:spPr>
          <a:xfrm>
            <a:off x="9988150" y="4841833"/>
            <a:ext cx="5512106" cy="2276476"/>
          </a:xfrm>
          <a:custGeom>
            <a:avLst/>
            <a:gdLst/>
            <a:ahLst/>
            <a:cxnLst/>
            <a:rect l="l" t="t" r="r" b="b"/>
            <a:pathLst>
              <a:path w="5512106" h="2276476">
                <a:moveTo>
                  <a:pt x="0" y="0"/>
                </a:moveTo>
                <a:lnTo>
                  <a:pt x="5512106" y="0"/>
                </a:lnTo>
                <a:lnTo>
                  <a:pt x="5512106" y="2276477"/>
                </a:lnTo>
                <a:lnTo>
                  <a:pt x="0" y="2276477"/>
                </a:lnTo>
                <a:lnTo>
                  <a:pt x="0" y="0"/>
                </a:lnTo>
                <a:close/>
              </a:path>
            </a:pathLst>
          </a:custGeom>
          <a:blipFill>
            <a:blip r:embed="rId4"/>
            <a:stretch>
              <a:fillRect t="-847" b="-847"/>
            </a:stretch>
          </a:blipFill>
        </p:spPr>
        <p:txBody>
          <a:bodyPr/>
          <a:lstStyle/>
          <a:p>
            <a:endParaRPr lang="zh-CN" altLang="en-US"/>
          </a:p>
        </p:txBody>
      </p:sp>
      <p:sp>
        <p:nvSpPr>
          <p:cNvPr id="11" name="Freeform 11"/>
          <p:cNvSpPr/>
          <p:nvPr/>
        </p:nvSpPr>
        <p:spPr>
          <a:xfrm>
            <a:off x="9808311" y="1816692"/>
            <a:ext cx="5512106" cy="2928306"/>
          </a:xfrm>
          <a:custGeom>
            <a:avLst/>
            <a:gdLst/>
            <a:ahLst/>
            <a:cxnLst/>
            <a:rect l="l" t="t" r="r" b="b"/>
            <a:pathLst>
              <a:path w="5512106" h="2928306">
                <a:moveTo>
                  <a:pt x="0" y="0"/>
                </a:moveTo>
                <a:lnTo>
                  <a:pt x="5512106" y="0"/>
                </a:lnTo>
                <a:lnTo>
                  <a:pt x="5512106" y="2928306"/>
                </a:lnTo>
                <a:lnTo>
                  <a:pt x="0" y="2928306"/>
                </a:lnTo>
                <a:lnTo>
                  <a:pt x="0" y="0"/>
                </a:lnTo>
                <a:close/>
              </a:path>
            </a:pathLst>
          </a:custGeom>
          <a:blipFill>
            <a:blip r:embed="rId5"/>
            <a:stretch>
              <a:fillRect/>
            </a:stretch>
          </a:blipFill>
        </p:spPr>
        <p:txBody>
          <a:bodyPr/>
          <a:lstStyle/>
          <a:p>
            <a:endParaRPr lang="zh-CN" altLang="en-US"/>
          </a:p>
        </p:txBody>
      </p:sp>
      <p:sp>
        <p:nvSpPr>
          <p:cNvPr id="12" name="Freeform 12"/>
          <p:cNvSpPr/>
          <p:nvPr/>
        </p:nvSpPr>
        <p:spPr>
          <a:xfrm>
            <a:off x="10142420" y="7213560"/>
            <a:ext cx="5357836" cy="1774783"/>
          </a:xfrm>
          <a:custGeom>
            <a:avLst/>
            <a:gdLst/>
            <a:ahLst/>
            <a:cxnLst/>
            <a:rect l="l" t="t" r="r" b="b"/>
            <a:pathLst>
              <a:path w="5357836" h="1774783">
                <a:moveTo>
                  <a:pt x="0" y="0"/>
                </a:moveTo>
                <a:lnTo>
                  <a:pt x="5357836" y="0"/>
                </a:lnTo>
                <a:lnTo>
                  <a:pt x="5357836" y="1774783"/>
                </a:lnTo>
                <a:lnTo>
                  <a:pt x="0" y="1774783"/>
                </a:lnTo>
                <a:lnTo>
                  <a:pt x="0" y="0"/>
                </a:lnTo>
                <a:close/>
              </a:path>
            </a:pathLst>
          </a:custGeom>
          <a:blipFill>
            <a:blip r:embed="rId6"/>
            <a:stretch>
              <a:fillRect/>
            </a:stretch>
          </a:blipFill>
        </p:spPr>
        <p:txBody>
          <a:bodyPr/>
          <a:lstStyle/>
          <a:p>
            <a:endParaRPr lang="zh-CN" altLang="en-US"/>
          </a:p>
        </p:txBody>
      </p:sp>
      <p:sp>
        <p:nvSpPr>
          <p:cNvPr id="13" name="TextBox 13"/>
          <p:cNvSpPr txBox="1"/>
          <p:nvPr/>
        </p:nvSpPr>
        <p:spPr>
          <a:xfrm>
            <a:off x="10710941" y="1128752"/>
            <a:ext cx="3394129" cy="510158"/>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实践概述</a:t>
            </a:r>
          </a:p>
        </p:txBody>
      </p:sp>
      <p:sp>
        <p:nvSpPr>
          <p:cNvPr id="14" name="TextBox 14"/>
          <p:cNvSpPr txBox="1"/>
          <p:nvPr/>
        </p:nvSpPr>
        <p:spPr>
          <a:xfrm>
            <a:off x="6355968" y="814427"/>
            <a:ext cx="5576065" cy="800100"/>
          </a:xfrm>
          <a:prstGeom prst="rect">
            <a:avLst/>
          </a:prstGeom>
        </p:spPr>
        <p:txBody>
          <a:bodyPr lIns="0" tIns="0" rIns="0" bIns="0" rtlCol="0" anchor="t">
            <a:spAutoFit/>
          </a:bodyPr>
          <a:lstStyle/>
          <a:p>
            <a:pPr algn="ctr">
              <a:lnSpc>
                <a:spcPts val="6360"/>
              </a:lnSpc>
            </a:pPr>
            <a:r>
              <a:rPr lang="en-US" sz="53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专题首页设计</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2232751" y="7825360"/>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3" name="Freeform 3"/>
          <p:cNvSpPr/>
          <p:nvPr/>
        </p:nvSpPr>
        <p:spPr>
          <a:xfrm rot="-5400000" flipH="1">
            <a:off x="14777542" y="805514"/>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grpSp>
        <p:nvGrpSpPr>
          <p:cNvPr id="4" name="Group 4"/>
          <p:cNvGrpSpPr/>
          <p:nvPr/>
        </p:nvGrpSpPr>
        <p:grpSpPr>
          <a:xfrm>
            <a:off x="-94605" y="-172349"/>
            <a:ext cx="18477209" cy="451224"/>
            <a:chOff x="0" y="0"/>
            <a:chExt cx="4519404" cy="110366"/>
          </a:xfrm>
        </p:grpSpPr>
        <p:sp>
          <p:nvSpPr>
            <p:cNvPr id="5" name="Freeform 5"/>
            <p:cNvSpPr/>
            <p:nvPr/>
          </p:nvSpPr>
          <p:spPr>
            <a:xfrm>
              <a:off x="0" y="0"/>
              <a:ext cx="4519404" cy="110366"/>
            </a:xfrm>
            <a:custGeom>
              <a:avLst/>
              <a:gdLst/>
              <a:ahLst/>
              <a:cxnLst/>
              <a:rect l="l" t="t" r="r" b="b"/>
              <a:pathLst>
                <a:path w="4519404" h="110366">
                  <a:moveTo>
                    <a:pt x="0" y="0"/>
                  </a:moveTo>
                  <a:lnTo>
                    <a:pt x="4519404" y="0"/>
                  </a:lnTo>
                  <a:lnTo>
                    <a:pt x="4519404" y="110366"/>
                  </a:lnTo>
                  <a:lnTo>
                    <a:pt x="0" y="110366"/>
                  </a:lnTo>
                  <a:close/>
                </a:path>
              </a:pathLst>
            </a:custGeom>
            <a:solidFill>
              <a:srgbClr val="8B0011"/>
            </a:solidFill>
          </p:spPr>
          <p:txBody>
            <a:bodyPr/>
            <a:lstStyle/>
            <a:p>
              <a:endParaRPr lang="zh-CN" altLang="en-US"/>
            </a:p>
          </p:txBody>
        </p:sp>
        <p:sp>
          <p:nvSpPr>
            <p:cNvPr id="6" name="TextBox 6"/>
            <p:cNvSpPr txBox="1"/>
            <p:nvPr/>
          </p:nvSpPr>
          <p:spPr>
            <a:xfrm>
              <a:off x="0" y="-47625"/>
              <a:ext cx="4519404" cy="157991"/>
            </a:xfrm>
            <a:prstGeom prst="rect">
              <a:avLst/>
            </a:prstGeom>
          </p:spPr>
          <p:txBody>
            <a:bodyPr lIns="50800" tIns="50800" rIns="50800" bIns="50800" rtlCol="0" anchor="ctr"/>
            <a:lstStyle/>
            <a:p>
              <a:pPr algn="ctr">
                <a:lnSpc>
                  <a:spcPts val="3210"/>
                </a:lnSpc>
              </a:pPr>
              <a:endParaRPr/>
            </a:p>
          </p:txBody>
        </p:sp>
      </p:grpSp>
      <p:sp>
        <p:nvSpPr>
          <p:cNvPr id="9" name="TextBox 9"/>
          <p:cNvSpPr txBox="1"/>
          <p:nvPr/>
        </p:nvSpPr>
        <p:spPr>
          <a:xfrm>
            <a:off x="1428135" y="2356560"/>
            <a:ext cx="6595040" cy="5493341"/>
          </a:xfrm>
          <a:prstGeom prst="rect">
            <a:avLst/>
          </a:prstGeom>
          <a:ln>
            <a:gradFill>
              <a:gsLst>
                <a:gs pos="50000">
                  <a:schemeClr val="accent2"/>
                </a:gs>
                <a:gs pos="0">
                  <a:schemeClr val="accent2">
                    <a:lumMod val="25000"/>
                    <a:lumOff val="75000"/>
                  </a:schemeClr>
                </a:gs>
                <a:gs pos="100000">
                  <a:schemeClr val="accent2">
                    <a:lumMod val="85000"/>
                  </a:schemeClr>
                </a:gs>
              </a:gsLst>
              <a:lin ang="5400000" scaled="0"/>
            </a:gradFill>
          </a:ln>
        </p:spPr>
        <p:txBody>
          <a:bodyPr lIns="50800" tIns="50800" rIns="50800" bIns="50800" rtlCol="0" anchor="ctr"/>
          <a:lstStyle/>
          <a:p>
            <a:pPr algn="ctr">
              <a:lnSpc>
                <a:spcPts val="2660"/>
              </a:lnSpc>
            </a:pPr>
            <a:r>
              <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   </a:t>
            </a:r>
            <a:r>
              <a:rPr lang="en-US" sz="19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页面以</a:t>
            </a:r>
            <a:r>
              <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 1931—1945 </a:t>
            </a:r>
            <a:r>
              <a:rPr lang="en-US" sz="19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年重大抗战事件为主线，采用“电</a:t>
            </a: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r>
              <a:rPr lang="en-US" sz="19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影画廊式时间轴”进行呈现：每一张卡片对应一个关键节</a:t>
            </a: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r>
              <a:rPr lang="en-US" sz="19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点，封面图还原历史氛围，卡片下方给出简要概述。用户</a:t>
            </a: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r>
              <a:rPr lang="en-US" sz="19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可通过顶部年份标签快速跳转，也可横向滚动逐年浏览</a:t>
            </a:r>
            <a:r>
              <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p>
          <a:p>
            <a:pPr algn="ctr">
              <a:lnSpc>
                <a:spcPts val="2660"/>
              </a:lnSpc>
            </a:pP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r>
              <a:rPr lang="en-US" sz="19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点击“详情”即可弹出更完整的事件背景与影响解读，便</a:t>
            </a: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r>
              <a:rPr lang="en-US" sz="19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于在沉浸式阅读中把握历史脉络与时间关系。络与时间关系</a:t>
            </a:r>
            <a:r>
              <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p>
        </p:txBody>
      </p:sp>
      <p:sp>
        <p:nvSpPr>
          <p:cNvPr id="10" name="Freeform 10"/>
          <p:cNvSpPr/>
          <p:nvPr/>
        </p:nvSpPr>
        <p:spPr>
          <a:xfrm>
            <a:off x="8612371" y="1816692"/>
            <a:ext cx="8227829" cy="7291811"/>
          </a:xfrm>
          <a:custGeom>
            <a:avLst/>
            <a:gdLst/>
            <a:ahLst/>
            <a:cxnLst/>
            <a:rect l="l" t="t" r="r" b="b"/>
            <a:pathLst>
              <a:path w="8227829" h="7291811">
                <a:moveTo>
                  <a:pt x="0" y="0"/>
                </a:moveTo>
                <a:lnTo>
                  <a:pt x="8227829" y="0"/>
                </a:lnTo>
                <a:lnTo>
                  <a:pt x="8227829" y="7291810"/>
                </a:lnTo>
                <a:lnTo>
                  <a:pt x="0" y="7291810"/>
                </a:lnTo>
                <a:lnTo>
                  <a:pt x="0" y="0"/>
                </a:lnTo>
                <a:close/>
              </a:path>
            </a:pathLst>
          </a:custGeom>
          <a:blipFill>
            <a:blip r:embed="rId4"/>
            <a:stretch>
              <a:fillRect l="-32969" t="-202" r="-34566" b="-4242"/>
            </a:stretch>
          </a:blipFill>
        </p:spPr>
        <p:txBody>
          <a:bodyPr/>
          <a:lstStyle/>
          <a:p>
            <a:endParaRPr lang="zh-CN" altLang="en-US"/>
          </a:p>
        </p:txBody>
      </p:sp>
      <p:sp>
        <p:nvSpPr>
          <p:cNvPr id="11" name="TextBox 11"/>
          <p:cNvSpPr txBox="1"/>
          <p:nvPr/>
        </p:nvSpPr>
        <p:spPr>
          <a:xfrm>
            <a:off x="106403" y="647733"/>
            <a:ext cx="5576065" cy="800100"/>
          </a:xfrm>
          <a:prstGeom prst="rect">
            <a:avLst/>
          </a:prstGeom>
        </p:spPr>
        <p:txBody>
          <a:bodyPr lIns="0" tIns="0" rIns="0" bIns="0" rtlCol="0" anchor="t">
            <a:spAutoFit/>
          </a:bodyPr>
          <a:lstStyle/>
          <a:p>
            <a:pPr algn="ctr">
              <a:lnSpc>
                <a:spcPts val="6360"/>
              </a:lnSpc>
            </a:pPr>
            <a:r>
              <a:rPr lang="en-US" sz="53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时间轴</a:t>
            </a:r>
          </a:p>
        </p:txBody>
      </p:sp>
      <p:sp>
        <p:nvSpPr>
          <p:cNvPr id="12" name="TextBox 12"/>
          <p:cNvSpPr txBox="1"/>
          <p:nvPr/>
        </p:nvSpPr>
        <p:spPr>
          <a:xfrm>
            <a:off x="10710941" y="1128752"/>
            <a:ext cx="3394129" cy="510158"/>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实践概述</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2232751" y="7825360"/>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3" name="Freeform 3"/>
          <p:cNvSpPr/>
          <p:nvPr/>
        </p:nvSpPr>
        <p:spPr>
          <a:xfrm rot="-5400000" flipH="1">
            <a:off x="14777542" y="805514"/>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grpSp>
        <p:nvGrpSpPr>
          <p:cNvPr id="4" name="Group 4"/>
          <p:cNvGrpSpPr/>
          <p:nvPr/>
        </p:nvGrpSpPr>
        <p:grpSpPr>
          <a:xfrm>
            <a:off x="-94605" y="-172349"/>
            <a:ext cx="18477209" cy="451224"/>
            <a:chOff x="0" y="0"/>
            <a:chExt cx="4519404" cy="110366"/>
          </a:xfrm>
        </p:grpSpPr>
        <p:sp>
          <p:nvSpPr>
            <p:cNvPr id="5" name="Freeform 5"/>
            <p:cNvSpPr/>
            <p:nvPr/>
          </p:nvSpPr>
          <p:spPr>
            <a:xfrm>
              <a:off x="0" y="0"/>
              <a:ext cx="4519404" cy="110366"/>
            </a:xfrm>
            <a:custGeom>
              <a:avLst/>
              <a:gdLst/>
              <a:ahLst/>
              <a:cxnLst/>
              <a:rect l="l" t="t" r="r" b="b"/>
              <a:pathLst>
                <a:path w="4519404" h="110366">
                  <a:moveTo>
                    <a:pt x="0" y="0"/>
                  </a:moveTo>
                  <a:lnTo>
                    <a:pt x="4519404" y="0"/>
                  </a:lnTo>
                  <a:lnTo>
                    <a:pt x="4519404" y="110366"/>
                  </a:lnTo>
                  <a:lnTo>
                    <a:pt x="0" y="110366"/>
                  </a:lnTo>
                  <a:close/>
                </a:path>
              </a:pathLst>
            </a:custGeom>
            <a:solidFill>
              <a:srgbClr val="8B0011"/>
            </a:solidFill>
          </p:spPr>
          <p:txBody>
            <a:bodyPr/>
            <a:lstStyle/>
            <a:p>
              <a:endParaRPr lang="zh-CN" altLang="en-US"/>
            </a:p>
          </p:txBody>
        </p:sp>
        <p:sp>
          <p:nvSpPr>
            <p:cNvPr id="6" name="TextBox 6"/>
            <p:cNvSpPr txBox="1"/>
            <p:nvPr/>
          </p:nvSpPr>
          <p:spPr>
            <a:xfrm>
              <a:off x="0" y="-47625"/>
              <a:ext cx="4519404" cy="157991"/>
            </a:xfrm>
            <a:prstGeom prst="rect">
              <a:avLst/>
            </a:prstGeom>
          </p:spPr>
          <p:txBody>
            <a:bodyPr lIns="50800" tIns="50800" rIns="50800" bIns="50800" rtlCol="0" anchor="ctr"/>
            <a:lstStyle/>
            <a:p>
              <a:pPr algn="ctr">
                <a:lnSpc>
                  <a:spcPts val="3210"/>
                </a:lnSpc>
              </a:pPr>
              <a:endParaRPr/>
            </a:p>
          </p:txBody>
        </p:sp>
      </p:grpSp>
      <p:sp>
        <p:nvSpPr>
          <p:cNvPr id="11" name="TextBox 11"/>
          <p:cNvSpPr txBox="1"/>
          <p:nvPr/>
        </p:nvSpPr>
        <p:spPr>
          <a:xfrm>
            <a:off x="106403" y="647733"/>
            <a:ext cx="5576065" cy="800100"/>
          </a:xfrm>
          <a:prstGeom prst="rect">
            <a:avLst/>
          </a:prstGeom>
        </p:spPr>
        <p:txBody>
          <a:bodyPr lIns="0" tIns="0" rIns="0" bIns="0" rtlCol="0" anchor="t">
            <a:spAutoFit/>
          </a:bodyPr>
          <a:lstStyle/>
          <a:p>
            <a:pPr algn="ctr">
              <a:lnSpc>
                <a:spcPts val="6360"/>
              </a:lnSpc>
            </a:pPr>
            <a:r>
              <a:rPr lang="en-US" sz="53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时间轴</a:t>
            </a:r>
          </a:p>
        </p:txBody>
      </p:sp>
      <p:sp>
        <p:nvSpPr>
          <p:cNvPr id="12" name="TextBox 12"/>
          <p:cNvSpPr txBox="1"/>
          <p:nvPr/>
        </p:nvSpPr>
        <p:spPr>
          <a:xfrm>
            <a:off x="10710941" y="1128752"/>
            <a:ext cx="3394129" cy="510158"/>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实践概述</a:t>
            </a:r>
          </a:p>
        </p:txBody>
      </p:sp>
      <p:pic>
        <p:nvPicPr>
          <p:cNvPr id="14" name="图片 13" descr="图形用户界面, 表格, 网站&#10;&#10;AI 生成的内容可能不正确。"/>
          <p:cNvPicPr>
            <a:picLocks noChangeAspect="1"/>
          </p:cNvPicPr>
          <p:nvPr/>
        </p:nvPicPr>
        <p:blipFill>
          <a:blip r:embed="rId4"/>
          <a:stretch>
            <a:fillRect/>
          </a:stretch>
        </p:blipFill>
        <p:spPr>
          <a:xfrm>
            <a:off x="8795973" y="2303146"/>
            <a:ext cx="9492027" cy="5033288"/>
          </a:xfrm>
          <a:prstGeom prst="rect">
            <a:avLst/>
          </a:prstGeom>
        </p:spPr>
      </p:pic>
      <p:sp>
        <p:nvSpPr>
          <p:cNvPr id="53" name="TextBox 9"/>
          <p:cNvSpPr txBox="1"/>
          <p:nvPr/>
        </p:nvSpPr>
        <p:spPr>
          <a:xfrm>
            <a:off x="1464459" y="2209800"/>
            <a:ext cx="6854163" cy="5867400"/>
          </a:xfrm>
          <a:prstGeom prst="rect">
            <a:avLst/>
          </a:prstGeom>
          <a:ln>
            <a:gradFill>
              <a:gsLst>
                <a:gs pos="50000">
                  <a:schemeClr val="accent2"/>
                </a:gs>
                <a:gs pos="0">
                  <a:schemeClr val="accent2">
                    <a:lumMod val="25000"/>
                    <a:lumOff val="75000"/>
                  </a:schemeClr>
                </a:gs>
                <a:gs pos="100000">
                  <a:schemeClr val="accent2">
                    <a:lumMod val="85000"/>
                  </a:schemeClr>
                </a:gs>
              </a:gsLst>
              <a:lin ang="5400000" scaled="0"/>
            </a:gradFill>
          </a:ln>
        </p:spPr>
        <p:txBody>
          <a:bodyPr lIns="50800" tIns="50800" rIns="50800" bIns="50800" rtlCol="0" anchor="ctr"/>
          <a:lstStyle/>
          <a:p>
            <a:pPr algn="just">
              <a:lnSpc>
                <a:spcPts val="2660"/>
              </a:lnSpc>
            </a:pPr>
            <a:r>
              <a:rPr lang="en-US" sz="22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在后台管理系统中，时间轴数据采用结构化方式进行维护。管理员可通过后台界面完成事件的新增、编辑、删除与排序，并为每一条时间轴事件配置发生日期、事件标题、简要说明及对</a:t>
            </a:r>
          </a:p>
          <a:p>
            <a:pPr algn="just">
              <a:lnSpc>
                <a:spcPts val="2660"/>
              </a:lnSpc>
            </a:pPr>
            <a:r>
              <a:rPr lang="en-US" sz="22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应图片资源</a:t>
            </a:r>
            <a:r>
              <a:rPr lang="en-US" sz="22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p>
          <a:p>
            <a:pPr algn="just">
              <a:lnSpc>
                <a:spcPts val="2660"/>
              </a:lnSpc>
            </a:pPr>
            <a:endParaRPr lang="en-US" sz="22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just">
              <a:lnSpc>
                <a:spcPts val="2660"/>
              </a:lnSpc>
            </a:pPr>
            <a:r>
              <a:rPr lang="en-US" sz="22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该设计实现了“内容展示”与“数据维护”的有效分离，既保证了前台展示的整洁与一致性，也提高了后期扩展与维护的灵活性</a:t>
            </a:r>
            <a:r>
              <a:rPr lang="en-US" sz="22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p>
          <a:p>
            <a:pPr algn="just">
              <a:lnSpc>
                <a:spcPts val="2660"/>
              </a:lnSpc>
            </a:pPr>
            <a:endParaRPr lang="en-US" sz="22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just">
              <a:lnSpc>
                <a:spcPts val="2660"/>
              </a:lnSpc>
            </a:pPr>
            <a:r>
              <a:rPr lang="en-US" sz="22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通过后台管理页面（如右图所示</a:t>
            </a:r>
            <a:r>
              <a:rPr lang="en-US" sz="22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r>
              <a:rPr lang="en-US" sz="22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时间轴内容可随研究需要持续补充与修订，为抗战专题页面提供可持续更新的数据支撑，确保历史资料的完整性与可追溯性</a:t>
            </a:r>
            <a:r>
              <a:rPr lang="en-US" sz="22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p>
          <a:p>
            <a:pPr algn="just">
              <a:lnSpc>
                <a:spcPts val="2660"/>
              </a:lnSpc>
            </a:pPr>
            <a:endParaRPr lang="en-US" sz="22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2232751" y="7825360"/>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3" name="Freeform 3"/>
          <p:cNvSpPr/>
          <p:nvPr/>
        </p:nvSpPr>
        <p:spPr>
          <a:xfrm rot="-5400000" flipH="1">
            <a:off x="14777542" y="805514"/>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grpSp>
        <p:nvGrpSpPr>
          <p:cNvPr id="4" name="Group 4"/>
          <p:cNvGrpSpPr/>
          <p:nvPr/>
        </p:nvGrpSpPr>
        <p:grpSpPr>
          <a:xfrm>
            <a:off x="-94605" y="-172349"/>
            <a:ext cx="18477209" cy="451224"/>
            <a:chOff x="0" y="0"/>
            <a:chExt cx="4519404" cy="110366"/>
          </a:xfrm>
        </p:grpSpPr>
        <p:sp>
          <p:nvSpPr>
            <p:cNvPr id="5" name="Freeform 5"/>
            <p:cNvSpPr/>
            <p:nvPr/>
          </p:nvSpPr>
          <p:spPr>
            <a:xfrm>
              <a:off x="0" y="0"/>
              <a:ext cx="4519404" cy="110366"/>
            </a:xfrm>
            <a:custGeom>
              <a:avLst/>
              <a:gdLst/>
              <a:ahLst/>
              <a:cxnLst/>
              <a:rect l="l" t="t" r="r" b="b"/>
              <a:pathLst>
                <a:path w="4519404" h="110366">
                  <a:moveTo>
                    <a:pt x="0" y="0"/>
                  </a:moveTo>
                  <a:lnTo>
                    <a:pt x="4519404" y="0"/>
                  </a:lnTo>
                  <a:lnTo>
                    <a:pt x="4519404" y="110366"/>
                  </a:lnTo>
                  <a:lnTo>
                    <a:pt x="0" y="110366"/>
                  </a:lnTo>
                  <a:close/>
                </a:path>
              </a:pathLst>
            </a:custGeom>
            <a:solidFill>
              <a:srgbClr val="8B0011"/>
            </a:solidFill>
          </p:spPr>
          <p:txBody>
            <a:bodyPr/>
            <a:lstStyle/>
            <a:p>
              <a:endParaRPr lang="zh-CN" altLang="en-US"/>
            </a:p>
          </p:txBody>
        </p:sp>
        <p:sp>
          <p:nvSpPr>
            <p:cNvPr id="6" name="TextBox 6"/>
            <p:cNvSpPr txBox="1"/>
            <p:nvPr/>
          </p:nvSpPr>
          <p:spPr>
            <a:xfrm>
              <a:off x="0" y="-47625"/>
              <a:ext cx="4519404" cy="157991"/>
            </a:xfrm>
            <a:prstGeom prst="rect">
              <a:avLst/>
            </a:prstGeom>
          </p:spPr>
          <p:txBody>
            <a:bodyPr lIns="50800" tIns="50800" rIns="50800" bIns="50800" rtlCol="0" anchor="ctr"/>
            <a:lstStyle/>
            <a:p>
              <a:pPr algn="ctr">
                <a:lnSpc>
                  <a:spcPts val="3210"/>
                </a:lnSpc>
              </a:pPr>
              <a:endParaRPr/>
            </a:p>
          </p:txBody>
        </p:sp>
      </p:grpSp>
      <p:sp>
        <p:nvSpPr>
          <p:cNvPr id="9" name="TextBox 9"/>
          <p:cNvSpPr txBox="1"/>
          <p:nvPr/>
        </p:nvSpPr>
        <p:spPr>
          <a:xfrm>
            <a:off x="1349496" y="1708197"/>
            <a:ext cx="7794504" cy="7245304"/>
          </a:xfrm>
          <a:prstGeom prst="rect">
            <a:avLst/>
          </a:prstGeom>
          <a:ln>
            <a:gradFill>
              <a:gsLst>
                <a:gs pos="50000">
                  <a:schemeClr val="accent2"/>
                </a:gs>
                <a:gs pos="0">
                  <a:schemeClr val="accent2">
                    <a:lumMod val="25000"/>
                    <a:lumOff val="75000"/>
                  </a:schemeClr>
                </a:gs>
                <a:gs pos="100000">
                  <a:schemeClr val="accent2">
                    <a:lumMod val="85000"/>
                  </a:schemeClr>
                </a:gs>
              </a:gsLst>
              <a:lin ang="5400000" scaled="0"/>
            </a:gradFill>
          </a:ln>
        </p:spPr>
        <p:txBody>
          <a:bodyPr lIns="50800" tIns="50800" rIns="50800" bIns="50800" rtlCol="0" anchor="ctr"/>
          <a:lstStyle/>
          <a:p>
            <a:pPr algn="ctr">
              <a:lnSpc>
                <a:spcPts val="2660"/>
              </a:lnSpc>
            </a:pPr>
            <a:endParaRPr/>
          </a:p>
        </p:txBody>
      </p:sp>
      <p:sp>
        <p:nvSpPr>
          <p:cNvPr id="10" name="Freeform 10"/>
          <p:cNvSpPr/>
          <p:nvPr/>
        </p:nvSpPr>
        <p:spPr>
          <a:xfrm>
            <a:off x="9854644" y="1837733"/>
            <a:ext cx="7794503" cy="7580154"/>
          </a:xfrm>
          <a:custGeom>
            <a:avLst/>
            <a:gdLst/>
            <a:ahLst/>
            <a:cxnLst/>
            <a:rect l="l" t="t" r="r" b="b"/>
            <a:pathLst>
              <a:path w="7794503" h="7580154">
                <a:moveTo>
                  <a:pt x="0" y="0"/>
                </a:moveTo>
                <a:lnTo>
                  <a:pt x="7794502" y="0"/>
                </a:lnTo>
                <a:lnTo>
                  <a:pt x="7794502" y="7580154"/>
                </a:lnTo>
                <a:lnTo>
                  <a:pt x="0" y="7580154"/>
                </a:lnTo>
                <a:lnTo>
                  <a:pt x="0" y="0"/>
                </a:lnTo>
                <a:close/>
              </a:path>
            </a:pathLst>
          </a:custGeom>
          <a:blipFill>
            <a:blip r:embed="rId4"/>
            <a:stretch>
              <a:fillRect/>
            </a:stretch>
          </a:blipFill>
        </p:spPr>
        <p:txBody>
          <a:bodyPr/>
          <a:lstStyle/>
          <a:p>
            <a:endParaRPr lang="zh-CN" altLang="en-US"/>
          </a:p>
        </p:txBody>
      </p:sp>
      <p:sp>
        <p:nvSpPr>
          <p:cNvPr id="11" name="TextBox 11"/>
          <p:cNvSpPr txBox="1"/>
          <p:nvPr/>
        </p:nvSpPr>
        <p:spPr>
          <a:xfrm>
            <a:off x="6355968" y="814427"/>
            <a:ext cx="5576065" cy="800100"/>
          </a:xfrm>
          <a:prstGeom prst="rect">
            <a:avLst/>
          </a:prstGeom>
        </p:spPr>
        <p:txBody>
          <a:bodyPr lIns="0" tIns="0" rIns="0" bIns="0" rtlCol="0" anchor="t">
            <a:spAutoFit/>
          </a:bodyPr>
          <a:lstStyle/>
          <a:p>
            <a:pPr algn="ctr">
              <a:lnSpc>
                <a:spcPts val="6360"/>
              </a:lnSpc>
            </a:pPr>
            <a:r>
              <a:rPr lang="en-US" sz="53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抗战地标设计</a:t>
            </a:r>
          </a:p>
        </p:txBody>
      </p:sp>
      <p:sp>
        <p:nvSpPr>
          <p:cNvPr id="12" name="TextBox 12"/>
          <p:cNvSpPr txBox="1"/>
          <p:nvPr/>
        </p:nvSpPr>
        <p:spPr>
          <a:xfrm>
            <a:off x="7446936" y="2882298"/>
            <a:ext cx="3394129" cy="510158"/>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实践概述</a:t>
            </a:r>
          </a:p>
        </p:txBody>
      </p:sp>
      <p:sp>
        <p:nvSpPr>
          <p:cNvPr id="13" name="TextBox 13"/>
          <p:cNvSpPr txBox="1"/>
          <p:nvPr/>
        </p:nvSpPr>
        <p:spPr>
          <a:xfrm>
            <a:off x="1369461" y="2037615"/>
            <a:ext cx="7433779" cy="6597650"/>
          </a:xfrm>
          <a:prstGeom prst="rect">
            <a:avLst/>
          </a:prstGeom>
        </p:spPr>
        <p:txBody>
          <a:bodyPr lIns="0" tIns="0" rIns="0" bIns="0" rtlCol="0" anchor="t">
            <a:spAutoFit/>
          </a:bodyPr>
          <a:lstStyle/>
          <a:p>
            <a:pPr marL="539750" lvl="1" indent="-269875" algn="l">
              <a:lnSpc>
                <a:spcPts val="5275"/>
              </a:lnSpc>
              <a:buFont typeface="Arial" panose="020B0604020202020204"/>
              <a:buChar char="•"/>
            </a:pPr>
            <a:r>
              <a:rPr lang="en-US" sz="2500" b="1">
                <a:solidFill>
                  <a:srgbClr val="8B0011"/>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地标地图</a:t>
            </a:r>
            <a:r>
              <a:rPr lang="en-US" sz="2500">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：基于战役经纬度绘制气泡地图，支持缩放/拖拽；悬浮提示显示地点、时间段、简介；无数据时提示后台补录。</a:t>
            </a:r>
          </a:p>
          <a:p>
            <a:pPr marL="539750" lvl="1" indent="-269875" algn="l">
              <a:lnSpc>
                <a:spcPts val="5275"/>
              </a:lnSpc>
              <a:buFont typeface="Arial" panose="020B0604020202020204"/>
              <a:buChar char="•"/>
            </a:pPr>
            <a:r>
              <a:rPr lang="en-US" sz="2500" b="1">
                <a:solidFill>
                  <a:srgbClr val="8B0011"/>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战役列表</a:t>
            </a:r>
            <a:r>
              <a:rPr lang="en-US" sz="2500">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：按卡片展示名称、主要地点、起止时间，提供“查看详情”跳转。</a:t>
            </a:r>
          </a:p>
          <a:p>
            <a:pPr marL="539750" lvl="1" indent="-269875" algn="l">
              <a:lnSpc>
                <a:spcPts val="5275"/>
              </a:lnSpc>
              <a:buFont typeface="Arial" panose="020B0604020202020204"/>
              <a:buChar char="•"/>
            </a:pPr>
            <a:r>
              <a:rPr lang="en-US" sz="2500" b="1">
                <a:solidFill>
                  <a:srgbClr val="8B0011"/>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详情页</a:t>
            </a:r>
            <a:r>
              <a:rPr lang="en-US" sz="2500">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：展示战役背景、时间、地点、描述等，可扩展更多字段（结果、伤亡等）。</a:t>
            </a:r>
          </a:p>
          <a:p>
            <a:pPr marL="539750" lvl="1" indent="-269875" algn="l">
              <a:lnSpc>
                <a:spcPts val="5275"/>
              </a:lnSpc>
              <a:buFont typeface="Arial" panose="020B0604020202020204"/>
              <a:buChar char="•"/>
            </a:pPr>
            <a:r>
              <a:rPr lang="en-US" sz="2500" b="1">
                <a:solidFill>
                  <a:srgbClr val="8B0011"/>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数据来源</a:t>
            </a:r>
            <a:r>
              <a:rPr lang="en-US" sz="2500">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：battle 主表（名称、地点、经纬度、时间、描述…），可配合 map_marker 支持同一战役多坐标点。</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2232751" y="7825360"/>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3" name="Freeform 3"/>
          <p:cNvSpPr/>
          <p:nvPr/>
        </p:nvSpPr>
        <p:spPr>
          <a:xfrm rot="-5400000" flipH="1">
            <a:off x="14777542" y="805514"/>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grpSp>
        <p:nvGrpSpPr>
          <p:cNvPr id="4" name="Group 4"/>
          <p:cNvGrpSpPr/>
          <p:nvPr/>
        </p:nvGrpSpPr>
        <p:grpSpPr>
          <a:xfrm>
            <a:off x="-94605" y="-172349"/>
            <a:ext cx="18477209" cy="451224"/>
            <a:chOff x="0" y="0"/>
            <a:chExt cx="4519404" cy="110366"/>
          </a:xfrm>
        </p:grpSpPr>
        <p:sp>
          <p:nvSpPr>
            <p:cNvPr id="5" name="Freeform 5"/>
            <p:cNvSpPr/>
            <p:nvPr/>
          </p:nvSpPr>
          <p:spPr>
            <a:xfrm>
              <a:off x="0" y="0"/>
              <a:ext cx="4519404" cy="110366"/>
            </a:xfrm>
            <a:custGeom>
              <a:avLst/>
              <a:gdLst/>
              <a:ahLst/>
              <a:cxnLst/>
              <a:rect l="l" t="t" r="r" b="b"/>
              <a:pathLst>
                <a:path w="4519404" h="110366">
                  <a:moveTo>
                    <a:pt x="0" y="0"/>
                  </a:moveTo>
                  <a:lnTo>
                    <a:pt x="4519404" y="0"/>
                  </a:lnTo>
                  <a:lnTo>
                    <a:pt x="4519404" y="110366"/>
                  </a:lnTo>
                  <a:lnTo>
                    <a:pt x="0" y="110366"/>
                  </a:lnTo>
                  <a:close/>
                </a:path>
              </a:pathLst>
            </a:custGeom>
            <a:solidFill>
              <a:srgbClr val="8B0011"/>
            </a:solidFill>
          </p:spPr>
          <p:txBody>
            <a:bodyPr/>
            <a:lstStyle/>
            <a:p>
              <a:endParaRPr lang="zh-CN" altLang="en-US"/>
            </a:p>
          </p:txBody>
        </p:sp>
        <p:sp>
          <p:nvSpPr>
            <p:cNvPr id="6" name="TextBox 6"/>
            <p:cNvSpPr txBox="1"/>
            <p:nvPr/>
          </p:nvSpPr>
          <p:spPr>
            <a:xfrm>
              <a:off x="0" y="-47625"/>
              <a:ext cx="4519404" cy="157991"/>
            </a:xfrm>
            <a:prstGeom prst="rect">
              <a:avLst/>
            </a:prstGeom>
          </p:spPr>
          <p:txBody>
            <a:bodyPr lIns="50800" tIns="50800" rIns="50800" bIns="50800" rtlCol="0" anchor="ctr"/>
            <a:lstStyle/>
            <a:p>
              <a:pPr algn="ctr">
                <a:lnSpc>
                  <a:spcPts val="3210"/>
                </a:lnSpc>
              </a:pPr>
              <a:endParaRPr/>
            </a:p>
          </p:txBody>
        </p:sp>
      </p:grpSp>
      <p:sp>
        <p:nvSpPr>
          <p:cNvPr id="8" name="Freeform 8"/>
          <p:cNvSpPr/>
          <p:nvPr/>
        </p:nvSpPr>
        <p:spPr>
          <a:xfrm>
            <a:off x="1273786" y="2147927"/>
            <a:ext cx="8327414" cy="6957973"/>
          </a:xfrm>
          <a:custGeom>
            <a:avLst/>
            <a:gdLst/>
            <a:ahLst/>
            <a:cxnLst/>
            <a:rect l="l" t="t" r="r" b="b"/>
            <a:pathLst>
              <a:path w="2114272" h="2048807">
                <a:moveTo>
                  <a:pt x="0" y="0"/>
                </a:moveTo>
                <a:lnTo>
                  <a:pt x="2114272" y="0"/>
                </a:lnTo>
                <a:lnTo>
                  <a:pt x="2114272" y="2048807"/>
                </a:lnTo>
                <a:lnTo>
                  <a:pt x="0" y="2048807"/>
                </a:lnTo>
                <a:close/>
              </a:path>
            </a:pathLst>
          </a:custGeom>
          <a:solidFill>
            <a:srgbClr val="000000">
              <a:alpha val="0"/>
            </a:srgbClr>
          </a:solidFill>
          <a:ln w="19050" cap="sq">
            <a:gradFill>
              <a:gsLst>
                <a:gs pos="50000">
                  <a:schemeClr val="accent2"/>
                </a:gs>
                <a:gs pos="0">
                  <a:schemeClr val="accent2">
                    <a:lumMod val="25000"/>
                    <a:lumOff val="75000"/>
                  </a:schemeClr>
                </a:gs>
                <a:gs pos="100000">
                  <a:schemeClr val="accent2">
                    <a:lumMod val="85000"/>
                  </a:schemeClr>
                </a:gs>
              </a:gsLst>
              <a:lin ang="5400000" scaled="0"/>
            </a:gradFill>
            <a:prstDash val="solid"/>
            <a:miter/>
          </a:ln>
        </p:spPr>
        <p:txBody>
          <a:bodyPr/>
          <a:lstStyle/>
          <a:p>
            <a:pPr algn="just">
              <a:lnSpc>
                <a:spcPts val="4785"/>
              </a:lnSpc>
            </a:pPr>
            <a:r>
              <a:rPr lang="en-US" altLang="zh-CN" sz="2800" b="1">
                <a:solidFill>
                  <a:srgbClr val="8B0011"/>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抗战地标后台（战役/地点管理）</a:t>
            </a:r>
            <a:r>
              <a:rPr lang="en-US" altLang="zh-CN"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p>
          <a:p>
            <a:pPr marL="539750" lvl="1" indent="-269875" algn="just">
              <a:lnSpc>
                <a:spcPts val="4275"/>
              </a:lnSpc>
              <a:buFont typeface="Arial" panose="020B0604020202020204"/>
              <a:buChar char="•"/>
            </a:pPr>
            <a:r>
              <a:rPr lang="en-US" altLang="zh-CN" sz="25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战役基础信息维护：新增/编辑/删除战役，录入名称、主要地点、起止时间、简介、战果/伤亡等。</a:t>
            </a:r>
          </a:p>
          <a:p>
            <a:pPr marL="539750" lvl="1" indent="-269875" algn="just">
              <a:lnSpc>
                <a:spcPts val="4275"/>
              </a:lnSpc>
              <a:buFont typeface="Arial" panose="020B0604020202020204"/>
              <a:buChar char="•"/>
            </a:pPr>
            <a:r>
              <a:rPr lang="en-US" altLang="zh-CN" sz="25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地理坐标管理：录入/修改主要经纬度，确保地图能定位；如有多点，可在多标记表（map_marker）增删坐标。</a:t>
            </a:r>
          </a:p>
          <a:p>
            <a:pPr marL="539750" lvl="1" indent="-269875" algn="just">
              <a:lnSpc>
                <a:spcPts val="4275"/>
              </a:lnSpc>
              <a:buFont typeface="Arial" panose="020B0604020202020204"/>
              <a:buChar char="•"/>
            </a:pPr>
            <a:r>
              <a:rPr lang="en-US" altLang="zh-CN" sz="25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展示控制：可按创建/更新时间排序，支持搜索/筛选（如按名称/时间段）。</a:t>
            </a:r>
          </a:p>
          <a:p>
            <a:pPr marL="539750" lvl="1" indent="-269875" algn="just">
              <a:lnSpc>
                <a:spcPts val="4275"/>
              </a:lnSpc>
              <a:buFont typeface="Arial" panose="020B0604020202020204"/>
              <a:buChar char="•"/>
            </a:pPr>
            <a:r>
              <a:rPr lang="en-US" altLang="zh-CN" sz="25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关联数据：可补充或调整描述、结果、双方伤亡等字段，支撑前台详情展示。</a:t>
            </a:r>
          </a:p>
          <a:p>
            <a:pPr marL="539750" lvl="1" indent="-269875" algn="just">
              <a:lnSpc>
                <a:spcPts val="4275"/>
              </a:lnSpc>
              <a:buFont typeface="Arial" panose="020B0604020202020204"/>
              <a:buChar char="•"/>
            </a:pPr>
            <a:r>
              <a:rPr lang="en-US" altLang="zh-CN" sz="25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质量保障：无坐标时后台提示补录，经纬度缺失会导致前台地图无气泡或提示“缺少数据”。</a:t>
            </a:r>
          </a:p>
          <a:p>
            <a:pPr algn="just">
              <a:lnSpc>
                <a:spcPts val="4275"/>
              </a:lnSpc>
            </a:pPr>
            <a:endParaRPr lang="en-US" altLang="zh-CN" sz="25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p:txBody>
      </p:sp>
      <p:sp>
        <p:nvSpPr>
          <p:cNvPr id="10" name="Freeform 10"/>
          <p:cNvSpPr/>
          <p:nvPr/>
        </p:nvSpPr>
        <p:spPr>
          <a:xfrm>
            <a:off x="10134600" y="2147927"/>
            <a:ext cx="6427965" cy="2971190"/>
          </a:xfrm>
          <a:custGeom>
            <a:avLst/>
            <a:gdLst/>
            <a:ahLst/>
            <a:cxnLst/>
            <a:rect l="l" t="t" r="r" b="b"/>
            <a:pathLst>
              <a:path w="5271386" h="2971190">
                <a:moveTo>
                  <a:pt x="0" y="0"/>
                </a:moveTo>
                <a:lnTo>
                  <a:pt x="5271386" y="0"/>
                </a:lnTo>
                <a:lnTo>
                  <a:pt x="5271386" y="2971190"/>
                </a:lnTo>
                <a:lnTo>
                  <a:pt x="0" y="2971190"/>
                </a:lnTo>
                <a:lnTo>
                  <a:pt x="0" y="0"/>
                </a:lnTo>
                <a:close/>
              </a:path>
            </a:pathLst>
          </a:custGeom>
          <a:blipFill>
            <a:blip r:embed="rId4"/>
            <a:stretch>
              <a:fillRect b="-1792"/>
            </a:stretch>
          </a:blipFill>
        </p:spPr>
        <p:txBody>
          <a:bodyPr/>
          <a:lstStyle/>
          <a:p>
            <a:endParaRPr lang="zh-CN" altLang="en-US"/>
          </a:p>
        </p:txBody>
      </p:sp>
      <p:sp>
        <p:nvSpPr>
          <p:cNvPr id="11" name="Freeform 11"/>
          <p:cNvSpPr/>
          <p:nvPr/>
        </p:nvSpPr>
        <p:spPr>
          <a:xfrm>
            <a:off x="10134600" y="5295900"/>
            <a:ext cx="6351765" cy="4427965"/>
          </a:xfrm>
          <a:custGeom>
            <a:avLst/>
            <a:gdLst/>
            <a:ahLst/>
            <a:cxnLst/>
            <a:rect l="l" t="t" r="r" b="b"/>
            <a:pathLst>
              <a:path w="5271386" h="4427965">
                <a:moveTo>
                  <a:pt x="0" y="0"/>
                </a:moveTo>
                <a:lnTo>
                  <a:pt x="5271386" y="0"/>
                </a:lnTo>
                <a:lnTo>
                  <a:pt x="5271386" y="4427964"/>
                </a:lnTo>
                <a:lnTo>
                  <a:pt x="0" y="4427964"/>
                </a:lnTo>
                <a:lnTo>
                  <a:pt x="0" y="0"/>
                </a:lnTo>
                <a:close/>
              </a:path>
            </a:pathLst>
          </a:custGeom>
          <a:blipFill>
            <a:blip r:embed="rId5"/>
            <a:stretch>
              <a:fillRect/>
            </a:stretch>
          </a:blipFill>
        </p:spPr>
        <p:txBody>
          <a:bodyPr/>
          <a:lstStyle/>
          <a:p>
            <a:endParaRPr lang="zh-CN" altLang="en-US"/>
          </a:p>
        </p:txBody>
      </p:sp>
      <p:sp>
        <p:nvSpPr>
          <p:cNvPr id="12" name="TextBox 12"/>
          <p:cNvSpPr txBox="1"/>
          <p:nvPr/>
        </p:nvSpPr>
        <p:spPr>
          <a:xfrm>
            <a:off x="10710941" y="1128752"/>
            <a:ext cx="3394129" cy="510158"/>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实践概述</a:t>
            </a:r>
          </a:p>
        </p:txBody>
      </p:sp>
      <p:sp>
        <p:nvSpPr>
          <p:cNvPr id="13" name="TextBox 13"/>
          <p:cNvSpPr txBox="1"/>
          <p:nvPr/>
        </p:nvSpPr>
        <p:spPr>
          <a:xfrm>
            <a:off x="6355968" y="814427"/>
            <a:ext cx="5576065" cy="800100"/>
          </a:xfrm>
          <a:prstGeom prst="rect">
            <a:avLst/>
          </a:prstGeom>
        </p:spPr>
        <p:txBody>
          <a:bodyPr lIns="0" tIns="0" rIns="0" bIns="0" rtlCol="0" anchor="t">
            <a:spAutoFit/>
          </a:bodyPr>
          <a:lstStyle/>
          <a:p>
            <a:pPr algn="ctr">
              <a:lnSpc>
                <a:spcPts val="6360"/>
              </a:lnSpc>
            </a:pPr>
            <a:r>
              <a:rPr lang="en-US" sz="53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抗战地标设计</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2232751" y="7825360"/>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3" name="Freeform 3"/>
          <p:cNvSpPr/>
          <p:nvPr/>
        </p:nvSpPr>
        <p:spPr>
          <a:xfrm rot="-5400000" flipH="1">
            <a:off x="14777542" y="805514"/>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grpSp>
        <p:nvGrpSpPr>
          <p:cNvPr id="4" name="Group 4"/>
          <p:cNvGrpSpPr/>
          <p:nvPr/>
        </p:nvGrpSpPr>
        <p:grpSpPr>
          <a:xfrm>
            <a:off x="-94605" y="-172349"/>
            <a:ext cx="18477209" cy="451224"/>
            <a:chOff x="0" y="0"/>
            <a:chExt cx="4519404" cy="110366"/>
          </a:xfrm>
        </p:grpSpPr>
        <p:sp>
          <p:nvSpPr>
            <p:cNvPr id="5" name="Freeform 5"/>
            <p:cNvSpPr/>
            <p:nvPr/>
          </p:nvSpPr>
          <p:spPr>
            <a:xfrm>
              <a:off x="0" y="0"/>
              <a:ext cx="4519404" cy="110366"/>
            </a:xfrm>
            <a:custGeom>
              <a:avLst/>
              <a:gdLst/>
              <a:ahLst/>
              <a:cxnLst/>
              <a:rect l="l" t="t" r="r" b="b"/>
              <a:pathLst>
                <a:path w="4519404" h="110366">
                  <a:moveTo>
                    <a:pt x="0" y="0"/>
                  </a:moveTo>
                  <a:lnTo>
                    <a:pt x="4519404" y="0"/>
                  </a:lnTo>
                  <a:lnTo>
                    <a:pt x="4519404" y="110366"/>
                  </a:lnTo>
                  <a:lnTo>
                    <a:pt x="0" y="110366"/>
                  </a:lnTo>
                  <a:close/>
                </a:path>
              </a:pathLst>
            </a:custGeom>
            <a:solidFill>
              <a:srgbClr val="8B0011"/>
            </a:solidFill>
          </p:spPr>
          <p:txBody>
            <a:bodyPr/>
            <a:lstStyle/>
            <a:p>
              <a:endParaRPr lang="zh-CN" altLang="en-US"/>
            </a:p>
          </p:txBody>
        </p:sp>
        <p:sp>
          <p:nvSpPr>
            <p:cNvPr id="6" name="TextBox 6"/>
            <p:cNvSpPr txBox="1"/>
            <p:nvPr/>
          </p:nvSpPr>
          <p:spPr>
            <a:xfrm>
              <a:off x="0" y="-47625"/>
              <a:ext cx="4519404" cy="157991"/>
            </a:xfrm>
            <a:prstGeom prst="rect">
              <a:avLst/>
            </a:prstGeom>
          </p:spPr>
          <p:txBody>
            <a:bodyPr lIns="50800" tIns="50800" rIns="50800" bIns="50800" rtlCol="0" anchor="ctr"/>
            <a:lstStyle/>
            <a:p>
              <a:pPr algn="ctr">
                <a:lnSpc>
                  <a:spcPts val="3210"/>
                </a:lnSpc>
              </a:pPr>
              <a:endParaRPr/>
            </a:p>
          </p:txBody>
        </p:sp>
      </p:grpSp>
      <p:sp>
        <p:nvSpPr>
          <p:cNvPr id="9" name="TextBox 9"/>
          <p:cNvSpPr txBox="1"/>
          <p:nvPr/>
        </p:nvSpPr>
        <p:spPr>
          <a:xfrm>
            <a:off x="1466917" y="2843540"/>
            <a:ext cx="6595040" cy="4524547"/>
          </a:xfrm>
          <a:prstGeom prst="rect">
            <a:avLst/>
          </a:prstGeom>
          <a:ln>
            <a:gradFill>
              <a:gsLst>
                <a:gs pos="50000">
                  <a:schemeClr val="accent2"/>
                </a:gs>
                <a:gs pos="0">
                  <a:schemeClr val="accent2">
                    <a:lumMod val="25000"/>
                    <a:lumOff val="75000"/>
                  </a:schemeClr>
                </a:gs>
                <a:gs pos="100000">
                  <a:schemeClr val="accent2">
                    <a:lumMod val="85000"/>
                  </a:schemeClr>
                </a:gs>
              </a:gsLst>
              <a:lin ang="5400000" scaled="0"/>
            </a:gradFill>
          </a:ln>
        </p:spPr>
        <p:txBody>
          <a:bodyPr lIns="50800" tIns="50800" rIns="50800" bIns="50800" rtlCol="0" anchor="ctr"/>
          <a:lstStyle/>
          <a:p>
            <a:pPr algn="l">
              <a:lnSpc>
                <a:spcPts val="2660"/>
              </a:lnSpc>
            </a:pPr>
            <a:r>
              <a:rPr lang="en-US" sz="19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 本页面实现了从原始 CSV 到可视化展示的完整闭环：表头归</a:t>
            </a:r>
          </a:p>
          <a:p>
            <a:pPr algn="l">
              <a:lnSpc>
                <a:spcPts val="2660"/>
              </a:lnSpc>
            </a:pPr>
            <a:endParaRPr lang="en-US" sz="19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l">
              <a:lnSpc>
                <a:spcPts val="2660"/>
              </a:lnSpc>
            </a:pPr>
            <a:r>
              <a:rPr lang="en-US" sz="19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一化与编码处理保证数据读取鲁棒；统一 API 输出结构化 </a:t>
            </a:r>
          </a:p>
          <a:p>
            <a:pPr algn="l">
              <a:lnSpc>
                <a:spcPts val="2660"/>
              </a:lnSpc>
            </a:pPr>
            <a:endParaRPr lang="en-US" sz="19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l">
              <a:lnSpc>
                <a:spcPts val="2660"/>
              </a:lnSpc>
            </a:pPr>
            <a:r>
              <a:rPr lang="en-US" sz="19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JSON，前端按 display 自动切换图表/表格/时间轴；对跨度</a:t>
            </a:r>
          </a:p>
          <a:p>
            <a:pPr algn="l">
              <a:lnSpc>
                <a:spcPts val="2660"/>
              </a:lnSpc>
            </a:pPr>
            <a:endParaRPr lang="en-US" sz="19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l">
              <a:lnSpc>
                <a:spcPts val="2660"/>
              </a:lnSpc>
            </a:pPr>
            <a:r>
              <a:rPr lang="en-US" sz="19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大的指标支持对数轴与单位换算，提升可读性；并提供来源</a:t>
            </a:r>
          </a:p>
          <a:p>
            <a:pPr algn="l">
              <a:lnSpc>
                <a:spcPts val="2660"/>
              </a:lnSpc>
            </a:pPr>
            <a:endParaRPr lang="en-US" sz="19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l">
              <a:lnSpc>
                <a:spcPts val="2660"/>
              </a:lnSpc>
            </a:pPr>
            <a:r>
              <a:rPr lang="en-US" sz="19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说明与 CSV 下载，强调数据透明与可复现。</a:t>
            </a:r>
          </a:p>
        </p:txBody>
      </p:sp>
      <p:sp>
        <p:nvSpPr>
          <p:cNvPr id="10" name="Freeform 10"/>
          <p:cNvSpPr/>
          <p:nvPr/>
        </p:nvSpPr>
        <p:spPr>
          <a:xfrm>
            <a:off x="8644541" y="1816692"/>
            <a:ext cx="8099104" cy="6404382"/>
          </a:xfrm>
          <a:custGeom>
            <a:avLst/>
            <a:gdLst/>
            <a:ahLst/>
            <a:cxnLst/>
            <a:rect l="l" t="t" r="r" b="b"/>
            <a:pathLst>
              <a:path w="8099104" h="6404382">
                <a:moveTo>
                  <a:pt x="0" y="0"/>
                </a:moveTo>
                <a:lnTo>
                  <a:pt x="8099103" y="0"/>
                </a:lnTo>
                <a:lnTo>
                  <a:pt x="8099103" y="6404382"/>
                </a:lnTo>
                <a:lnTo>
                  <a:pt x="0" y="6404382"/>
                </a:lnTo>
                <a:lnTo>
                  <a:pt x="0" y="0"/>
                </a:lnTo>
                <a:close/>
              </a:path>
            </a:pathLst>
          </a:custGeom>
          <a:blipFill>
            <a:blip r:embed="rId4"/>
            <a:stretch>
              <a:fillRect l="-17245" r="-23021"/>
            </a:stretch>
          </a:blipFill>
        </p:spPr>
        <p:txBody>
          <a:bodyPr/>
          <a:lstStyle/>
          <a:p>
            <a:endParaRPr lang="zh-CN" altLang="en-US"/>
          </a:p>
        </p:txBody>
      </p:sp>
      <p:sp>
        <p:nvSpPr>
          <p:cNvPr id="11" name="TextBox 11"/>
          <p:cNvSpPr txBox="1"/>
          <p:nvPr/>
        </p:nvSpPr>
        <p:spPr>
          <a:xfrm>
            <a:off x="106403" y="647733"/>
            <a:ext cx="5576065" cy="800100"/>
          </a:xfrm>
          <a:prstGeom prst="rect">
            <a:avLst/>
          </a:prstGeom>
        </p:spPr>
        <p:txBody>
          <a:bodyPr lIns="0" tIns="0" rIns="0" bIns="0" rtlCol="0" anchor="t">
            <a:spAutoFit/>
          </a:bodyPr>
          <a:lstStyle/>
          <a:p>
            <a:pPr algn="ctr">
              <a:lnSpc>
                <a:spcPts val="6360"/>
              </a:lnSpc>
            </a:pPr>
            <a:r>
              <a:rPr lang="en-US" sz="53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抗战数据</a:t>
            </a:r>
          </a:p>
        </p:txBody>
      </p:sp>
      <p:sp>
        <p:nvSpPr>
          <p:cNvPr id="12" name="TextBox 12"/>
          <p:cNvSpPr txBox="1"/>
          <p:nvPr/>
        </p:nvSpPr>
        <p:spPr>
          <a:xfrm>
            <a:off x="10710941" y="1128752"/>
            <a:ext cx="3394129" cy="510158"/>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实践概述</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2232751" y="7825360"/>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3" name="Freeform 3"/>
          <p:cNvSpPr/>
          <p:nvPr/>
        </p:nvSpPr>
        <p:spPr>
          <a:xfrm rot="-5400000" flipH="1">
            <a:off x="14777542" y="805514"/>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grpSp>
        <p:nvGrpSpPr>
          <p:cNvPr id="4" name="Group 4"/>
          <p:cNvGrpSpPr/>
          <p:nvPr/>
        </p:nvGrpSpPr>
        <p:grpSpPr>
          <a:xfrm>
            <a:off x="-94605" y="-172349"/>
            <a:ext cx="18477209" cy="451224"/>
            <a:chOff x="0" y="0"/>
            <a:chExt cx="4519404" cy="110366"/>
          </a:xfrm>
        </p:grpSpPr>
        <p:sp>
          <p:nvSpPr>
            <p:cNvPr id="5" name="Freeform 5"/>
            <p:cNvSpPr/>
            <p:nvPr/>
          </p:nvSpPr>
          <p:spPr>
            <a:xfrm>
              <a:off x="0" y="0"/>
              <a:ext cx="4519404" cy="110366"/>
            </a:xfrm>
            <a:custGeom>
              <a:avLst/>
              <a:gdLst/>
              <a:ahLst/>
              <a:cxnLst/>
              <a:rect l="l" t="t" r="r" b="b"/>
              <a:pathLst>
                <a:path w="4519404" h="110366">
                  <a:moveTo>
                    <a:pt x="0" y="0"/>
                  </a:moveTo>
                  <a:lnTo>
                    <a:pt x="4519404" y="0"/>
                  </a:lnTo>
                  <a:lnTo>
                    <a:pt x="4519404" y="110366"/>
                  </a:lnTo>
                  <a:lnTo>
                    <a:pt x="0" y="110366"/>
                  </a:lnTo>
                  <a:close/>
                </a:path>
              </a:pathLst>
            </a:custGeom>
            <a:solidFill>
              <a:srgbClr val="8B0011"/>
            </a:solidFill>
          </p:spPr>
          <p:txBody>
            <a:bodyPr/>
            <a:lstStyle/>
            <a:p>
              <a:endParaRPr lang="zh-CN" altLang="en-US"/>
            </a:p>
          </p:txBody>
        </p:sp>
        <p:sp>
          <p:nvSpPr>
            <p:cNvPr id="6" name="TextBox 6"/>
            <p:cNvSpPr txBox="1"/>
            <p:nvPr/>
          </p:nvSpPr>
          <p:spPr>
            <a:xfrm>
              <a:off x="0" y="-47625"/>
              <a:ext cx="4519404" cy="157991"/>
            </a:xfrm>
            <a:prstGeom prst="rect">
              <a:avLst/>
            </a:prstGeom>
          </p:spPr>
          <p:txBody>
            <a:bodyPr lIns="50800" tIns="50800" rIns="50800" bIns="50800" rtlCol="0" anchor="ctr"/>
            <a:lstStyle/>
            <a:p>
              <a:pPr algn="ctr">
                <a:lnSpc>
                  <a:spcPts val="3210"/>
                </a:lnSpc>
              </a:pPr>
              <a:endParaRPr/>
            </a:p>
          </p:txBody>
        </p:sp>
      </p:grpSp>
      <p:sp>
        <p:nvSpPr>
          <p:cNvPr id="9" name="TextBox 9"/>
          <p:cNvSpPr txBox="1"/>
          <p:nvPr/>
        </p:nvSpPr>
        <p:spPr>
          <a:xfrm>
            <a:off x="1466917" y="2239206"/>
            <a:ext cx="6651573" cy="5709105"/>
          </a:xfrm>
          <a:prstGeom prst="rect">
            <a:avLst/>
          </a:prstGeom>
          <a:ln>
            <a:gradFill>
              <a:gsLst>
                <a:gs pos="50000">
                  <a:schemeClr val="accent2"/>
                </a:gs>
                <a:gs pos="0">
                  <a:schemeClr val="accent2">
                    <a:lumMod val="25000"/>
                    <a:lumOff val="75000"/>
                  </a:schemeClr>
                </a:gs>
                <a:gs pos="100000">
                  <a:schemeClr val="accent2">
                    <a:lumMod val="85000"/>
                  </a:schemeClr>
                </a:gs>
              </a:gsLst>
              <a:lin ang="5400000" scaled="0"/>
            </a:gradFill>
          </a:ln>
        </p:spPr>
        <p:txBody>
          <a:bodyPr lIns="50800" tIns="50800" rIns="50800" bIns="50800" rtlCol="0" anchor="ctr"/>
          <a:lstStyle/>
          <a:p>
            <a:pPr algn="ctr">
              <a:lnSpc>
                <a:spcPts val="2660"/>
              </a:lnSpc>
            </a:pPr>
            <a:r>
              <a:rPr lang="en-US" sz="19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本模块用于对抗战相关统计数据进行统一管理与维护。系</a:t>
            </a: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r>
              <a:rPr lang="en-US" sz="19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统将原始</a:t>
            </a:r>
            <a:r>
              <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 CSV </a:t>
            </a:r>
            <a:r>
              <a:rPr lang="en-US" sz="19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数据按主题拆分为多个数据集，并通过后</a:t>
            </a: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r>
              <a:rPr lang="en-US" sz="19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台管理界面完成导入、登记与结构化存储，实现“原始文</a:t>
            </a: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r>
              <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件—</a:t>
            </a:r>
            <a:r>
              <a:rPr lang="en-US" sz="19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数据库</a:t>
            </a:r>
            <a:r>
              <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r>
              <a:rPr lang="en-US" sz="19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前端展示”的完整数据链路。通过数据集管</a:t>
            </a: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r>
              <a:rPr lang="en-US" sz="19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理，可以清晰区分不同来源与统计口径的数据，为后续的</a:t>
            </a: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r>
              <a:rPr lang="en-US" sz="19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数据可视化、对比分析与专题展示提供稳定、可复用的数</a:t>
            </a: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endPar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endParaRPr>
          </a:p>
          <a:p>
            <a:pPr algn="ctr">
              <a:lnSpc>
                <a:spcPts val="2660"/>
              </a:lnSpc>
            </a:pPr>
            <a:r>
              <a:rPr lang="en-US" sz="1900" dirty="0" err="1">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据基础，也方便后期对数据进行补充、修正与扩展</a:t>
            </a:r>
            <a:r>
              <a:rPr lang="en-US" sz="1900" dirty="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p>
        </p:txBody>
      </p:sp>
      <p:sp>
        <p:nvSpPr>
          <p:cNvPr id="11" name="TextBox 11"/>
          <p:cNvSpPr txBox="1"/>
          <p:nvPr/>
        </p:nvSpPr>
        <p:spPr>
          <a:xfrm>
            <a:off x="106403" y="647733"/>
            <a:ext cx="5576065" cy="800100"/>
          </a:xfrm>
          <a:prstGeom prst="rect">
            <a:avLst/>
          </a:prstGeom>
        </p:spPr>
        <p:txBody>
          <a:bodyPr lIns="0" tIns="0" rIns="0" bIns="0" rtlCol="0" anchor="t">
            <a:spAutoFit/>
          </a:bodyPr>
          <a:lstStyle/>
          <a:p>
            <a:pPr algn="ctr">
              <a:lnSpc>
                <a:spcPts val="6360"/>
              </a:lnSpc>
            </a:pPr>
            <a:r>
              <a:rPr lang="en-US" sz="53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抗战数据</a:t>
            </a:r>
          </a:p>
        </p:txBody>
      </p:sp>
      <p:sp>
        <p:nvSpPr>
          <p:cNvPr id="12" name="TextBox 12"/>
          <p:cNvSpPr txBox="1"/>
          <p:nvPr/>
        </p:nvSpPr>
        <p:spPr>
          <a:xfrm>
            <a:off x="10710941" y="1128752"/>
            <a:ext cx="3394129" cy="510158"/>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实践概述</a:t>
            </a:r>
          </a:p>
        </p:txBody>
      </p:sp>
      <p:pic>
        <p:nvPicPr>
          <p:cNvPr id="14" name="图片 13" descr="图形用户界面, 文本, 应用程序, 电子邮件&#10;&#10;AI 生成的内容可能不正确。"/>
          <p:cNvPicPr>
            <a:picLocks noChangeAspect="1"/>
          </p:cNvPicPr>
          <p:nvPr/>
        </p:nvPicPr>
        <p:blipFill>
          <a:blip r:embed="rId4"/>
          <a:stretch>
            <a:fillRect/>
          </a:stretch>
        </p:blipFill>
        <p:spPr>
          <a:xfrm>
            <a:off x="8534400" y="2239206"/>
            <a:ext cx="8733456" cy="517809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4605" y="-172349"/>
            <a:ext cx="18477209" cy="451224"/>
            <a:chOff x="0" y="0"/>
            <a:chExt cx="4519404" cy="110366"/>
          </a:xfrm>
        </p:grpSpPr>
        <p:sp>
          <p:nvSpPr>
            <p:cNvPr id="3" name="Freeform 3"/>
            <p:cNvSpPr/>
            <p:nvPr/>
          </p:nvSpPr>
          <p:spPr>
            <a:xfrm>
              <a:off x="0" y="0"/>
              <a:ext cx="4519404" cy="110366"/>
            </a:xfrm>
            <a:custGeom>
              <a:avLst/>
              <a:gdLst/>
              <a:ahLst/>
              <a:cxnLst/>
              <a:rect l="l" t="t" r="r" b="b"/>
              <a:pathLst>
                <a:path w="4519404" h="110366">
                  <a:moveTo>
                    <a:pt x="0" y="0"/>
                  </a:moveTo>
                  <a:lnTo>
                    <a:pt x="4519404" y="0"/>
                  </a:lnTo>
                  <a:lnTo>
                    <a:pt x="4519404" y="110366"/>
                  </a:lnTo>
                  <a:lnTo>
                    <a:pt x="0" y="110366"/>
                  </a:lnTo>
                  <a:close/>
                </a:path>
              </a:pathLst>
            </a:custGeom>
            <a:solidFill>
              <a:srgbClr val="8B0011"/>
            </a:solidFill>
          </p:spPr>
          <p:txBody>
            <a:bodyPr/>
            <a:lstStyle/>
            <a:p>
              <a:endParaRPr lang="zh-CN" altLang="en-US"/>
            </a:p>
          </p:txBody>
        </p:sp>
        <p:sp>
          <p:nvSpPr>
            <p:cNvPr id="4" name="TextBox 4"/>
            <p:cNvSpPr txBox="1"/>
            <p:nvPr/>
          </p:nvSpPr>
          <p:spPr>
            <a:xfrm>
              <a:off x="0" y="-47625"/>
              <a:ext cx="4519404" cy="157991"/>
            </a:xfrm>
            <a:prstGeom prst="rect">
              <a:avLst/>
            </a:prstGeom>
          </p:spPr>
          <p:txBody>
            <a:bodyPr lIns="50800" tIns="50800" rIns="50800" bIns="50800" rtlCol="0" anchor="ctr"/>
            <a:lstStyle/>
            <a:p>
              <a:pPr algn="ctr">
                <a:lnSpc>
                  <a:spcPts val="3210"/>
                </a:lnSpc>
              </a:pPr>
              <a:endParaRPr/>
            </a:p>
          </p:txBody>
        </p:sp>
      </p:grpSp>
      <p:sp>
        <p:nvSpPr>
          <p:cNvPr id="5" name="Freeform 5"/>
          <p:cNvSpPr/>
          <p:nvPr/>
        </p:nvSpPr>
        <p:spPr>
          <a:xfrm rot="5400000" flipH="1">
            <a:off x="-2232751" y="7825360"/>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6" name="Freeform 6"/>
          <p:cNvSpPr/>
          <p:nvPr/>
        </p:nvSpPr>
        <p:spPr>
          <a:xfrm rot="-5400000" flipH="1">
            <a:off x="14777542" y="805514"/>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7" name="Freeform 7"/>
          <p:cNvSpPr/>
          <p:nvPr/>
        </p:nvSpPr>
        <p:spPr>
          <a:xfrm>
            <a:off x="10458450" y="1427480"/>
            <a:ext cx="6084570" cy="3618230"/>
          </a:xfrm>
          <a:custGeom>
            <a:avLst/>
            <a:gdLst/>
            <a:ahLst/>
            <a:cxnLst/>
            <a:rect l="l" t="t" r="r" b="b"/>
            <a:pathLst>
              <a:path w="6945845" h="4285360">
                <a:moveTo>
                  <a:pt x="0" y="0"/>
                </a:moveTo>
                <a:lnTo>
                  <a:pt x="6945845" y="0"/>
                </a:lnTo>
                <a:lnTo>
                  <a:pt x="6945845" y="4285360"/>
                </a:lnTo>
                <a:lnTo>
                  <a:pt x="0" y="4285360"/>
                </a:lnTo>
                <a:lnTo>
                  <a:pt x="0" y="0"/>
                </a:lnTo>
                <a:close/>
              </a:path>
            </a:pathLst>
          </a:custGeom>
          <a:blipFill>
            <a:blip r:embed="rId4"/>
            <a:stretch>
              <a:fillRect l="-2958" r="-2958"/>
            </a:stretch>
          </a:blipFill>
        </p:spPr>
        <p:txBody>
          <a:bodyPr/>
          <a:lstStyle/>
          <a:p>
            <a:endParaRPr lang="zh-CN" altLang="en-US"/>
          </a:p>
        </p:txBody>
      </p:sp>
      <p:sp>
        <p:nvSpPr>
          <p:cNvPr id="8" name="Freeform 8"/>
          <p:cNvSpPr/>
          <p:nvPr/>
        </p:nvSpPr>
        <p:spPr>
          <a:xfrm>
            <a:off x="10488930" y="6241415"/>
            <a:ext cx="6055360" cy="3483610"/>
          </a:xfrm>
          <a:custGeom>
            <a:avLst/>
            <a:gdLst/>
            <a:ahLst/>
            <a:cxnLst/>
            <a:rect l="l" t="t" r="r" b="b"/>
            <a:pathLst>
              <a:path w="6587488" h="3860764">
                <a:moveTo>
                  <a:pt x="0" y="0"/>
                </a:moveTo>
                <a:lnTo>
                  <a:pt x="6587487" y="0"/>
                </a:lnTo>
                <a:lnTo>
                  <a:pt x="6587487" y="3860763"/>
                </a:lnTo>
                <a:lnTo>
                  <a:pt x="0" y="3860763"/>
                </a:lnTo>
                <a:lnTo>
                  <a:pt x="0" y="0"/>
                </a:lnTo>
                <a:close/>
              </a:path>
            </a:pathLst>
          </a:custGeom>
          <a:blipFill>
            <a:blip r:embed="rId5"/>
            <a:stretch>
              <a:fillRect l="-1074" r="-1074"/>
            </a:stretch>
          </a:blipFill>
        </p:spPr>
        <p:txBody>
          <a:bodyPr/>
          <a:lstStyle/>
          <a:p>
            <a:endParaRPr lang="zh-CN" altLang="en-US"/>
          </a:p>
        </p:txBody>
      </p:sp>
      <p:sp>
        <p:nvSpPr>
          <p:cNvPr id="9" name="Freeform 9"/>
          <p:cNvSpPr/>
          <p:nvPr/>
        </p:nvSpPr>
        <p:spPr>
          <a:xfrm>
            <a:off x="1028700" y="6083688"/>
            <a:ext cx="7022367" cy="3748188"/>
          </a:xfrm>
          <a:custGeom>
            <a:avLst/>
            <a:gdLst/>
            <a:ahLst/>
            <a:cxnLst/>
            <a:rect l="l" t="t" r="r" b="b"/>
            <a:pathLst>
              <a:path w="7022367" h="3748188">
                <a:moveTo>
                  <a:pt x="0" y="0"/>
                </a:moveTo>
                <a:lnTo>
                  <a:pt x="7022367" y="0"/>
                </a:lnTo>
                <a:lnTo>
                  <a:pt x="7022367" y="3748188"/>
                </a:lnTo>
                <a:lnTo>
                  <a:pt x="0" y="3748188"/>
                </a:lnTo>
                <a:lnTo>
                  <a:pt x="0" y="0"/>
                </a:lnTo>
                <a:close/>
              </a:path>
            </a:pathLst>
          </a:custGeom>
          <a:blipFill>
            <a:blip r:embed="rId6"/>
            <a:stretch>
              <a:fillRect/>
            </a:stretch>
          </a:blipFill>
        </p:spPr>
        <p:txBody>
          <a:bodyPr/>
          <a:lstStyle/>
          <a:p>
            <a:endParaRPr lang="zh-CN" altLang="en-US"/>
          </a:p>
        </p:txBody>
      </p:sp>
      <p:sp>
        <p:nvSpPr>
          <p:cNvPr id="11" name="TextBox 11"/>
          <p:cNvSpPr txBox="1"/>
          <p:nvPr/>
        </p:nvSpPr>
        <p:spPr>
          <a:xfrm>
            <a:off x="-94605" y="1340052"/>
            <a:ext cx="5576065" cy="800100"/>
          </a:xfrm>
          <a:prstGeom prst="rect">
            <a:avLst/>
          </a:prstGeom>
        </p:spPr>
        <p:txBody>
          <a:bodyPr lIns="0" tIns="0" rIns="0" bIns="0" rtlCol="0" anchor="t">
            <a:spAutoFit/>
          </a:bodyPr>
          <a:lstStyle/>
          <a:p>
            <a:pPr algn="ctr">
              <a:lnSpc>
                <a:spcPts val="6360"/>
              </a:lnSpc>
            </a:pPr>
            <a:r>
              <a:rPr lang="en-US" sz="53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人物专栏设计</a:t>
            </a:r>
          </a:p>
        </p:txBody>
      </p:sp>
      <p:sp>
        <p:nvSpPr>
          <p:cNvPr id="12" name="TextBox 12"/>
          <p:cNvSpPr txBox="1"/>
          <p:nvPr/>
        </p:nvSpPr>
        <p:spPr>
          <a:xfrm>
            <a:off x="3352800" y="5455999"/>
            <a:ext cx="6512298" cy="537845"/>
          </a:xfrm>
          <a:prstGeom prst="rect">
            <a:avLst/>
          </a:prstGeom>
        </p:spPr>
        <p:txBody>
          <a:bodyPr lIns="0" tIns="0" rIns="0" bIns="0" rtlCol="0" anchor="t">
            <a:spAutoFit/>
          </a:bodyPr>
          <a:lstStyle/>
          <a:p>
            <a:pPr marL="0" lvl="0" indent="0" algn="l">
              <a:lnSpc>
                <a:spcPts val="4195"/>
              </a:lnSpc>
              <a:spcBef>
                <a:spcPct val="0"/>
              </a:spcBef>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管理后台界面</a:t>
            </a:r>
          </a:p>
        </p:txBody>
      </p:sp>
      <p:sp>
        <p:nvSpPr>
          <p:cNvPr id="13" name="TextBox 13"/>
          <p:cNvSpPr txBox="1"/>
          <p:nvPr/>
        </p:nvSpPr>
        <p:spPr>
          <a:xfrm>
            <a:off x="12573313" y="5433139"/>
            <a:ext cx="6512298" cy="537845"/>
          </a:xfrm>
          <a:prstGeom prst="rect">
            <a:avLst/>
          </a:prstGeom>
        </p:spPr>
        <p:txBody>
          <a:bodyPr lIns="0" tIns="0" rIns="0" bIns="0" rtlCol="0" anchor="t">
            <a:spAutoFit/>
          </a:bodyPr>
          <a:lstStyle/>
          <a:p>
            <a:pPr marL="0" lvl="0" indent="0" algn="l">
              <a:lnSpc>
                <a:spcPts val="4195"/>
              </a:lnSpc>
              <a:spcBef>
                <a:spcPct val="0"/>
              </a:spcBef>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人物详情界面</a:t>
            </a:r>
          </a:p>
        </p:txBody>
      </p:sp>
      <p:sp>
        <p:nvSpPr>
          <p:cNvPr id="14" name="TextBox 14"/>
          <p:cNvSpPr txBox="1"/>
          <p:nvPr/>
        </p:nvSpPr>
        <p:spPr>
          <a:xfrm>
            <a:off x="12497113" y="800367"/>
            <a:ext cx="6512298" cy="537845"/>
          </a:xfrm>
          <a:prstGeom prst="rect">
            <a:avLst/>
          </a:prstGeom>
        </p:spPr>
        <p:txBody>
          <a:bodyPr lIns="0" tIns="0" rIns="0" bIns="0" rtlCol="0" anchor="t">
            <a:spAutoFit/>
          </a:bodyPr>
          <a:lstStyle/>
          <a:p>
            <a:pPr marL="0" lvl="0" indent="0" algn="l">
              <a:lnSpc>
                <a:spcPts val="4195"/>
              </a:lnSpc>
              <a:spcBef>
                <a:spcPct val="0"/>
              </a:spcBef>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人物列表界面</a:t>
            </a:r>
          </a:p>
        </p:txBody>
      </p:sp>
      <p:sp>
        <p:nvSpPr>
          <p:cNvPr id="17" name="TextBox 9"/>
          <p:cNvSpPr txBox="1"/>
          <p:nvPr/>
        </p:nvSpPr>
        <p:spPr>
          <a:xfrm>
            <a:off x="838200" y="2390491"/>
            <a:ext cx="7833360" cy="2974624"/>
          </a:xfrm>
          <a:prstGeom prst="rect">
            <a:avLst/>
          </a:prstGeom>
          <a:ln>
            <a:gradFill>
              <a:gsLst>
                <a:gs pos="50000">
                  <a:schemeClr val="accent2"/>
                </a:gs>
                <a:gs pos="0">
                  <a:schemeClr val="accent2">
                    <a:lumMod val="25000"/>
                    <a:lumOff val="75000"/>
                  </a:schemeClr>
                </a:gs>
                <a:gs pos="100000">
                  <a:schemeClr val="accent2">
                    <a:lumMod val="85000"/>
                  </a:schemeClr>
                </a:gs>
              </a:gsLst>
              <a:lin ang="5400000" scaled="0"/>
            </a:gradFill>
          </a:ln>
        </p:spPr>
        <p:txBody>
          <a:bodyPr lIns="50800" tIns="50800" rIns="50800" bIns="50800" rtlCol="0" anchor="ctr"/>
          <a:lstStyle/>
          <a:p>
            <a:pPr algn="just">
              <a:lnSpc>
                <a:spcPts val="2660"/>
              </a:lnSpc>
            </a:pPr>
            <a:r>
              <a:rPr lang="zh-CN" altLang="en-US"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人物专栏汇聚权威纪念网站的公开英雄信息，首页以图文列表快速呈现人物入口。点击人物卡片进入详情页，集中展示个人简介与抗战事迹要点，支持从概览到深入的分层阅读。</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4605" y="-172349"/>
            <a:ext cx="18477209" cy="451224"/>
            <a:chOff x="0" y="0"/>
            <a:chExt cx="4519404" cy="110366"/>
          </a:xfrm>
        </p:grpSpPr>
        <p:sp>
          <p:nvSpPr>
            <p:cNvPr id="3" name="Freeform 3"/>
            <p:cNvSpPr/>
            <p:nvPr/>
          </p:nvSpPr>
          <p:spPr>
            <a:xfrm>
              <a:off x="0" y="0"/>
              <a:ext cx="4519404" cy="110366"/>
            </a:xfrm>
            <a:custGeom>
              <a:avLst/>
              <a:gdLst/>
              <a:ahLst/>
              <a:cxnLst/>
              <a:rect l="l" t="t" r="r" b="b"/>
              <a:pathLst>
                <a:path w="4519404" h="110366">
                  <a:moveTo>
                    <a:pt x="0" y="0"/>
                  </a:moveTo>
                  <a:lnTo>
                    <a:pt x="4519404" y="0"/>
                  </a:lnTo>
                  <a:lnTo>
                    <a:pt x="4519404" y="110366"/>
                  </a:lnTo>
                  <a:lnTo>
                    <a:pt x="0" y="110366"/>
                  </a:lnTo>
                  <a:close/>
                </a:path>
              </a:pathLst>
            </a:custGeom>
            <a:solidFill>
              <a:srgbClr val="8B0011"/>
            </a:solidFill>
          </p:spPr>
          <p:txBody>
            <a:bodyPr/>
            <a:lstStyle/>
            <a:p>
              <a:endParaRPr lang="zh-CN" altLang="en-US"/>
            </a:p>
          </p:txBody>
        </p:sp>
        <p:sp>
          <p:nvSpPr>
            <p:cNvPr id="4" name="TextBox 4"/>
            <p:cNvSpPr txBox="1"/>
            <p:nvPr/>
          </p:nvSpPr>
          <p:spPr>
            <a:xfrm>
              <a:off x="0" y="-47625"/>
              <a:ext cx="4519404" cy="157991"/>
            </a:xfrm>
            <a:prstGeom prst="rect">
              <a:avLst/>
            </a:prstGeom>
          </p:spPr>
          <p:txBody>
            <a:bodyPr lIns="50800" tIns="50800" rIns="50800" bIns="50800" rtlCol="0" anchor="ctr"/>
            <a:lstStyle/>
            <a:p>
              <a:pPr algn="ctr">
                <a:lnSpc>
                  <a:spcPts val="3210"/>
                </a:lnSpc>
              </a:pPr>
              <a:endParaRPr/>
            </a:p>
          </p:txBody>
        </p:sp>
      </p:grpSp>
      <p:sp>
        <p:nvSpPr>
          <p:cNvPr id="5" name="Freeform 5"/>
          <p:cNvSpPr/>
          <p:nvPr/>
        </p:nvSpPr>
        <p:spPr>
          <a:xfrm rot="5400000" flipH="1">
            <a:off x="-2232751" y="7825360"/>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CN" altLang="en-US"/>
          </a:p>
        </p:txBody>
      </p:sp>
      <p:sp>
        <p:nvSpPr>
          <p:cNvPr id="6" name="Freeform 6"/>
          <p:cNvSpPr/>
          <p:nvPr/>
        </p:nvSpPr>
        <p:spPr>
          <a:xfrm rot="-5400000" flipH="1">
            <a:off x="14777542" y="805514"/>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CN" altLang="en-US"/>
          </a:p>
        </p:txBody>
      </p:sp>
      <p:sp>
        <p:nvSpPr>
          <p:cNvPr id="7" name="Freeform 7"/>
          <p:cNvSpPr/>
          <p:nvPr>
            <p:custDataLst>
              <p:tags r:id="rId1"/>
            </p:custDataLst>
          </p:nvPr>
        </p:nvSpPr>
        <p:spPr>
          <a:xfrm>
            <a:off x="10016156" y="1329083"/>
            <a:ext cx="7022367" cy="3748188"/>
          </a:xfrm>
          <a:custGeom>
            <a:avLst/>
            <a:gdLst/>
            <a:ahLst/>
            <a:cxnLst/>
            <a:rect l="l" t="t" r="r" b="b"/>
            <a:pathLst>
              <a:path w="7022367" h="3748188">
                <a:moveTo>
                  <a:pt x="0" y="0"/>
                </a:moveTo>
                <a:lnTo>
                  <a:pt x="7022367" y="0"/>
                </a:lnTo>
                <a:lnTo>
                  <a:pt x="7022367" y="3748189"/>
                </a:lnTo>
                <a:lnTo>
                  <a:pt x="0" y="3748189"/>
                </a:lnTo>
                <a:lnTo>
                  <a:pt x="0" y="0"/>
                </a:lnTo>
                <a:close/>
              </a:path>
            </a:pathLst>
          </a:custGeom>
          <a:blipFill>
            <a:blip r:embed="rId8"/>
            <a:stretch>
              <a:fillRect/>
            </a:stretch>
          </a:blipFill>
        </p:spPr>
        <p:txBody>
          <a:bodyPr/>
          <a:lstStyle/>
          <a:p>
            <a:endParaRPr lang="zh-CN" altLang="en-US"/>
          </a:p>
        </p:txBody>
      </p:sp>
      <p:sp>
        <p:nvSpPr>
          <p:cNvPr id="8" name="Freeform 8"/>
          <p:cNvSpPr/>
          <p:nvPr>
            <p:custDataLst>
              <p:tags r:id="rId2"/>
            </p:custDataLst>
          </p:nvPr>
        </p:nvSpPr>
        <p:spPr>
          <a:xfrm>
            <a:off x="10172928" y="6275913"/>
            <a:ext cx="7086372" cy="3915220"/>
          </a:xfrm>
          <a:custGeom>
            <a:avLst/>
            <a:gdLst/>
            <a:ahLst/>
            <a:cxnLst/>
            <a:rect l="l" t="t" r="r" b="b"/>
            <a:pathLst>
              <a:path w="7086372" h="3915220">
                <a:moveTo>
                  <a:pt x="0" y="0"/>
                </a:moveTo>
                <a:lnTo>
                  <a:pt x="7086372" y="0"/>
                </a:lnTo>
                <a:lnTo>
                  <a:pt x="7086372" y="3915220"/>
                </a:lnTo>
                <a:lnTo>
                  <a:pt x="0" y="3915220"/>
                </a:lnTo>
                <a:lnTo>
                  <a:pt x="0" y="0"/>
                </a:lnTo>
                <a:close/>
              </a:path>
            </a:pathLst>
          </a:custGeom>
          <a:blipFill>
            <a:blip r:embed="rId9"/>
            <a:stretch>
              <a:fillRect/>
            </a:stretch>
          </a:blipFill>
        </p:spPr>
        <p:txBody>
          <a:bodyPr/>
          <a:lstStyle/>
          <a:p>
            <a:endParaRPr lang="zh-CN" altLang="en-US"/>
          </a:p>
        </p:txBody>
      </p:sp>
      <p:sp>
        <p:nvSpPr>
          <p:cNvPr id="10" name="TextBox 10"/>
          <p:cNvSpPr txBox="1"/>
          <p:nvPr/>
        </p:nvSpPr>
        <p:spPr>
          <a:xfrm>
            <a:off x="-94605" y="1340052"/>
            <a:ext cx="5576065" cy="800100"/>
          </a:xfrm>
          <a:prstGeom prst="rect">
            <a:avLst/>
          </a:prstGeom>
        </p:spPr>
        <p:txBody>
          <a:bodyPr lIns="0" tIns="0" rIns="0" bIns="0" rtlCol="0" anchor="t">
            <a:spAutoFit/>
          </a:bodyPr>
          <a:lstStyle/>
          <a:p>
            <a:pPr algn="ctr">
              <a:lnSpc>
                <a:spcPts val="6360"/>
              </a:lnSpc>
            </a:pPr>
            <a:r>
              <a:rPr lang="en-US" sz="53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人物专栏设计</a:t>
            </a:r>
          </a:p>
        </p:txBody>
      </p:sp>
      <p:sp>
        <p:nvSpPr>
          <p:cNvPr id="11" name="TextBox 11"/>
          <p:cNvSpPr txBox="1"/>
          <p:nvPr>
            <p:custDataLst>
              <p:tags r:id="rId3"/>
            </p:custDataLst>
          </p:nvPr>
        </p:nvSpPr>
        <p:spPr>
          <a:xfrm>
            <a:off x="12344314" y="647571"/>
            <a:ext cx="6512298" cy="537845"/>
          </a:xfrm>
          <a:prstGeom prst="rect">
            <a:avLst/>
          </a:prstGeom>
        </p:spPr>
        <p:txBody>
          <a:bodyPr lIns="0" tIns="0" rIns="0" bIns="0" rtlCol="0" anchor="t">
            <a:spAutoFit/>
          </a:bodyPr>
          <a:lstStyle/>
          <a:p>
            <a:pPr marL="0" lvl="0" indent="0" algn="l">
              <a:lnSpc>
                <a:spcPts val="4195"/>
              </a:lnSpc>
              <a:spcBef>
                <a:spcPct val="0"/>
              </a:spcBef>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管理后台界面</a:t>
            </a:r>
          </a:p>
        </p:txBody>
      </p:sp>
      <p:sp>
        <p:nvSpPr>
          <p:cNvPr id="12" name="TextBox 12"/>
          <p:cNvSpPr txBox="1"/>
          <p:nvPr>
            <p:custDataLst>
              <p:tags r:id="rId4"/>
            </p:custDataLst>
          </p:nvPr>
        </p:nvSpPr>
        <p:spPr>
          <a:xfrm>
            <a:off x="12420913" y="5407739"/>
            <a:ext cx="6512298" cy="537845"/>
          </a:xfrm>
          <a:prstGeom prst="rect">
            <a:avLst/>
          </a:prstGeom>
        </p:spPr>
        <p:txBody>
          <a:bodyPr lIns="0" tIns="0" rIns="0" bIns="0" rtlCol="0" anchor="t">
            <a:spAutoFit/>
          </a:bodyPr>
          <a:lstStyle/>
          <a:p>
            <a:pPr marL="0" lvl="0" indent="0" algn="l">
              <a:lnSpc>
                <a:spcPts val="4195"/>
              </a:lnSpc>
              <a:spcBef>
                <a:spcPct val="0"/>
              </a:spcBef>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新建人物界面</a:t>
            </a:r>
          </a:p>
        </p:txBody>
      </p:sp>
      <p:sp>
        <p:nvSpPr>
          <p:cNvPr id="18" name="TextBox 9"/>
          <p:cNvSpPr txBox="1"/>
          <p:nvPr/>
        </p:nvSpPr>
        <p:spPr>
          <a:xfrm>
            <a:off x="838200" y="2390491"/>
            <a:ext cx="7833360" cy="2974624"/>
          </a:xfrm>
          <a:prstGeom prst="rect">
            <a:avLst/>
          </a:prstGeom>
          <a:ln>
            <a:gradFill>
              <a:gsLst>
                <a:gs pos="50000">
                  <a:schemeClr val="accent2"/>
                </a:gs>
                <a:gs pos="0">
                  <a:schemeClr val="accent2">
                    <a:lumMod val="25000"/>
                    <a:lumOff val="75000"/>
                  </a:schemeClr>
                </a:gs>
                <a:gs pos="100000">
                  <a:schemeClr val="accent2">
                    <a:lumMod val="85000"/>
                  </a:schemeClr>
                </a:gs>
              </a:gsLst>
              <a:lin ang="5400000" scaled="0"/>
            </a:gradFill>
          </a:ln>
        </p:spPr>
        <p:txBody>
          <a:bodyPr lIns="50800" tIns="50800" rIns="50800" bIns="50800" rtlCol="0" anchor="ctr"/>
          <a:lstStyle/>
          <a:p>
            <a:pPr algn="just">
              <a:lnSpc>
                <a:spcPts val="2660"/>
              </a:lnSpc>
            </a:pPr>
            <a:r>
              <a:rPr lang="zh-CN" altLang="en-US"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人物专栏后台提供标准化内容管理入口，支持英雄信息的录入、维护与查询。通过表单化增删改查流程，提升更新效率并降低误操作成本。</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4605" y="-172349"/>
            <a:ext cx="18477209" cy="451224"/>
            <a:chOff x="0" y="0"/>
            <a:chExt cx="4519404" cy="110366"/>
          </a:xfrm>
        </p:grpSpPr>
        <p:sp>
          <p:nvSpPr>
            <p:cNvPr id="3" name="Freeform 3"/>
            <p:cNvSpPr/>
            <p:nvPr/>
          </p:nvSpPr>
          <p:spPr>
            <a:xfrm>
              <a:off x="0" y="0"/>
              <a:ext cx="4519404" cy="110366"/>
            </a:xfrm>
            <a:custGeom>
              <a:avLst/>
              <a:gdLst/>
              <a:ahLst/>
              <a:cxnLst/>
              <a:rect l="l" t="t" r="r" b="b"/>
              <a:pathLst>
                <a:path w="4519404" h="110366">
                  <a:moveTo>
                    <a:pt x="0" y="0"/>
                  </a:moveTo>
                  <a:lnTo>
                    <a:pt x="4519404" y="0"/>
                  </a:lnTo>
                  <a:lnTo>
                    <a:pt x="4519404" y="110366"/>
                  </a:lnTo>
                  <a:lnTo>
                    <a:pt x="0" y="110366"/>
                  </a:lnTo>
                  <a:close/>
                </a:path>
              </a:pathLst>
            </a:custGeom>
            <a:solidFill>
              <a:srgbClr val="8B0011"/>
            </a:solidFill>
          </p:spPr>
          <p:txBody>
            <a:bodyPr/>
            <a:lstStyle/>
            <a:p>
              <a:endParaRPr lang="zh-CN" altLang="en-US"/>
            </a:p>
          </p:txBody>
        </p:sp>
        <p:sp>
          <p:nvSpPr>
            <p:cNvPr id="4" name="TextBox 4"/>
            <p:cNvSpPr txBox="1"/>
            <p:nvPr/>
          </p:nvSpPr>
          <p:spPr>
            <a:xfrm>
              <a:off x="0" y="-47625"/>
              <a:ext cx="4519404" cy="157991"/>
            </a:xfrm>
            <a:prstGeom prst="rect">
              <a:avLst/>
            </a:prstGeom>
          </p:spPr>
          <p:txBody>
            <a:bodyPr lIns="50800" tIns="50800" rIns="50800" bIns="50800" rtlCol="0" anchor="ctr"/>
            <a:lstStyle/>
            <a:p>
              <a:pPr algn="ctr">
                <a:lnSpc>
                  <a:spcPts val="3210"/>
                </a:lnSpc>
              </a:pPr>
              <a:endParaRPr/>
            </a:p>
          </p:txBody>
        </p:sp>
      </p:grpSp>
      <p:sp>
        <p:nvSpPr>
          <p:cNvPr id="5" name="Freeform 5"/>
          <p:cNvSpPr/>
          <p:nvPr/>
        </p:nvSpPr>
        <p:spPr>
          <a:xfrm rot="5400000" flipH="1">
            <a:off x="-2232751" y="7825360"/>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CN" altLang="en-US"/>
          </a:p>
        </p:txBody>
      </p:sp>
      <p:sp>
        <p:nvSpPr>
          <p:cNvPr id="6" name="Freeform 6"/>
          <p:cNvSpPr/>
          <p:nvPr/>
        </p:nvSpPr>
        <p:spPr>
          <a:xfrm rot="-5400000" flipH="1">
            <a:off x="14777542" y="805514"/>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CN" altLang="en-US"/>
          </a:p>
        </p:txBody>
      </p:sp>
      <p:sp>
        <p:nvSpPr>
          <p:cNvPr id="7" name="Freeform 7"/>
          <p:cNvSpPr/>
          <p:nvPr>
            <p:custDataLst>
              <p:tags r:id="rId1"/>
            </p:custDataLst>
          </p:nvPr>
        </p:nvSpPr>
        <p:spPr>
          <a:xfrm>
            <a:off x="9390935" y="5905788"/>
            <a:ext cx="7673377" cy="4249132"/>
          </a:xfrm>
          <a:custGeom>
            <a:avLst/>
            <a:gdLst/>
            <a:ahLst/>
            <a:cxnLst/>
            <a:rect l="l" t="t" r="r" b="b"/>
            <a:pathLst>
              <a:path w="7673377" h="4249132">
                <a:moveTo>
                  <a:pt x="0" y="0"/>
                </a:moveTo>
                <a:lnTo>
                  <a:pt x="7673376" y="0"/>
                </a:lnTo>
                <a:lnTo>
                  <a:pt x="7673376" y="4249132"/>
                </a:lnTo>
                <a:lnTo>
                  <a:pt x="0" y="4249132"/>
                </a:lnTo>
                <a:lnTo>
                  <a:pt x="0" y="0"/>
                </a:lnTo>
                <a:close/>
              </a:path>
            </a:pathLst>
          </a:custGeom>
          <a:blipFill>
            <a:blip r:embed="rId8"/>
            <a:stretch>
              <a:fillRect/>
            </a:stretch>
          </a:blipFill>
        </p:spPr>
        <p:txBody>
          <a:bodyPr/>
          <a:lstStyle/>
          <a:p>
            <a:endParaRPr lang="zh-CN" altLang="en-US"/>
          </a:p>
        </p:txBody>
      </p:sp>
      <p:sp>
        <p:nvSpPr>
          <p:cNvPr id="8" name="Freeform 8"/>
          <p:cNvSpPr/>
          <p:nvPr>
            <p:custDataLst>
              <p:tags r:id="rId2"/>
            </p:custDataLst>
          </p:nvPr>
        </p:nvSpPr>
        <p:spPr>
          <a:xfrm>
            <a:off x="9448800" y="1109345"/>
            <a:ext cx="7741285" cy="4130675"/>
          </a:xfrm>
          <a:custGeom>
            <a:avLst/>
            <a:gdLst/>
            <a:ahLst/>
            <a:cxnLst/>
            <a:rect l="l" t="t" r="r" b="b"/>
            <a:pathLst>
              <a:path w="9086231" h="4418180">
                <a:moveTo>
                  <a:pt x="0" y="0"/>
                </a:moveTo>
                <a:lnTo>
                  <a:pt x="9086230" y="0"/>
                </a:lnTo>
                <a:lnTo>
                  <a:pt x="9086230" y="4418179"/>
                </a:lnTo>
                <a:lnTo>
                  <a:pt x="0" y="4418179"/>
                </a:lnTo>
                <a:lnTo>
                  <a:pt x="0" y="0"/>
                </a:lnTo>
                <a:close/>
              </a:path>
            </a:pathLst>
          </a:custGeom>
          <a:blipFill>
            <a:blip r:embed="rId9"/>
            <a:stretch>
              <a:fillRect/>
            </a:stretch>
          </a:blipFill>
        </p:spPr>
        <p:txBody>
          <a:bodyPr/>
          <a:lstStyle/>
          <a:p>
            <a:endParaRPr lang="zh-CN" altLang="en-US"/>
          </a:p>
        </p:txBody>
      </p:sp>
      <p:sp>
        <p:nvSpPr>
          <p:cNvPr id="10" name="TextBox 10"/>
          <p:cNvSpPr txBox="1"/>
          <p:nvPr/>
        </p:nvSpPr>
        <p:spPr>
          <a:xfrm>
            <a:off x="-94605" y="1340052"/>
            <a:ext cx="5576065" cy="800100"/>
          </a:xfrm>
          <a:prstGeom prst="rect">
            <a:avLst/>
          </a:prstGeom>
        </p:spPr>
        <p:txBody>
          <a:bodyPr lIns="0" tIns="0" rIns="0" bIns="0" rtlCol="0" anchor="t">
            <a:spAutoFit/>
          </a:bodyPr>
          <a:lstStyle/>
          <a:p>
            <a:pPr algn="ctr">
              <a:lnSpc>
                <a:spcPts val="6360"/>
              </a:lnSpc>
            </a:pPr>
            <a:r>
              <a:rPr lang="en-US" sz="53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影视信息设计</a:t>
            </a:r>
          </a:p>
        </p:txBody>
      </p:sp>
      <p:sp>
        <p:nvSpPr>
          <p:cNvPr id="11" name="TextBox 11"/>
          <p:cNvSpPr txBox="1"/>
          <p:nvPr>
            <p:custDataLst>
              <p:tags r:id="rId3"/>
            </p:custDataLst>
          </p:nvPr>
        </p:nvSpPr>
        <p:spPr>
          <a:xfrm>
            <a:off x="11963713" y="571469"/>
            <a:ext cx="6512298" cy="537845"/>
          </a:xfrm>
          <a:prstGeom prst="rect">
            <a:avLst/>
          </a:prstGeom>
        </p:spPr>
        <p:txBody>
          <a:bodyPr lIns="0" tIns="0" rIns="0" bIns="0" rtlCol="0" anchor="t">
            <a:spAutoFit/>
          </a:bodyPr>
          <a:lstStyle/>
          <a:p>
            <a:pPr marL="0" lvl="0" indent="0" algn="l">
              <a:lnSpc>
                <a:spcPts val="4195"/>
              </a:lnSpc>
              <a:spcBef>
                <a:spcPct val="0"/>
              </a:spcBef>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影视信息列表界面</a:t>
            </a:r>
          </a:p>
        </p:txBody>
      </p:sp>
      <p:sp>
        <p:nvSpPr>
          <p:cNvPr id="12" name="TextBox 12"/>
          <p:cNvSpPr txBox="1"/>
          <p:nvPr>
            <p:custDataLst>
              <p:tags r:id="rId4"/>
            </p:custDataLst>
          </p:nvPr>
        </p:nvSpPr>
        <p:spPr>
          <a:xfrm>
            <a:off x="11963713" y="5304234"/>
            <a:ext cx="6512298" cy="537845"/>
          </a:xfrm>
          <a:prstGeom prst="rect">
            <a:avLst/>
          </a:prstGeom>
        </p:spPr>
        <p:txBody>
          <a:bodyPr lIns="0" tIns="0" rIns="0" bIns="0" rtlCol="0" anchor="t">
            <a:spAutoFit/>
          </a:bodyPr>
          <a:lstStyle/>
          <a:p>
            <a:pPr marL="0" lvl="0" indent="0" algn="l">
              <a:lnSpc>
                <a:spcPts val="4195"/>
              </a:lnSpc>
              <a:spcBef>
                <a:spcPct val="0"/>
              </a:spcBef>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影视信息详情界面</a:t>
            </a:r>
          </a:p>
        </p:txBody>
      </p:sp>
      <p:sp>
        <p:nvSpPr>
          <p:cNvPr id="18" name="TextBox 9"/>
          <p:cNvSpPr txBox="1"/>
          <p:nvPr/>
        </p:nvSpPr>
        <p:spPr>
          <a:xfrm>
            <a:off x="838200" y="2390491"/>
            <a:ext cx="7833360" cy="2974624"/>
          </a:xfrm>
          <a:prstGeom prst="rect">
            <a:avLst/>
          </a:prstGeom>
          <a:ln>
            <a:gradFill>
              <a:gsLst>
                <a:gs pos="50000">
                  <a:schemeClr val="accent2"/>
                </a:gs>
                <a:gs pos="0">
                  <a:schemeClr val="accent2">
                    <a:lumMod val="25000"/>
                    <a:lumOff val="75000"/>
                  </a:schemeClr>
                </a:gs>
                <a:gs pos="100000">
                  <a:schemeClr val="accent2">
                    <a:lumMod val="85000"/>
                  </a:schemeClr>
                </a:gs>
              </a:gsLst>
              <a:lin ang="5400000" scaled="0"/>
            </a:gradFill>
          </a:ln>
        </p:spPr>
        <p:txBody>
          <a:bodyPr lIns="50800" tIns="50800" rIns="50800" bIns="50800" rtlCol="0" anchor="ctr"/>
          <a:lstStyle/>
          <a:p>
            <a:pPr algn="just">
              <a:lnSpc>
                <a:spcPts val="2660"/>
              </a:lnSpc>
            </a:pPr>
            <a:r>
              <a:rPr lang="zh-CN" altLang="en-US"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影视信息按</a:t>
            </a:r>
            <a:r>
              <a:rPr lang="en-US" altLang="zh-CN"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 7 </a:t>
            </a:r>
            <a:r>
              <a:rPr lang="zh-CN" altLang="en-US"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类资源体系组织（电视剧</a:t>
            </a:r>
            <a:r>
              <a:rPr lang="en-US" altLang="zh-CN"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r>
              <a:rPr lang="zh-CN" altLang="en-US"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电影</a:t>
            </a:r>
            <a:r>
              <a:rPr lang="en-US" altLang="zh-CN"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r>
              <a:rPr lang="zh-CN" altLang="en-US"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剪辑</a:t>
            </a:r>
            <a:r>
              <a:rPr lang="en-US" altLang="zh-CN"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r>
              <a:rPr lang="zh-CN" altLang="en-US"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音频</a:t>
            </a:r>
            <a:r>
              <a:rPr lang="en-US" altLang="zh-CN"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r>
              <a:rPr lang="zh-CN" altLang="en-US"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图片</a:t>
            </a:r>
            <a:r>
              <a:rPr lang="en-US" altLang="zh-CN"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r>
              <a:rPr lang="zh-CN" altLang="en-US"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纪录片</a:t>
            </a:r>
            <a:r>
              <a:rPr lang="en-US" altLang="zh-CN"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r>
              <a:rPr lang="zh-CN" altLang="en-US"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其他），便于快速筛选与定位。详情页展示内容简介与关联人物，并提供</a:t>
            </a:r>
            <a:r>
              <a:rPr lang="en-US" altLang="zh-CN"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r>
              <a:rPr lang="zh-CN" altLang="en-US"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一键前往观看</a:t>
            </a:r>
            <a:r>
              <a:rPr lang="en-US" altLang="zh-CN"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r>
              <a:rPr lang="zh-CN" altLang="en-US"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链接；人物关联可跳转至人物详情，形成内容联动。</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4605" y="-172349"/>
            <a:ext cx="18477209" cy="451224"/>
            <a:chOff x="0" y="0"/>
            <a:chExt cx="4519404" cy="110366"/>
          </a:xfrm>
        </p:grpSpPr>
        <p:sp>
          <p:nvSpPr>
            <p:cNvPr id="3" name="Freeform 3"/>
            <p:cNvSpPr/>
            <p:nvPr/>
          </p:nvSpPr>
          <p:spPr>
            <a:xfrm>
              <a:off x="0" y="0"/>
              <a:ext cx="4519404" cy="110366"/>
            </a:xfrm>
            <a:custGeom>
              <a:avLst/>
              <a:gdLst/>
              <a:ahLst/>
              <a:cxnLst/>
              <a:rect l="l" t="t" r="r" b="b"/>
              <a:pathLst>
                <a:path w="4519404" h="110366">
                  <a:moveTo>
                    <a:pt x="0" y="0"/>
                  </a:moveTo>
                  <a:lnTo>
                    <a:pt x="4519404" y="0"/>
                  </a:lnTo>
                  <a:lnTo>
                    <a:pt x="4519404" y="110366"/>
                  </a:lnTo>
                  <a:lnTo>
                    <a:pt x="0" y="110366"/>
                  </a:lnTo>
                  <a:close/>
                </a:path>
              </a:pathLst>
            </a:custGeom>
            <a:solidFill>
              <a:srgbClr val="8B0011"/>
            </a:solidFill>
          </p:spPr>
          <p:txBody>
            <a:bodyPr/>
            <a:lstStyle/>
            <a:p>
              <a:endParaRPr lang="zh-CN" altLang="en-US"/>
            </a:p>
          </p:txBody>
        </p:sp>
        <p:sp>
          <p:nvSpPr>
            <p:cNvPr id="4" name="TextBox 4"/>
            <p:cNvSpPr txBox="1"/>
            <p:nvPr/>
          </p:nvSpPr>
          <p:spPr>
            <a:xfrm>
              <a:off x="0" y="-47625"/>
              <a:ext cx="4519404" cy="157991"/>
            </a:xfrm>
            <a:prstGeom prst="rect">
              <a:avLst/>
            </a:prstGeom>
          </p:spPr>
          <p:txBody>
            <a:bodyPr lIns="50800" tIns="50800" rIns="50800" bIns="50800" rtlCol="0" anchor="ctr"/>
            <a:lstStyle/>
            <a:p>
              <a:pPr algn="ctr">
                <a:lnSpc>
                  <a:spcPts val="3210"/>
                </a:lnSpc>
              </a:pPr>
              <a:endParaRPr/>
            </a:p>
          </p:txBody>
        </p:sp>
      </p:grpSp>
      <p:sp>
        <p:nvSpPr>
          <p:cNvPr id="5" name="Freeform 5"/>
          <p:cNvSpPr/>
          <p:nvPr/>
        </p:nvSpPr>
        <p:spPr>
          <a:xfrm rot="5400000" flipH="1">
            <a:off x="-2232751" y="7825360"/>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6" name="Freeform 6"/>
          <p:cNvSpPr/>
          <p:nvPr/>
        </p:nvSpPr>
        <p:spPr>
          <a:xfrm rot="-5400000" flipH="1">
            <a:off x="14777542" y="805514"/>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7" name="Freeform 7"/>
          <p:cNvSpPr/>
          <p:nvPr/>
        </p:nvSpPr>
        <p:spPr>
          <a:xfrm>
            <a:off x="8650145" y="905593"/>
            <a:ext cx="7601627" cy="4237907"/>
          </a:xfrm>
          <a:custGeom>
            <a:avLst/>
            <a:gdLst/>
            <a:ahLst/>
            <a:cxnLst/>
            <a:rect l="l" t="t" r="r" b="b"/>
            <a:pathLst>
              <a:path w="7601627" h="4237907">
                <a:moveTo>
                  <a:pt x="0" y="0"/>
                </a:moveTo>
                <a:lnTo>
                  <a:pt x="7601627" y="0"/>
                </a:lnTo>
                <a:lnTo>
                  <a:pt x="7601627" y="4237907"/>
                </a:lnTo>
                <a:lnTo>
                  <a:pt x="0" y="4237907"/>
                </a:lnTo>
                <a:lnTo>
                  <a:pt x="0" y="0"/>
                </a:lnTo>
                <a:close/>
              </a:path>
            </a:pathLst>
          </a:custGeom>
          <a:blipFill>
            <a:blip r:embed="rId4"/>
            <a:stretch>
              <a:fillRect/>
            </a:stretch>
          </a:blipFill>
        </p:spPr>
        <p:txBody>
          <a:bodyPr/>
          <a:lstStyle/>
          <a:p>
            <a:endParaRPr lang="zh-CN" altLang="en-US"/>
          </a:p>
        </p:txBody>
      </p:sp>
      <p:sp>
        <p:nvSpPr>
          <p:cNvPr id="8" name="Freeform 8"/>
          <p:cNvSpPr/>
          <p:nvPr/>
        </p:nvSpPr>
        <p:spPr>
          <a:xfrm>
            <a:off x="8650145" y="5997956"/>
            <a:ext cx="7690048" cy="3998825"/>
          </a:xfrm>
          <a:custGeom>
            <a:avLst/>
            <a:gdLst/>
            <a:ahLst/>
            <a:cxnLst/>
            <a:rect l="l" t="t" r="r" b="b"/>
            <a:pathLst>
              <a:path w="7690048" h="3998825">
                <a:moveTo>
                  <a:pt x="0" y="0"/>
                </a:moveTo>
                <a:lnTo>
                  <a:pt x="7690048" y="0"/>
                </a:lnTo>
                <a:lnTo>
                  <a:pt x="7690048" y="3998825"/>
                </a:lnTo>
                <a:lnTo>
                  <a:pt x="0" y="3998825"/>
                </a:lnTo>
                <a:lnTo>
                  <a:pt x="0" y="0"/>
                </a:lnTo>
                <a:close/>
              </a:path>
            </a:pathLst>
          </a:custGeom>
          <a:blipFill>
            <a:blip r:embed="rId5"/>
            <a:stretch>
              <a:fillRect/>
            </a:stretch>
          </a:blipFill>
        </p:spPr>
        <p:txBody>
          <a:bodyPr/>
          <a:lstStyle/>
          <a:p>
            <a:endParaRPr lang="zh-CN" altLang="en-US"/>
          </a:p>
        </p:txBody>
      </p:sp>
      <p:sp>
        <p:nvSpPr>
          <p:cNvPr id="10" name="TextBox 10"/>
          <p:cNvSpPr txBox="1"/>
          <p:nvPr/>
        </p:nvSpPr>
        <p:spPr>
          <a:xfrm>
            <a:off x="-94605" y="1340052"/>
            <a:ext cx="5576065" cy="800100"/>
          </a:xfrm>
          <a:prstGeom prst="rect">
            <a:avLst/>
          </a:prstGeom>
        </p:spPr>
        <p:txBody>
          <a:bodyPr lIns="0" tIns="0" rIns="0" bIns="0" rtlCol="0" anchor="t">
            <a:spAutoFit/>
          </a:bodyPr>
          <a:lstStyle/>
          <a:p>
            <a:pPr algn="ctr">
              <a:lnSpc>
                <a:spcPts val="6360"/>
              </a:lnSpc>
            </a:pPr>
            <a:r>
              <a:rPr lang="en-US" sz="53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影视信息设计</a:t>
            </a:r>
          </a:p>
        </p:txBody>
      </p:sp>
      <p:sp>
        <p:nvSpPr>
          <p:cNvPr id="11" name="TextBox 11"/>
          <p:cNvSpPr txBox="1"/>
          <p:nvPr/>
        </p:nvSpPr>
        <p:spPr>
          <a:xfrm>
            <a:off x="8288968" y="310484"/>
            <a:ext cx="6512298" cy="492889"/>
          </a:xfrm>
          <a:prstGeom prst="rect">
            <a:avLst/>
          </a:prstGeom>
        </p:spPr>
        <p:txBody>
          <a:bodyPr lIns="0" tIns="0" rIns="0" bIns="0" rtlCol="0" anchor="t">
            <a:spAutoFit/>
          </a:bodyPr>
          <a:lstStyle/>
          <a:p>
            <a:pPr marL="0" lvl="0" indent="0" algn="l">
              <a:lnSpc>
                <a:spcPts val="4195"/>
              </a:lnSpc>
              <a:spcBef>
                <a:spcPct val="0"/>
              </a:spcBef>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影视信息列表界面：</a:t>
            </a:r>
          </a:p>
        </p:txBody>
      </p:sp>
      <p:sp>
        <p:nvSpPr>
          <p:cNvPr id="12" name="TextBox 12"/>
          <p:cNvSpPr txBox="1"/>
          <p:nvPr/>
        </p:nvSpPr>
        <p:spPr>
          <a:xfrm>
            <a:off x="8288968" y="5288930"/>
            <a:ext cx="6512298" cy="492889"/>
          </a:xfrm>
          <a:prstGeom prst="rect">
            <a:avLst/>
          </a:prstGeom>
        </p:spPr>
        <p:txBody>
          <a:bodyPr lIns="0" tIns="0" rIns="0" bIns="0" rtlCol="0" anchor="t">
            <a:spAutoFit/>
          </a:bodyPr>
          <a:lstStyle/>
          <a:p>
            <a:pPr marL="0" lvl="0" indent="0" algn="l">
              <a:lnSpc>
                <a:spcPts val="4195"/>
              </a:lnSpc>
              <a:spcBef>
                <a:spcPct val="0"/>
              </a:spcBef>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影视新增界面：</a:t>
            </a:r>
          </a:p>
        </p:txBody>
      </p:sp>
      <p:sp>
        <p:nvSpPr>
          <p:cNvPr id="18" name="TextBox 9"/>
          <p:cNvSpPr txBox="1"/>
          <p:nvPr/>
        </p:nvSpPr>
        <p:spPr>
          <a:xfrm>
            <a:off x="838200" y="2389030"/>
            <a:ext cx="6741795" cy="3058635"/>
          </a:xfrm>
          <a:prstGeom prst="rect">
            <a:avLst/>
          </a:prstGeom>
          <a:ln>
            <a:gradFill>
              <a:gsLst>
                <a:gs pos="50000">
                  <a:schemeClr val="accent2"/>
                </a:gs>
                <a:gs pos="0">
                  <a:schemeClr val="accent2">
                    <a:lumMod val="25000"/>
                    <a:lumOff val="75000"/>
                  </a:schemeClr>
                </a:gs>
                <a:gs pos="100000">
                  <a:schemeClr val="accent2">
                    <a:lumMod val="85000"/>
                  </a:schemeClr>
                </a:gs>
              </a:gsLst>
              <a:lin ang="5400000" scaled="0"/>
            </a:gradFill>
          </a:ln>
        </p:spPr>
        <p:txBody>
          <a:bodyPr lIns="50800" tIns="50800" rIns="50800" bIns="50800" rtlCol="0" anchor="ctr"/>
          <a:lstStyle/>
          <a:p>
            <a:pPr algn="just">
              <a:lnSpc>
                <a:spcPts val="2660"/>
              </a:lnSpc>
            </a:pPr>
            <a:r>
              <a:rPr lang="zh-CN" altLang="en-US"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影视信息后台支持资源的新增、编辑、查询与删除，覆盖全流程维护。创建</a:t>
            </a:r>
            <a:r>
              <a:rPr lang="en-US" altLang="zh-CN"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a:t>
            </a:r>
            <a:r>
              <a:rPr lang="zh-CN" altLang="en-US" sz="2800">
                <a:solidFill>
                  <a:srgbClr val="000000"/>
                </a:solidFill>
                <a:latin typeface="思源黑体 3" panose="020B0500000000000000" charset="-122"/>
                <a:ea typeface="思源黑体 3" panose="020B0500000000000000" charset="-122"/>
                <a:cs typeface="思源黑体 3" panose="020B0500000000000000" charset="-122"/>
                <a:sym typeface="思源黑体 3" panose="020B0500000000000000" charset="-122"/>
              </a:rPr>
              <a:t>编辑字段聚焦可用性与一致性：标题、类型、封面、播放链接、简介与可选人物关联，确保前台展示与跳转稳定可控。</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4605" y="-172349"/>
            <a:ext cx="18477209" cy="451224"/>
            <a:chOff x="0" y="0"/>
            <a:chExt cx="4519404" cy="110366"/>
          </a:xfrm>
        </p:grpSpPr>
        <p:sp>
          <p:nvSpPr>
            <p:cNvPr id="3" name="Freeform 3"/>
            <p:cNvSpPr/>
            <p:nvPr/>
          </p:nvSpPr>
          <p:spPr>
            <a:xfrm>
              <a:off x="0" y="0"/>
              <a:ext cx="4519404" cy="110366"/>
            </a:xfrm>
            <a:custGeom>
              <a:avLst/>
              <a:gdLst/>
              <a:ahLst/>
              <a:cxnLst/>
              <a:rect l="l" t="t" r="r" b="b"/>
              <a:pathLst>
                <a:path w="4519404" h="110366">
                  <a:moveTo>
                    <a:pt x="0" y="0"/>
                  </a:moveTo>
                  <a:lnTo>
                    <a:pt x="4519404" y="0"/>
                  </a:lnTo>
                  <a:lnTo>
                    <a:pt x="4519404" y="110366"/>
                  </a:lnTo>
                  <a:lnTo>
                    <a:pt x="0" y="110366"/>
                  </a:lnTo>
                  <a:close/>
                </a:path>
              </a:pathLst>
            </a:custGeom>
            <a:solidFill>
              <a:srgbClr val="8B0011"/>
            </a:solidFill>
          </p:spPr>
          <p:txBody>
            <a:bodyPr/>
            <a:lstStyle/>
            <a:p>
              <a:endParaRPr lang="zh-CN" altLang="en-US"/>
            </a:p>
          </p:txBody>
        </p:sp>
        <p:sp>
          <p:nvSpPr>
            <p:cNvPr id="4" name="TextBox 4"/>
            <p:cNvSpPr txBox="1"/>
            <p:nvPr/>
          </p:nvSpPr>
          <p:spPr>
            <a:xfrm>
              <a:off x="0" y="-47625"/>
              <a:ext cx="4519404" cy="157991"/>
            </a:xfrm>
            <a:prstGeom prst="rect">
              <a:avLst/>
            </a:prstGeom>
          </p:spPr>
          <p:txBody>
            <a:bodyPr lIns="50800" tIns="50800" rIns="50800" bIns="50800" rtlCol="0" anchor="ctr"/>
            <a:lstStyle/>
            <a:p>
              <a:pPr algn="ctr">
                <a:lnSpc>
                  <a:spcPts val="3210"/>
                </a:lnSpc>
              </a:pPr>
              <a:endParaRPr/>
            </a:p>
          </p:txBody>
        </p:sp>
      </p:grpSp>
      <p:sp>
        <p:nvSpPr>
          <p:cNvPr id="5" name="Freeform 5"/>
          <p:cNvSpPr/>
          <p:nvPr/>
        </p:nvSpPr>
        <p:spPr>
          <a:xfrm>
            <a:off x="7175950" y="4154259"/>
            <a:ext cx="11301259" cy="5283339"/>
          </a:xfrm>
          <a:custGeom>
            <a:avLst/>
            <a:gdLst/>
            <a:ahLst/>
            <a:cxnLst/>
            <a:rect l="l" t="t" r="r" b="b"/>
            <a:pathLst>
              <a:path w="11301259" h="5283339">
                <a:moveTo>
                  <a:pt x="0" y="0"/>
                </a:moveTo>
                <a:lnTo>
                  <a:pt x="11301259" y="0"/>
                </a:lnTo>
                <a:lnTo>
                  <a:pt x="11301259" y="5283338"/>
                </a:lnTo>
                <a:lnTo>
                  <a:pt x="0" y="5283338"/>
                </a:lnTo>
                <a:lnTo>
                  <a:pt x="0" y="0"/>
                </a:lnTo>
                <a:close/>
              </a:path>
            </a:pathLst>
          </a:custGeom>
          <a:blipFill>
            <a:blip r:embed="rId2"/>
            <a:stretch>
              <a:fillRect/>
            </a:stretch>
          </a:blipFill>
        </p:spPr>
        <p:txBody>
          <a:bodyPr/>
          <a:lstStyle/>
          <a:p>
            <a:endParaRPr lang="zh-CN" altLang="en-US"/>
          </a:p>
        </p:txBody>
      </p:sp>
      <p:sp>
        <p:nvSpPr>
          <p:cNvPr id="6" name="TextBox 6"/>
          <p:cNvSpPr txBox="1"/>
          <p:nvPr/>
        </p:nvSpPr>
        <p:spPr>
          <a:xfrm>
            <a:off x="986095" y="2781159"/>
            <a:ext cx="6512298" cy="6332739"/>
          </a:xfrm>
          <a:prstGeom prst="rect">
            <a:avLst/>
          </a:prstGeom>
        </p:spPr>
        <p:txBody>
          <a:bodyPr lIns="0" tIns="0" rIns="0" bIns="0" rtlCol="0" anchor="t">
            <a:spAutoFit/>
          </a:bodyPr>
          <a:lstStyle/>
          <a:p>
            <a:pPr algn="l">
              <a:lnSpc>
                <a:spcPts val="4195"/>
              </a:lnSpc>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我们的留言板主要由两部分组成：</a:t>
            </a:r>
          </a:p>
          <a:p>
            <a:pPr algn="l">
              <a:lnSpc>
                <a:spcPts val="4195"/>
              </a:lnSpc>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（1）</a:t>
            </a:r>
            <a:r>
              <a:rPr lang="en-US" sz="25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留言区域：</a:t>
            </a: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输入对应的昵称与内容</a:t>
            </a:r>
          </a:p>
          <a:p>
            <a:pPr algn="l">
              <a:lnSpc>
                <a:spcPts val="4195"/>
              </a:lnSpc>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=&gt;不输入内容不能进行留言，昵称可以为空，可进行匿名留言</a:t>
            </a:r>
          </a:p>
          <a:p>
            <a:pPr algn="l">
              <a:lnSpc>
                <a:spcPts val="4195"/>
              </a:lnSpc>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=&gt;提交对应的留言后不会直接显示到该页面上，而是会经过管理员的审核，避免敏感信息的发布</a:t>
            </a:r>
          </a:p>
          <a:p>
            <a:pPr algn="l">
              <a:lnSpc>
                <a:spcPts val="4195"/>
              </a:lnSpc>
            </a:pPr>
            <a:endPar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l">
              <a:lnSpc>
                <a:spcPts val="4195"/>
              </a:lnSpc>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（2）</a:t>
            </a:r>
            <a:r>
              <a:rPr lang="en-US" sz="25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留言列表：</a:t>
            </a: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展示已经得到验证后的留言内容</a:t>
            </a:r>
          </a:p>
          <a:p>
            <a:pPr marL="0" lvl="0" indent="0" algn="l">
              <a:lnSpc>
                <a:spcPts val="4195"/>
              </a:lnSpc>
              <a:spcBef>
                <a:spcPct val="0"/>
              </a:spcBef>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=&gt;会显示昵称和对应内容，以及输入该留言的具体时间等信息</a:t>
            </a:r>
          </a:p>
        </p:txBody>
      </p:sp>
      <p:sp>
        <p:nvSpPr>
          <p:cNvPr id="7" name="Freeform 7"/>
          <p:cNvSpPr/>
          <p:nvPr/>
        </p:nvSpPr>
        <p:spPr>
          <a:xfrm rot="5400000" flipH="1">
            <a:off x="-2232751" y="7825360"/>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8" name="Freeform 8"/>
          <p:cNvSpPr/>
          <p:nvPr/>
        </p:nvSpPr>
        <p:spPr>
          <a:xfrm>
            <a:off x="8141076" y="2140152"/>
            <a:ext cx="9508070" cy="1529665"/>
          </a:xfrm>
          <a:custGeom>
            <a:avLst/>
            <a:gdLst/>
            <a:ahLst/>
            <a:cxnLst/>
            <a:rect l="l" t="t" r="r" b="b"/>
            <a:pathLst>
              <a:path w="9508070" h="1529665">
                <a:moveTo>
                  <a:pt x="0" y="0"/>
                </a:moveTo>
                <a:lnTo>
                  <a:pt x="9508070" y="0"/>
                </a:lnTo>
                <a:lnTo>
                  <a:pt x="9508070" y="1529665"/>
                </a:lnTo>
                <a:lnTo>
                  <a:pt x="0" y="1529665"/>
                </a:lnTo>
                <a:lnTo>
                  <a:pt x="0" y="0"/>
                </a:lnTo>
                <a:close/>
              </a:path>
            </a:pathLst>
          </a:custGeom>
          <a:blipFill>
            <a:blip r:embed="rId5"/>
            <a:stretch>
              <a:fillRect t="-31000" r="-20598" b="-198828"/>
            </a:stretch>
          </a:blipFill>
        </p:spPr>
        <p:txBody>
          <a:bodyPr/>
          <a:lstStyle/>
          <a:p>
            <a:endParaRPr lang="zh-CN" altLang="en-US"/>
          </a:p>
        </p:txBody>
      </p:sp>
      <p:sp>
        <p:nvSpPr>
          <p:cNvPr id="9" name="Freeform 9"/>
          <p:cNvSpPr/>
          <p:nvPr/>
        </p:nvSpPr>
        <p:spPr>
          <a:xfrm rot="-5400000" flipH="1">
            <a:off x="14777542" y="805514"/>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10" name="Freeform 10"/>
          <p:cNvSpPr/>
          <p:nvPr/>
        </p:nvSpPr>
        <p:spPr>
          <a:xfrm>
            <a:off x="8141076" y="4307327"/>
            <a:ext cx="9748649" cy="5288642"/>
          </a:xfrm>
          <a:custGeom>
            <a:avLst/>
            <a:gdLst/>
            <a:ahLst/>
            <a:cxnLst/>
            <a:rect l="l" t="t" r="r" b="b"/>
            <a:pathLst>
              <a:path w="9748649" h="5288642">
                <a:moveTo>
                  <a:pt x="0" y="0"/>
                </a:moveTo>
                <a:lnTo>
                  <a:pt x="9748650" y="0"/>
                </a:lnTo>
                <a:lnTo>
                  <a:pt x="9748650" y="5288642"/>
                </a:lnTo>
                <a:lnTo>
                  <a:pt x="0" y="5288642"/>
                </a:lnTo>
                <a:lnTo>
                  <a:pt x="0" y="0"/>
                </a:lnTo>
                <a:close/>
              </a:path>
            </a:pathLst>
          </a:custGeom>
          <a:blipFill>
            <a:blip r:embed="rId6"/>
            <a:stretch>
              <a:fillRect/>
            </a:stretch>
          </a:blipFill>
        </p:spPr>
        <p:txBody>
          <a:bodyPr/>
          <a:lstStyle/>
          <a:p>
            <a:endParaRPr lang="zh-CN" altLang="en-US"/>
          </a:p>
        </p:txBody>
      </p:sp>
      <p:sp>
        <p:nvSpPr>
          <p:cNvPr id="11" name="TextBox 11"/>
          <p:cNvSpPr txBox="1"/>
          <p:nvPr/>
        </p:nvSpPr>
        <p:spPr>
          <a:xfrm>
            <a:off x="-94605" y="1340052"/>
            <a:ext cx="5576065" cy="800100"/>
          </a:xfrm>
          <a:prstGeom prst="rect">
            <a:avLst/>
          </a:prstGeom>
        </p:spPr>
        <p:txBody>
          <a:bodyPr lIns="0" tIns="0" rIns="0" bIns="0" rtlCol="0" anchor="t">
            <a:spAutoFit/>
          </a:bodyPr>
          <a:lstStyle/>
          <a:p>
            <a:pPr algn="ctr">
              <a:lnSpc>
                <a:spcPts val="6360"/>
              </a:lnSpc>
            </a:pPr>
            <a:r>
              <a:rPr lang="en-US" sz="53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留言板设计</a:t>
            </a:r>
          </a:p>
        </p:txBody>
      </p:sp>
      <p:sp>
        <p:nvSpPr>
          <p:cNvPr id="13" name="Freeform 8"/>
          <p:cNvSpPr/>
          <p:nvPr/>
        </p:nvSpPr>
        <p:spPr>
          <a:xfrm>
            <a:off x="638854" y="2343150"/>
            <a:ext cx="7522166" cy="7252819"/>
          </a:xfrm>
          <a:custGeom>
            <a:avLst/>
            <a:gdLst/>
            <a:ahLst/>
            <a:cxnLst/>
            <a:rect l="l" t="t" r="r" b="b"/>
            <a:pathLst>
              <a:path w="2114272" h="2048807">
                <a:moveTo>
                  <a:pt x="0" y="0"/>
                </a:moveTo>
                <a:lnTo>
                  <a:pt x="2114272" y="0"/>
                </a:lnTo>
                <a:lnTo>
                  <a:pt x="2114272" y="2048807"/>
                </a:lnTo>
                <a:lnTo>
                  <a:pt x="0" y="2048807"/>
                </a:lnTo>
                <a:close/>
              </a:path>
            </a:pathLst>
          </a:custGeom>
          <a:solidFill>
            <a:srgbClr val="000000">
              <a:alpha val="0"/>
            </a:srgbClr>
          </a:solidFill>
          <a:ln w="19050" cap="sq">
            <a:gradFill>
              <a:gsLst>
                <a:gs pos="50000">
                  <a:schemeClr val="accent2"/>
                </a:gs>
                <a:gs pos="0">
                  <a:schemeClr val="accent2">
                    <a:lumMod val="25000"/>
                    <a:lumOff val="75000"/>
                  </a:schemeClr>
                </a:gs>
                <a:gs pos="100000">
                  <a:schemeClr val="accent2">
                    <a:lumMod val="85000"/>
                  </a:schemeClr>
                </a:gs>
              </a:gsLst>
              <a:lin ang="5400000" scaled="0"/>
            </a:gradFill>
            <a:prstDash val="solid"/>
            <a:miter/>
          </a:ln>
        </p:spPr>
        <p:txBody>
          <a:bodyPr/>
          <a:lstStyle/>
          <a:p>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4605" y="-172349"/>
            <a:ext cx="18477209" cy="451224"/>
            <a:chOff x="0" y="0"/>
            <a:chExt cx="4519404" cy="110366"/>
          </a:xfrm>
        </p:grpSpPr>
        <p:sp>
          <p:nvSpPr>
            <p:cNvPr id="3" name="Freeform 3"/>
            <p:cNvSpPr/>
            <p:nvPr/>
          </p:nvSpPr>
          <p:spPr>
            <a:xfrm>
              <a:off x="0" y="0"/>
              <a:ext cx="4519404" cy="110366"/>
            </a:xfrm>
            <a:custGeom>
              <a:avLst/>
              <a:gdLst/>
              <a:ahLst/>
              <a:cxnLst/>
              <a:rect l="l" t="t" r="r" b="b"/>
              <a:pathLst>
                <a:path w="4519404" h="110366">
                  <a:moveTo>
                    <a:pt x="0" y="0"/>
                  </a:moveTo>
                  <a:lnTo>
                    <a:pt x="4519404" y="0"/>
                  </a:lnTo>
                  <a:lnTo>
                    <a:pt x="4519404" y="110366"/>
                  </a:lnTo>
                  <a:lnTo>
                    <a:pt x="0" y="110366"/>
                  </a:lnTo>
                  <a:close/>
                </a:path>
              </a:pathLst>
            </a:custGeom>
            <a:solidFill>
              <a:srgbClr val="8B0011"/>
            </a:solidFill>
          </p:spPr>
          <p:txBody>
            <a:bodyPr/>
            <a:lstStyle/>
            <a:p>
              <a:endParaRPr lang="zh-CN" altLang="en-US"/>
            </a:p>
          </p:txBody>
        </p:sp>
        <p:sp>
          <p:nvSpPr>
            <p:cNvPr id="4" name="TextBox 4"/>
            <p:cNvSpPr txBox="1"/>
            <p:nvPr/>
          </p:nvSpPr>
          <p:spPr>
            <a:xfrm>
              <a:off x="0" y="-47625"/>
              <a:ext cx="4519404" cy="157991"/>
            </a:xfrm>
            <a:prstGeom prst="rect">
              <a:avLst/>
            </a:prstGeom>
          </p:spPr>
          <p:txBody>
            <a:bodyPr lIns="50800" tIns="50800" rIns="50800" bIns="50800" rtlCol="0" anchor="ctr"/>
            <a:lstStyle/>
            <a:p>
              <a:pPr algn="ctr">
                <a:lnSpc>
                  <a:spcPts val="3210"/>
                </a:lnSpc>
              </a:pPr>
              <a:endParaRPr/>
            </a:p>
          </p:txBody>
        </p:sp>
      </p:grpSp>
      <p:sp>
        <p:nvSpPr>
          <p:cNvPr id="5" name="Freeform 5"/>
          <p:cNvSpPr/>
          <p:nvPr/>
        </p:nvSpPr>
        <p:spPr>
          <a:xfrm rot="5400000" flipH="1">
            <a:off x="-2232751" y="7825360"/>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6" name="Freeform 6"/>
          <p:cNvSpPr/>
          <p:nvPr/>
        </p:nvSpPr>
        <p:spPr>
          <a:xfrm rot="-5400000" flipH="1">
            <a:off x="14777542" y="805514"/>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7" name="Freeform 7"/>
          <p:cNvSpPr/>
          <p:nvPr/>
        </p:nvSpPr>
        <p:spPr>
          <a:xfrm>
            <a:off x="8288968" y="1515474"/>
            <a:ext cx="9030328" cy="3465388"/>
          </a:xfrm>
          <a:custGeom>
            <a:avLst/>
            <a:gdLst/>
            <a:ahLst/>
            <a:cxnLst/>
            <a:rect l="l" t="t" r="r" b="b"/>
            <a:pathLst>
              <a:path w="9030328" h="3465388">
                <a:moveTo>
                  <a:pt x="0" y="0"/>
                </a:moveTo>
                <a:lnTo>
                  <a:pt x="9030328" y="0"/>
                </a:lnTo>
                <a:lnTo>
                  <a:pt x="9030328" y="3465388"/>
                </a:lnTo>
                <a:lnTo>
                  <a:pt x="0" y="3465388"/>
                </a:lnTo>
                <a:lnTo>
                  <a:pt x="0" y="0"/>
                </a:lnTo>
                <a:close/>
              </a:path>
            </a:pathLst>
          </a:custGeom>
          <a:blipFill>
            <a:blip r:embed="rId4"/>
            <a:stretch>
              <a:fillRect/>
            </a:stretch>
          </a:blipFill>
        </p:spPr>
        <p:txBody>
          <a:bodyPr/>
          <a:lstStyle/>
          <a:p>
            <a:endParaRPr lang="zh-CN" altLang="en-US"/>
          </a:p>
        </p:txBody>
      </p:sp>
      <p:sp>
        <p:nvSpPr>
          <p:cNvPr id="8" name="Freeform 8"/>
          <p:cNvSpPr/>
          <p:nvPr/>
        </p:nvSpPr>
        <p:spPr>
          <a:xfrm>
            <a:off x="8443949" y="6256808"/>
            <a:ext cx="9007468" cy="3231429"/>
          </a:xfrm>
          <a:custGeom>
            <a:avLst/>
            <a:gdLst/>
            <a:ahLst/>
            <a:cxnLst/>
            <a:rect l="l" t="t" r="r" b="b"/>
            <a:pathLst>
              <a:path w="9007468" h="3231429">
                <a:moveTo>
                  <a:pt x="0" y="0"/>
                </a:moveTo>
                <a:lnTo>
                  <a:pt x="9007468" y="0"/>
                </a:lnTo>
                <a:lnTo>
                  <a:pt x="9007468" y="3231430"/>
                </a:lnTo>
                <a:lnTo>
                  <a:pt x="0" y="3231430"/>
                </a:lnTo>
                <a:lnTo>
                  <a:pt x="0" y="0"/>
                </a:lnTo>
                <a:close/>
              </a:path>
            </a:pathLst>
          </a:custGeom>
          <a:blipFill>
            <a:blip r:embed="rId5"/>
            <a:stretch>
              <a:fillRect/>
            </a:stretch>
          </a:blipFill>
        </p:spPr>
        <p:txBody>
          <a:bodyPr/>
          <a:lstStyle/>
          <a:p>
            <a:endParaRPr lang="zh-CN" altLang="en-US"/>
          </a:p>
        </p:txBody>
      </p:sp>
      <p:sp>
        <p:nvSpPr>
          <p:cNvPr id="9" name="Freeform 9"/>
          <p:cNvSpPr/>
          <p:nvPr/>
        </p:nvSpPr>
        <p:spPr>
          <a:xfrm>
            <a:off x="872818" y="6311285"/>
            <a:ext cx="7260268" cy="3176952"/>
          </a:xfrm>
          <a:custGeom>
            <a:avLst/>
            <a:gdLst/>
            <a:ahLst/>
            <a:cxnLst/>
            <a:rect l="l" t="t" r="r" b="b"/>
            <a:pathLst>
              <a:path w="7260268" h="3176952">
                <a:moveTo>
                  <a:pt x="0" y="0"/>
                </a:moveTo>
                <a:lnTo>
                  <a:pt x="7260268" y="0"/>
                </a:lnTo>
                <a:lnTo>
                  <a:pt x="7260268" y="3176953"/>
                </a:lnTo>
                <a:lnTo>
                  <a:pt x="0" y="3176953"/>
                </a:lnTo>
                <a:lnTo>
                  <a:pt x="0" y="0"/>
                </a:lnTo>
                <a:close/>
              </a:path>
            </a:pathLst>
          </a:custGeom>
          <a:blipFill>
            <a:blip r:embed="rId6"/>
            <a:stretch>
              <a:fillRect r="-19475"/>
            </a:stretch>
          </a:blipFill>
        </p:spPr>
        <p:txBody>
          <a:bodyPr/>
          <a:lstStyle/>
          <a:p>
            <a:endParaRPr lang="zh-CN" altLang="en-US"/>
          </a:p>
        </p:txBody>
      </p:sp>
      <p:sp>
        <p:nvSpPr>
          <p:cNvPr id="10" name="TextBox 10"/>
          <p:cNvSpPr txBox="1"/>
          <p:nvPr/>
        </p:nvSpPr>
        <p:spPr>
          <a:xfrm>
            <a:off x="1028700" y="2691367"/>
            <a:ext cx="6512298" cy="1554680"/>
          </a:xfrm>
          <a:prstGeom prst="rect">
            <a:avLst/>
          </a:prstGeom>
        </p:spPr>
        <p:txBody>
          <a:bodyPr lIns="0" tIns="0" rIns="0" bIns="0" rtlCol="0" anchor="t">
            <a:spAutoFit/>
          </a:bodyPr>
          <a:lstStyle/>
          <a:p>
            <a:pPr marL="0" lvl="0" indent="0" algn="l">
              <a:lnSpc>
                <a:spcPts val="4195"/>
              </a:lnSpc>
              <a:spcBef>
                <a:spcPct val="0"/>
              </a:spcBef>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我们可以登陆后台进入留言版的后台审核界面，该界面主要用于管理员对于留言区的审核以及增删改查等内容。</a:t>
            </a:r>
          </a:p>
        </p:txBody>
      </p:sp>
      <p:sp>
        <p:nvSpPr>
          <p:cNvPr id="11" name="TextBox 11"/>
          <p:cNvSpPr txBox="1"/>
          <p:nvPr/>
        </p:nvSpPr>
        <p:spPr>
          <a:xfrm>
            <a:off x="-94605" y="1340052"/>
            <a:ext cx="5576065" cy="800100"/>
          </a:xfrm>
          <a:prstGeom prst="rect">
            <a:avLst/>
          </a:prstGeom>
        </p:spPr>
        <p:txBody>
          <a:bodyPr lIns="0" tIns="0" rIns="0" bIns="0" rtlCol="0" anchor="t">
            <a:spAutoFit/>
          </a:bodyPr>
          <a:lstStyle/>
          <a:p>
            <a:pPr algn="ctr">
              <a:lnSpc>
                <a:spcPts val="6360"/>
              </a:lnSpc>
            </a:pPr>
            <a:r>
              <a:rPr lang="en-US" sz="53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留言板设计</a:t>
            </a:r>
          </a:p>
        </p:txBody>
      </p:sp>
      <p:sp>
        <p:nvSpPr>
          <p:cNvPr id="12" name="TextBox 12"/>
          <p:cNvSpPr txBox="1"/>
          <p:nvPr/>
        </p:nvSpPr>
        <p:spPr>
          <a:xfrm>
            <a:off x="1028700" y="5316245"/>
            <a:ext cx="6512298" cy="492889"/>
          </a:xfrm>
          <a:prstGeom prst="rect">
            <a:avLst/>
          </a:prstGeom>
        </p:spPr>
        <p:txBody>
          <a:bodyPr lIns="0" tIns="0" rIns="0" bIns="0" rtlCol="0" anchor="t">
            <a:spAutoFit/>
          </a:bodyPr>
          <a:lstStyle/>
          <a:p>
            <a:pPr marL="0" lvl="0" indent="0" algn="l">
              <a:lnSpc>
                <a:spcPts val="4195"/>
              </a:lnSpc>
              <a:spcBef>
                <a:spcPct val="0"/>
              </a:spcBef>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更新界面：</a:t>
            </a:r>
          </a:p>
        </p:txBody>
      </p:sp>
      <p:sp>
        <p:nvSpPr>
          <p:cNvPr id="13" name="TextBox 13"/>
          <p:cNvSpPr txBox="1"/>
          <p:nvPr/>
        </p:nvSpPr>
        <p:spPr>
          <a:xfrm>
            <a:off x="8288968" y="5316245"/>
            <a:ext cx="6512298" cy="492889"/>
          </a:xfrm>
          <a:prstGeom prst="rect">
            <a:avLst/>
          </a:prstGeom>
        </p:spPr>
        <p:txBody>
          <a:bodyPr lIns="0" tIns="0" rIns="0" bIns="0" rtlCol="0" anchor="t">
            <a:spAutoFit/>
          </a:bodyPr>
          <a:lstStyle/>
          <a:p>
            <a:pPr marL="0" lvl="0" indent="0" algn="l">
              <a:lnSpc>
                <a:spcPts val="4195"/>
              </a:lnSpc>
              <a:spcBef>
                <a:spcPct val="0"/>
              </a:spcBef>
            </a:pPr>
            <a:r>
              <a:rPr lang="en-US" sz="2500" dirty="0" err="1">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内容详情界面</a:t>
            </a:r>
            <a:r>
              <a:rPr lang="en-US" sz="2500" dirty="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p>
        </p:txBody>
      </p:sp>
      <p:sp>
        <p:nvSpPr>
          <p:cNvPr id="15" name="Freeform 8"/>
          <p:cNvSpPr/>
          <p:nvPr/>
        </p:nvSpPr>
        <p:spPr>
          <a:xfrm>
            <a:off x="914400" y="2605725"/>
            <a:ext cx="6741795" cy="2080575"/>
          </a:xfrm>
          <a:custGeom>
            <a:avLst/>
            <a:gdLst/>
            <a:ahLst/>
            <a:cxnLst/>
            <a:rect l="l" t="t" r="r" b="b"/>
            <a:pathLst>
              <a:path w="1751855" h="1614912">
                <a:moveTo>
                  <a:pt x="0" y="0"/>
                </a:moveTo>
                <a:lnTo>
                  <a:pt x="1751855" y="0"/>
                </a:lnTo>
                <a:lnTo>
                  <a:pt x="1751855" y="1614912"/>
                </a:lnTo>
                <a:lnTo>
                  <a:pt x="0" y="1614912"/>
                </a:lnTo>
                <a:close/>
              </a:path>
            </a:pathLst>
          </a:custGeom>
          <a:solidFill>
            <a:srgbClr val="000000">
              <a:alpha val="0"/>
            </a:srgbClr>
          </a:solidFill>
          <a:ln w="19050" cap="sq">
            <a:gradFill>
              <a:gsLst>
                <a:gs pos="50000">
                  <a:schemeClr val="accent2"/>
                </a:gs>
                <a:gs pos="0">
                  <a:schemeClr val="accent2">
                    <a:lumMod val="25000"/>
                    <a:lumOff val="75000"/>
                  </a:schemeClr>
                </a:gs>
                <a:gs pos="100000">
                  <a:schemeClr val="accent2">
                    <a:lumMod val="85000"/>
                  </a:schemeClr>
                </a:gs>
              </a:gsLst>
              <a:lin ang="5400000" scaled="0"/>
            </a:gradFill>
            <a:prstDash val="solid"/>
            <a:miter/>
          </a:ln>
        </p:spPr>
        <p:txBody>
          <a:bodyPr/>
          <a:lstStyle/>
          <a:p>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4605" y="-172349"/>
            <a:ext cx="18477209" cy="451224"/>
            <a:chOff x="0" y="0"/>
            <a:chExt cx="4519404" cy="110366"/>
          </a:xfrm>
        </p:grpSpPr>
        <p:sp>
          <p:nvSpPr>
            <p:cNvPr id="3" name="Freeform 3"/>
            <p:cNvSpPr/>
            <p:nvPr/>
          </p:nvSpPr>
          <p:spPr>
            <a:xfrm>
              <a:off x="0" y="0"/>
              <a:ext cx="4519404" cy="110366"/>
            </a:xfrm>
            <a:custGeom>
              <a:avLst/>
              <a:gdLst/>
              <a:ahLst/>
              <a:cxnLst/>
              <a:rect l="l" t="t" r="r" b="b"/>
              <a:pathLst>
                <a:path w="4519404" h="110366">
                  <a:moveTo>
                    <a:pt x="0" y="0"/>
                  </a:moveTo>
                  <a:lnTo>
                    <a:pt x="4519404" y="0"/>
                  </a:lnTo>
                  <a:lnTo>
                    <a:pt x="4519404" y="110366"/>
                  </a:lnTo>
                  <a:lnTo>
                    <a:pt x="0" y="110366"/>
                  </a:lnTo>
                  <a:close/>
                </a:path>
              </a:pathLst>
            </a:custGeom>
            <a:solidFill>
              <a:srgbClr val="8B0011"/>
            </a:solidFill>
          </p:spPr>
          <p:txBody>
            <a:bodyPr/>
            <a:lstStyle/>
            <a:p>
              <a:endParaRPr lang="zh-CN" altLang="en-US"/>
            </a:p>
          </p:txBody>
        </p:sp>
        <p:sp>
          <p:nvSpPr>
            <p:cNvPr id="4" name="TextBox 4"/>
            <p:cNvSpPr txBox="1"/>
            <p:nvPr/>
          </p:nvSpPr>
          <p:spPr>
            <a:xfrm>
              <a:off x="0" y="-47625"/>
              <a:ext cx="4519404" cy="157991"/>
            </a:xfrm>
            <a:prstGeom prst="rect">
              <a:avLst/>
            </a:prstGeom>
          </p:spPr>
          <p:txBody>
            <a:bodyPr lIns="50800" tIns="50800" rIns="50800" bIns="50800" rtlCol="0" anchor="ctr"/>
            <a:lstStyle/>
            <a:p>
              <a:pPr algn="ctr">
                <a:lnSpc>
                  <a:spcPts val="3210"/>
                </a:lnSpc>
              </a:pPr>
              <a:endParaRPr/>
            </a:p>
          </p:txBody>
        </p:sp>
      </p:grpSp>
      <p:sp>
        <p:nvSpPr>
          <p:cNvPr id="5" name="Freeform 5"/>
          <p:cNvSpPr/>
          <p:nvPr/>
        </p:nvSpPr>
        <p:spPr>
          <a:xfrm rot="5400000" flipH="1">
            <a:off x="-2232751" y="7825360"/>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6" name="Freeform 6"/>
          <p:cNvSpPr/>
          <p:nvPr/>
        </p:nvSpPr>
        <p:spPr>
          <a:xfrm rot="-5400000" flipH="1">
            <a:off x="14777542" y="805514"/>
            <a:ext cx="5743209" cy="1656126"/>
          </a:xfrm>
          <a:custGeom>
            <a:avLst/>
            <a:gdLst/>
            <a:ahLst/>
            <a:cxnLst/>
            <a:rect l="l" t="t" r="r" b="b"/>
            <a:pathLst>
              <a:path w="5743209" h="1656126">
                <a:moveTo>
                  <a:pt x="5743209" y="0"/>
                </a:moveTo>
                <a:lnTo>
                  <a:pt x="0" y="0"/>
                </a:lnTo>
                <a:lnTo>
                  <a:pt x="0" y="1656126"/>
                </a:lnTo>
                <a:lnTo>
                  <a:pt x="5743209" y="1656126"/>
                </a:lnTo>
                <a:lnTo>
                  <a:pt x="574320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7" name="Freeform 7"/>
          <p:cNvSpPr/>
          <p:nvPr/>
        </p:nvSpPr>
        <p:spPr>
          <a:xfrm>
            <a:off x="8342588" y="806981"/>
            <a:ext cx="8782823" cy="4336519"/>
          </a:xfrm>
          <a:custGeom>
            <a:avLst/>
            <a:gdLst/>
            <a:ahLst/>
            <a:cxnLst/>
            <a:rect l="l" t="t" r="r" b="b"/>
            <a:pathLst>
              <a:path w="8782823" h="4336519">
                <a:moveTo>
                  <a:pt x="0" y="0"/>
                </a:moveTo>
                <a:lnTo>
                  <a:pt x="8782824" y="0"/>
                </a:lnTo>
                <a:lnTo>
                  <a:pt x="8782824" y="4336519"/>
                </a:lnTo>
                <a:lnTo>
                  <a:pt x="0" y="4336519"/>
                </a:lnTo>
                <a:lnTo>
                  <a:pt x="0" y="0"/>
                </a:lnTo>
                <a:close/>
              </a:path>
            </a:pathLst>
          </a:custGeom>
          <a:blipFill>
            <a:blip r:embed="rId4"/>
            <a:stretch>
              <a:fillRect/>
            </a:stretch>
          </a:blipFill>
        </p:spPr>
        <p:txBody>
          <a:bodyPr/>
          <a:lstStyle/>
          <a:p>
            <a:endParaRPr lang="zh-CN" altLang="en-US"/>
          </a:p>
        </p:txBody>
      </p:sp>
      <p:sp>
        <p:nvSpPr>
          <p:cNvPr id="8" name="Freeform 8"/>
          <p:cNvSpPr/>
          <p:nvPr/>
        </p:nvSpPr>
        <p:spPr>
          <a:xfrm>
            <a:off x="8342588" y="5426494"/>
            <a:ext cx="8782823" cy="3930313"/>
          </a:xfrm>
          <a:custGeom>
            <a:avLst/>
            <a:gdLst/>
            <a:ahLst/>
            <a:cxnLst/>
            <a:rect l="l" t="t" r="r" b="b"/>
            <a:pathLst>
              <a:path w="8782823" h="3930313">
                <a:moveTo>
                  <a:pt x="0" y="0"/>
                </a:moveTo>
                <a:lnTo>
                  <a:pt x="8782824" y="0"/>
                </a:lnTo>
                <a:lnTo>
                  <a:pt x="8782824" y="3930313"/>
                </a:lnTo>
                <a:lnTo>
                  <a:pt x="0" y="3930313"/>
                </a:lnTo>
                <a:lnTo>
                  <a:pt x="0" y="0"/>
                </a:lnTo>
                <a:close/>
              </a:path>
            </a:pathLst>
          </a:custGeom>
          <a:blipFill>
            <a:blip r:embed="rId5"/>
            <a:stretch>
              <a:fillRect/>
            </a:stretch>
          </a:blipFill>
        </p:spPr>
        <p:txBody>
          <a:bodyPr/>
          <a:lstStyle/>
          <a:p>
            <a:endParaRPr lang="zh-CN" altLang="en-US"/>
          </a:p>
        </p:txBody>
      </p:sp>
      <p:sp>
        <p:nvSpPr>
          <p:cNvPr id="9" name="TextBox 9"/>
          <p:cNvSpPr txBox="1"/>
          <p:nvPr/>
        </p:nvSpPr>
        <p:spPr>
          <a:xfrm>
            <a:off x="1028700" y="2928805"/>
            <a:ext cx="6512298" cy="5724618"/>
          </a:xfrm>
          <a:prstGeom prst="rect">
            <a:avLst/>
          </a:prstGeom>
        </p:spPr>
        <p:txBody>
          <a:bodyPr lIns="0" tIns="0" rIns="0" bIns="0" rtlCol="0" anchor="t">
            <a:spAutoFit/>
          </a:bodyPr>
          <a:lstStyle/>
          <a:p>
            <a:pPr algn="l">
              <a:lnSpc>
                <a:spcPts val="4195"/>
              </a:lnSpc>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我们的团队介绍页面也可分为以下两个部分：</a:t>
            </a:r>
          </a:p>
          <a:p>
            <a:pPr algn="l">
              <a:lnSpc>
                <a:spcPts val="4195"/>
              </a:lnSpc>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（1）</a:t>
            </a:r>
            <a:r>
              <a:rPr lang="en-US" sz="25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成员卡片组件：</a:t>
            </a:r>
          </a:p>
          <a:p>
            <a:pPr marL="539115" lvl="1" indent="-269875" algn="l">
              <a:lnSpc>
                <a:spcPts val="4195"/>
              </a:lnSpc>
              <a:buFont typeface="Arial" panose="020B0604020202020204"/>
              <a:buChar char="•"/>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头部区域：头像图标、姓名、学号</a:t>
            </a:r>
          </a:p>
          <a:p>
            <a:pPr marL="539115" lvl="1" indent="-269875" algn="l">
              <a:lnSpc>
                <a:spcPts val="4195"/>
              </a:lnSpc>
              <a:buFont typeface="Arial" panose="020B0604020202020204"/>
              <a:buChar char="•"/>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内容区域：负责工作列表、作业展示链接</a:t>
            </a:r>
          </a:p>
          <a:p>
            <a:pPr algn="l">
              <a:lnSpc>
                <a:spcPts val="4195"/>
              </a:lnSpc>
            </a:pPr>
            <a:endPar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l">
              <a:lnSpc>
                <a:spcPts val="4195"/>
              </a:lnSpc>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（2）</a:t>
            </a:r>
            <a:r>
              <a:rPr lang="en-US" sz="25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项目展示组件：</a:t>
            </a:r>
          </a:p>
          <a:p>
            <a:pPr marL="539115" lvl="1" indent="-269875" algn="l">
              <a:lnSpc>
                <a:spcPts val="4195"/>
              </a:lnSpc>
              <a:buFont typeface="Arial" panose="020B0604020202020204"/>
              <a:buChar char="•"/>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项目横幅：项目名称、主题标语</a:t>
            </a:r>
          </a:p>
          <a:p>
            <a:pPr marL="539115" lvl="1" indent="-269875" algn="l">
              <a:lnSpc>
                <a:spcPts val="4195"/>
              </a:lnSpc>
              <a:buFont typeface="Arial" panose="020B0604020202020204"/>
              <a:buChar char="•"/>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项目详情：技术栈、进度、周期、状态</a:t>
            </a:r>
          </a:p>
          <a:p>
            <a:pPr marL="539115" lvl="1" indent="-269875" algn="l">
              <a:lnSpc>
                <a:spcPts val="4195"/>
              </a:lnSpc>
              <a:buFont typeface="Arial" panose="020B0604020202020204"/>
              <a:buChar char="•"/>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功能模块：六大核心功能图标展示</a:t>
            </a:r>
          </a:p>
          <a:p>
            <a:pPr marL="539115" lvl="1" indent="-269875" algn="l">
              <a:lnSpc>
                <a:spcPts val="4195"/>
              </a:lnSpc>
              <a:buFont typeface="Arial" panose="020B0604020202020204"/>
              <a:buChar char="•"/>
            </a:pPr>
            <a:r>
              <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资料链接：八个项目文档下载入口</a:t>
            </a:r>
          </a:p>
          <a:p>
            <a:pPr marL="0" lvl="0" indent="0" algn="l">
              <a:lnSpc>
                <a:spcPts val="4195"/>
              </a:lnSpc>
              <a:spcBef>
                <a:spcPct val="0"/>
              </a:spcBef>
            </a:pPr>
            <a:endParaRPr lang="en-US" sz="25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10" name="TextBox 10"/>
          <p:cNvSpPr txBox="1"/>
          <p:nvPr/>
        </p:nvSpPr>
        <p:spPr>
          <a:xfrm>
            <a:off x="291446" y="1340052"/>
            <a:ext cx="5576065" cy="800100"/>
          </a:xfrm>
          <a:prstGeom prst="rect">
            <a:avLst/>
          </a:prstGeom>
        </p:spPr>
        <p:txBody>
          <a:bodyPr lIns="0" tIns="0" rIns="0" bIns="0" rtlCol="0" anchor="t">
            <a:spAutoFit/>
          </a:bodyPr>
          <a:lstStyle/>
          <a:p>
            <a:pPr algn="ctr">
              <a:lnSpc>
                <a:spcPts val="6360"/>
              </a:lnSpc>
            </a:pPr>
            <a:r>
              <a:rPr lang="en-US" sz="53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团队介绍设计</a:t>
            </a:r>
          </a:p>
        </p:txBody>
      </p:sp>
      <p:sp>
        <p:nvSpPr>
          <p:cNvPr id="15" name="Freeform 8"/>
          <p:cNvSpPr/>
          <p:nvPr/>
        </p:nvSpPr>
        <p:spPr>
          <a:xfrm>
            <a:off x="762000" y="2324100"/>
            <a:ext cx="6842760" cy="6764020"/>
          </a:xfrm>
          <a:custGeom>
            <a:avLst/>
            <a:gdLst/>
            <a:ahLst/>
            <a:cxnLst/>
            <a:rect l="l" t="t" r="r" b="b"/>
            <a:pathLst>
              <a:path w="1751855" h="1614912">
                <a:moveTo>
                  <a:pt x="0" y="0"/>
                </a:moveTo>
                <a:lnTo>
                  <a:pt x="1751855" y="0"/>
                </a:lnTo>
                <a:lnTo>
                  <a:pt x="1751855" y="1614912"/>
                </a:lnTo>
                <a:lnTo>
                  <a:pt x="0" y="1614912"/>
                </a:lnTo>
                <a:close/>
              </a:path>
            </a:pathLst>
          </a:custGeom>
          <a:solidFill>
            <a:srgbClr val="000000">
              <a:alpha val="0"/>
            </a:srgbClr>
          </a:solidFill>
          <a:ln w="19050" cap="sq">
            <a:gradFill>
              <a:gsLst>
                <a:gs pos="50000">
                  <a:schemeClr val="accent2"/>
                </a:gs>
                <a:gs pos="0">
                  <a:schemeClr val="accent2">
                    <a:lumMod val="25000"/>
                    <a:lumOff val="75000"/>
                  </a:schemeClr>
                </a:gs>
                <a:gs pos="100000">
                  <a:schemeClr val="accent2">
                    <a:lumMod val="85000"/>
                  </a:schemeClr>
                </a:gs>
              </a:gsLst>
              <a:lin ang="5400000" scaled="0"/>
            </a:gradFill>
            <a:prstDash val="solid"/>
            <a:miter/>
          </a:ln>
        </p:spPr>
        <p:txBody>
          <a:bodyPr/>
          <a:lstStyle/>
          <a:p>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60009" y="3342447"/>
            <a:ext cx="3540935" cy="688803"/>
            <a:chOff x="0" y="0"/>
            <a:chExt cx="1030162" cy="200393"/>
          </a:xfrm>
        </p:grpSpPr>
        <p:sp>
          <p:nvSpPr>
            <p:cNvPr id="3" name="Freeform 3"/>
            <p:cNvSpPr/>
            <p:nvPr/>
          </p:nvSpPr>
          <p:spPr>
            <a:xfrm>
              <a:off x="0" y="0"/>
              <a:ext cx="1030162" cy="200393"/>
            </a:xfrm>
            <a:custGeom>
              <a:avLst/>
              <a:gdLst/>
              <a:ahLst/>
              <a:cxnLst/>
              <a:rect l="l" t="t" r="r" b="b"/>
              <a:pathLst>
                <a:path w="1030162" h="200393">
                  <a:moveTo>
                    <a:pt x="100196" y="0"/>
                  </a:moveTo>
                  <a:lnTo>
                    <a:pt x="929965" y="0"/>
                  </a:lnTo>
                  <a:cubicBezTo>
                    <a:pt x="956539" y="0"/>
                    <a:pt x="982024" y="10556"/>
                    <a:pt x="1000815" y="29347"/>
                  </a:cubicBezTo>
                  <a:cubicBezTo>
                    <a:pt x="1019605" y="48137"/>
                    <a:pt x="1030162" y="73623"/>
                    <a:pt x="1030162" y="100196"/>
                  </a:cubicBezTo>
                  <a:lnTo>
                    <a:pt x="1030162" y="100196"/>
                  </a:lnTo>
                  <a:cubicBezTo>
                    <a:pt x="1030162" y="155533"/>
                    <a:pt x="985302" y="200393"/>
                    <a:pt x="929965" y="200393"/>
                  </a:cubicBezTo>
                  <a:lnTo>
                    <a:pt x="100196" y="200393"/>
                  </a:lnTo>
                  <a:cubicBezTo>
                    <a:pt x="44859" y="200393"/>
                    <a:pt x="0" y="155533"/>
                    <a:pt x="0" y="100196"/>
                  </a:cubicBezTo>
                  <a:lnTo>
                    <a:pt x="0" y="100196"/>
                  </a:lnTo>
                  <a:cubicBezTo>
                    <a:pt x="0" y="44859"/>
                    <a:pt x="44859" y="0"/>
                    <a:pt x="100196" y="0"/>
                  </a:cubicBezTo>
                  <a:close/>
                </a:path>
              </a:pathLst>
            </a:custGeom>
            <a:solidFill>
              <a:srgbClr val="8B0011"/>
            </a:solidFill>
          </p:spPr>
          <p:txBody>
            <a:bodyPr/>
            <a:lstStyle/>
            <a:p>
              <a:endParaRPr lang="zh-CN" altLang="en-US"/>
            </a:p>
          </p:txBody>
        </p:sp>
        <p:sp>
          <p:nvSpPr>
            <p:cNvPr id="4" name="TextBox 4"/>
            <p:cNvSpPr txBox="1"/>
            <p:nvPr/>
          </p:nvSpPr>
          <p:spPr>
            <a:xfrm>
              <a:off x="0" y="-47625"/>
              <a:ext cx="1030162" cy="248018"/>
            </a:xfrm>
            <a:prstGeom prst="rect">
              <a:avLst/>
            </a:prstGeom>
          </p:spPr>
          <p:txBody>
            <a:bodyPr lIns="50800" tIns="50800" rIns="50800" bIns="50800" rtlCol="0" anchor="ctr"/>
            <a:lstStyle/>
            <a:p>
              <a:pPr algn="ctr">
                <a:lnSpc>
                  <a:spcPts val="3105"/>
                </a:lnSpc>
              </a:pPr>
              <a:endParaRPr/>
            </a:p>
          </p:txBody>
        </p:sp>
      </p:grpSp>
      <p:sp>
        <p:nvSpPr>
          <p:cNvPr id="5" name="TextBox 5"/>
          <p:cNvSpPr txBox="1"/>
          <p:nvPr/>
        </p:nvSpPr>
        <p:spPr>
          <a:xfrm>
            <a:off x="1760009" y="4111894"/>
            <a:ext cx="7643783" cy="1324356"/>
          </a:xfrm>
          <a:prstGeom prst="rect">
            <a:avLst/>
          </a:prstGeom>
        </p:spPr>
        <p:txBody>
          <a:bodyPr lIns="0" tIns="0" rIns="0" bIns="0" rtlCol="0" anchor="t">
            <a:spAutoFit/>
          </a:bodyPr>
          <a:lstStyle/>
          <a:p>
            <a:pPr marL="0" lvl="0" indent="0" algn="l">
              <a:lnSpc>
                <a:spcPts val="10690"/>
              </a:lnSpc>
              <a:spcBef>
                <a:spcPct val="0"/>
              </a:spcBef>
            </a:pPr>
            <a:r>
              <a:rPr lang="en-US" sz="8100" b="1">
                <a:solidFill>
                  <a:srgbClr val="1E1E1E"/>
                </a:solidFill>
                <a:latin typeface="思源黑体 1 Heavy" panose="020B0A00000000000000" charset="-122"/>
                <a:ea typeface="思源黑体 1 Heavy" panose="020B0A00000000000000" charset="-122"/>
                <a:cs typeface="思源黑体 1 Heavy" panose="020B0A00000000000000" charset="-122"/>
                <a:sym typeface="思源黑体 1 Heavy" panose="020B0A00000000000000" charset="-122"/>
              </a:rPr>
              <a:t>总结</a:t>
            </a:r>
          </a:p>
        </p:txBody>
      </p:sp>
      <p:sp>
        <p:nvSpPr>
          <p:cNvPr id="6" name="TextBox 6"/>
          <p:cNvSpPr txBox="1"/>
          <p:nvPr/>
        </p:nvSpPr>
        <p:spPr>
          <a:xfrm>
            <a:off x="1760009" y="5474350"/>
            <a:ext cx="5974206" cy="485775"/>
          </a:xfrm>
          <a:prstGeom prst="rect">
            <a:avLst/>
          </a:prstGeom>
        </p:spPr>
        <p:txBody>
          <a:bodyPr lIns="0" tIns="0" rIns="0" bIns="0" rtlCol="0" anchor="t">
            <a:spAutoFit/>
          </a:bodyPr>
          <a:lstStyle/>
          <a:p>
            <a:pPr marL="0" lvl="0" indent="0" algn="l">
              <a:lnSpc>
                <a:spcPts val="3360"/>
              </a:lnSpc>
              <a:spcBef>
                <a:spcPct val="0"/>
              </a:spcBef>
            </a:pPr>
            <a:r>
              <a:rPr lang="en-US" sz="2800">
                <a:solidFill>
                  <a:srgbClr val="8B0011"/>
                </a:solidFill>
                <a:latin typeface="Akzidenz-Grotesk" panose="02000503030000020003"/>
                <a:ea typeface="Akzidenz-Grotesk" panose="02000503030000020003"/>
                <a:cs typeface="Akzidenz-Grotesk" panose="02000503030000020003"/>
                <a:sym typeface="Akzidenz-Grotesk" panose="02000503030000020003"/>
              </a:rPr>
              <a:t>Summary and planning</a:t>
            </a:r>
          </a:p>
        </p:txBody>
      </p:sp>
      <p:sp>
        <p:nvSpPr>
          <p:cNvPr id="7" name="TextBox 7"/>
          <p:cNvSpPr txBox="1"/>
          <p:nvPr/>
        </p:nvSpPr>
        <p:spPr>
          <a:xfrm>
            <a:off x="1992259" y="3377805"/>
            <a:ext cx="3076435" cy="540258"/>
          </a:xfrm>
          <a:prstGeom prst="rect">
            <a:avLst/>
          </a:prstGeom>
        </p:spPr>
        <p:txBody>
          <a:bodyPr lIns="0" tIns="0" rIns="0" bIns="0" rtlCol="0" anchor="t">
            <a:spAutoFit/>
          </a:bodyPr>
          <a:lstStyle/>
          <a:p>
            <a:pPr marL="0" lvl="0" indent="0" algn="ctr">
              <a:lnSpc>
                <a:spcPts val="4355"/>
              </a:lnSpc>
              <a:spcBef>
                <a:spcPct val="0"/>
              </a:spcBef>
            </a:pPr>
            <a:r>
              <a:rPr lang="en-US" sz="3300" b="1">
                <a:solidFill>
                  <a:srgbClr val="FFFFFF"/>
                </a:solidFill>
                <a:latin typeface="思源黑体 1 Medium" panose="020B0600000000000000" charset="-122"/>
                <a:ea typeface="思源黑体 1 Medium" panose="020B0600000000000000" charset="-122"/>
                <a:cs typeface="思源黑体 1 Medium" panose="020B0600000000000000" charset="-122"/>
                <a:sym typeface="思源黑体 1 Medium" panose="020B0600000000000000" charset="-122"/>
              </a:rPr>
              <a:t>第四章节</a:t>
            </a:r>
          </a:p>
        </p:txBody>
      </p:sp>
      <p:sp>
        <p:nvSpPr>
          <p:cNvPr id="8" name="TextBox 8"/>
          <p:cNvSpPr txBox="1"/>
          <p:nvPr/>
        </p:nvSpPr>
        <p:spPr>
          <a:xfrm>
            <a:off x="11447469" y="1911560"/>
            <a:ext cx="5464967" cy="5600700"/>
          </a:xfrm>
          <a:prstGeom prst="rect">
            <a:avLst/>
          </a:prstGeom>
        </p:spPr>
        <p:txBody>
          <a:bodyPr lIns="0" tIns="0" rIns="0" bIns="0" rtlCol="0" anchor="t">
            <a:spAutoFit/>
          </a:bodyPr>
          <a:lstStyle/>
          <a:p>
            <a:pPr algn="ctr">
              <a:lnSpc>
                <a:spcPts val="39070"/>
              </a:lnSpc>
            </a:pPr>
            <a:r>
              <a:rPr lang="en-US" sz="32560" b="1">
                <a:solidFill>
                  <a:srgbClr val="8B0011"/>
                </a:solidFill>
                <a:latin typeface="Akzidenz-Grotesk Bold" panose="02000803050000020004"/>
                <a:ea typeface="Akzidenz-Grotesk Bold" panose="02000803050000020004"/>
                <a:cs typeface="Akzidenz-Grotesk Bold" panose="02000803050000020004"/>
                <a:sym typeface="Akzidenz-Grotesk Bold" panose="02000803050000020004"/>
              </a:rPr>
              <a:t>04</a:t>
            </a:r>
          </a:p>
        </p:txBody>
      </p:sp>
      <p:sp>
        <p:nvSpPr>
          <p:cNvPr id="9" name="Freeform 9"/>
          <p:cNvSpPr/>
          <p:nvPr/>
        </p:nvSpPr>
        <p:spPr>
          <a:xfrm rot="-10800000">
            <a:off x="9490114" y="-540022"/>
            <a:ext cx="11136611" cy="3211381"/>
          </a:xfrm>
          <a:custGeom>
            <a:avLst/>
            <a:gdLst/>
            <a:ahLst/>
            <a:cxnLst/>
            <a:rect l="l" t="t" r="r" b="b"/>
            <a:pathLst>
              <a:path w="11136611" h="3211381">
                <a:moveTo>
                  <a:pt x="0" y="0"/>
                </a:moveTo>
                <a:lnTo>
                  <a:pt x="11136611" y="0"/>
                </a:lnTo>
                <a:lnTo>
                  <a:pt x="11136611" y="3211381"/>
                </a:lnTo>
                <a:lnTo>
                  <a:pt x="0" y="32113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0" name="Freeform 10"/>
          <p:cNvSpPr/>
          <p:nvPr/>
        </p:nvSpPr>
        <p:spPr>
          <a:xfrm>
            <a:off x="-2338725" y="7615641"/>
            <a:ext cx="11136611" cy="3211381"/>
          </a:xfrm>
          <a:custGeom>
            <a:avLst/>
            <a:gdLst/>
            <a:ahLst/>
            <a:cxnLst/>
            <a:rect l="l" t="t" r="r" b="b"/>
            <a:pathLst>
              <a:path w="11136611" h="3211381">
                <a:moveTo>
                  <a:pt x="0" y="0"/>
                </a:moveTo>
                <a:lnTo>
                  <a:pt x="11136611" y="0"/>
                </a:lnTo>
                <a:lnTo>
                  <a:pt x="11136611" y="3211381"/>
                </a:lnTo>
                <a:lnTo>
                  <a:pt x="0" y="32113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1" name="Freeform 11"/>
          <p:cNvSpPr/>
          <p:nvPr/>
        </p:nvSpPr>
        <p:spPr>
          <a:xfrm rot="-5275027">
            <a:off x="10448454" y="6857005"/>
            <a:ext cx="1998030" cy="2436622"/>
          </a:xfrm>
          <a:custGeom>
            <a:avLst/>
            <a:gdLst/>
            <a:ahLst/>
            <a:cxnLst/>
            <a:rect l="l" t="t" r="r" b="b"/>
            <a:pathLst>
              <a:path w="1998030" h="2436622">
                <a:moveTo>
                  <a:pt x="0" y="0"/>
                </a:moveTo>
                <a:lnTo>
                  <a:pt x="1998030" y="0"/>
                </a:lnTo>
                <a:lnTo>
                  <a:pt x="1998030" y="2436622"/>
                </a:lnTo>
                <a:lnTo>
                  <a:pt x="0" y="2436622"/>
                </a:lnTo>
                <a:lnTo>
                  <a:pt x="0" y="0"/>
                </a:lnTo>
                <a:close/>
              </a:path>
            </a:pathLst>
          </a:custGeom>
          <a:blipFill>
            <a:blip r:embed="rId4">
              <a:alphaModFix amt="26000"/>
              <a:extLst>
                <a:ext uri="{96DAC541-7B7A-43D3-8B79-37D633B846F1}">
                  <asvg:svgBlip xmlns:asvg="http://schemas.microsoft.com/office/drawing/2016/SVG/main" r:embed="rId5"/>
                </a:ext>
              </a:extLst>
            </a:blip>
            <a:stretch>
              <a:fillRect/>
            </a:stretch>
          </a:blipFill>
        </p:spPr>
        <p:txBody>
          <a:bodyPr/>
          <a:lstStyle/>
          <a:p>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8B0011"/>
        </a:solidFill>
        <a:effectLst/>
      </p:bgPr>
    </p:bg>
    <p:spTree>
      <p:nvGrpSpPr>
        <p:cNvPr id="1" name=""/>
        <p:cNvGrpSpPr/>
        <p:nvPr/>
      </p:nvGrpSpPr>
      <p:grpSpPr>
        <a:xfrm>
          <a:off x="0" y="0"/>
          <a:ext cx="0" cy="0"/>
          <a:chOff x="0" y="0"/>
          <a:chExt cx="0" cy="0"/>
        </a:xfrm>
      </p:grpSpPr>
      <p:sp>
        <p:nvSpPr>
          <p:cNvPr id="2" name="Freeform 2"/>
          <p:cNvSpPr/>
          <p:nvPr/>
        </p:nvSpPr>
        <p:spPr>
          <a:xfrm rot="5400000">
            <a:off x="-4102290" y="1965302"/>
            <a:ext cx="11058789" cy="3188940"/>
          </a:xfrm>
          <a:custGeom>
            <a:avLst/>
            <a:gdLst/>
            <a:ahLst/>
            <a:cxnLst/>
            <a:rect l="l" t="t" r="r" b="b"/>
            <a:pathLst>
              <a:path w="11058789" h="3188940">
                <a:moveTo>
                  <a:pt x="0" y="0"/>
                </a:moveTo>
                <a:lnTo>
                  <a:pt x="11058789" y="0"/>
                </a:lnTo>
                <a:lnTo>
                  <a:pt x="11058789" y="3188940"/>
                </a:lnTo>
                <a:lnTo>
                  <a:pt x="0" y="31889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3" name="Freeform 3"/>
          <p:cNvSpPr/>
          <p:nvPr/>
        </p:nvSpPr>
        <p:spPr>
          <a:xfrm rot="-5400000">
            <a:off x="11331501" y="5132758"/>
            <a:ext cx="11058789" cy="3188940"/>
          </a:xfrm>
          <a:custGeom>
            <a:avLst/>
            <a:gdLst/>
            <a:ahLst/>
            <a:cxnLst/>
            <a:rect l="l" t="t" r="r" b="b"/>
            <a:pathLst>
              <a:path w="11058789" h="3188940">
                <a:moveTo>
                  <a:pt x="0" y="0"/>
                </a:moveTo>
                <a:lnTo>
                  <a:pt x="11058789" y="0"/>
                </a:lnTo>
                <a:lnTo>
                  <a:pt x="11058789" y="3188940"/>
                </a:lnTo>
                <a:lnTo>
                  <a:pt x="0" y="31889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grpSp>
        <p:nvGrpSpPr>
          <p:cNvPr id="4" name="Group 4"/>
          <p:cNvGrpSpPr/>
          <p:nvPr/>
        </p:nvGrpSpPr>
        <p:grpSpPr>
          <a:xfrm>
            <a:off x="1114541" y="1288071"/>
            <a:ext cx="16058918" cy="7710858"/>
            <a:chOff x="0" y="0"/>
            <a:chExt cx="4229509" cy="2030843"/>
          </a:xfrm>
        </p:grpSpPr>
        <p:sp>
          <p:nvSpPr>
            <p:cNvPr id="5" name="Freeform 5"/>
            <p:cNvSpPr/>
            <p:nvPr/>
          </p:nvSpPr>
          <p:spPr>
            <a:xfrm>
              <a:off x="0" y="0"/>
              <a:ext cx="4229509" cy="2030843"/>
            </a:xfrm>
            <a:custGeom>
              <a:avLst/>
              <a:gdLst/>
              <a:ahLst/>
              <a:cxnLst/>
              <a:rect l="l" t="t" r="r" b="b"/>
              <a:pathLst>
                <a:path w="4229509" h="2030843">
                  <a:moveTo>
                    <a:pt x="22658" y="0"/>
                  </a:moveTo>
                  <a:lnTo>
                    <a:pt x="4206851" y="0"/>
                  </a:lnTo>
                  <a:cubicBezTo>
                    <a:pt x="4219365" y="0"/>
                    <a:pt x="4229509" y="10145"/>
                    <a:pt x="4229509" y="22658"/>
                  </a:cubicBezTo>
                  <a:lnTo>
                    <a:pt x="4229509" y="2008185"/>
                  </a:lnTo>
                  <a:cubicBezTo>
                    <a:pt x="4229509" y="2014194"/>
                    <a:pt x="4227122" y="2019958"/>
                    <a:pt x="4222873" y="2024207"/>
                  </a:cubicBezTo>
                  <a:cubicBezTo>
                    <a:pt x="4218624" y="2028456"/>
                    <a:pt x="4212860" y="2030843"/>
                    <a:pt x="4206851" y="2030843"/>
                  </a:cubicBezTo>
                  <a:lnTo>
                    <a:pt x="22658" y="2030843"/>
                  </a:lnTo>
                  <a:cubicBezTo>
                    <a:pt x="10145" y="2030843"/>
                    <a:pt x="0" y="2020699"/>
                    <a:pt x="0" y="2008185"/>
                  </a:cubicBezTo>
                  <a:lnTo>
                    <a:pt x="0" y="22658"/>
                  </a:lnTo>
                  <a:cubicBezTo>
                    <a:pt x="0" y="16649"/>
                    <a:pt x="2387" y="10886"/>
                    <a:pt x="6637" y="6637"/>
                  </a:cubicBezTo>
                  <a:cubicBezTo>
                    <a:pt x="10886" y="2387"/>
                    <a:pt x="16649" y="0"/>
                    <a:pt x="22658" y="0"/>
                  </a:cubicBezTo>
                  <a:close/>
                </a:path>
              </a:pathLst>
            </a:custGeom>
            <a:solidFill>
              <a:srgbClr val="FFFFFF"/>
            </a:solidFill>
          </p:spPr>
          <p:txBody>
            <a:bodyPr/>
            <a:lstStyle/>
            <a:p>
              <a:endParaRPr lang="zh-CN" altLang="en-US"/>
            </a:p>
          </p:txBody>
        </p:sp>
        <p:sp>
          <p:nvSpPr>
            <p:cNvPr id="6" name="TextBox 6"/>
            <p:cNvSpPr txBox="1"/>
            <p:nvPr/>
          </p:nvSpPr>
          <p:spPr>
            <a:xfrm>
              <a:off x="0" y="-28575"/>
              <a:ext cx="4229509" cy="2059418"/>
            </a:xfrm>
            <a:prstGeom prst="rect">
              <a:avLst/>
            </a:prstGeom>
          </p:spPr>
          <p:txBody>
            <a:bodyPr lIns="50800" tIns="50800" rIns="50800" bIns="50800" rtlCol="0" anchor="ctr"/>
            <a:lstStyle/>
            <a:p>
              <a:pPr algn="ctr">
                <a:lnSpc>
                  <a:spcPts val="2660"/>
                </a:lnSpc>
                <a:spcBef>
                  <a:spcPct val="0"/>
                </a:spcBef>
              </a:pPr>
              <a:endParaRPr/>
            </a:p>
          </p:txBody>
        </p:sp>
      </p:grpSp>
      <p:sp>
        <p:nvSpPr>
          <p:cNvPr id="7" name="TextBox 7"/>
          <p:cNvSpPr txBox="1"/>
          <p:nvPr/>
        </p:nvSpPr>
        <p:spPr>
          <a:xfrm>
            <a:off x="2057400" y="1485900"/>
            <a:ext cx="15116059" cy="7059177"/>
          </a:xfrm>
          <a:prstGeom prst="rect">
            <a:avLst/>
          </a:prstGeom>
        </p:spPr>
        <p:txBody>
          <a:bodyPr wrap="square" lIns="0" tIns="0" rIns="0" bIns="0" rtlCol="0" anchor="t">
            <a:spAutoFit/>
          </a:bodyPr>
          <a:lstStyle/>
          <a:p>
            <a:pPr algn="just">
              <a:lnSpc>
                <a:spcPts val="4535"/>
              </a:lnSpc>
              <a:spcBef>
                <a:spcPct val="0"/>
              </a:spcBef>
            </a:pPr>
            <a:r>
              <a:rPr lang="en-US" sz="2700" b="1" dirty="0" err="1">
                <a:solidFill>
                  <a:srgbClr val="8B0011"/>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项目完成情况</a:t>
            </a:r>
            <a:endParaRPr lang="en-US" sz="2700" b="1" dirty="0">
              <a:solidFill>
                <a:srgbClr val="8B0011"/>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a:p>
            <a:pPr marL="539115" lvl="1" indent="-269875" algn="just">
              <a:lnSpc>
                <a:spcPts val="4195"/>
              </a:lnSpc>
              <a:buFont typeface="Arial" panose="020B0604020202020204"/>
              <a:buChar char="•"/>
            </a:pPr>
            <a:r>
              <a:rPr lang="en-US" sz="2500" dirty="0" err="1">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基于</a:t>
            </a:r>
            <a:r>
              <a:rPr lang="en-US" sz="2500" dirty="0">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Yii2 Advanced </a:t>
            </a:r>
            <a:r>
              <a:rPr lang="en-US" sz="2500" dirty="0" err="1">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完成前后台分离的专题网站架构搭建</a:t>
            </a:r>
            <a:endParaRPr lang="en-US" sz="2500" dirty="0">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539115" lvl="1" indent="-269875" algn="just">
              <a:lnSpc>
                <a:spcPts val="4195"/>
              </a:lnSpc>
              <a:buFont typeface="Arial" panose="020B0604020202020204"/>
              <a:buChar char="•"/>
            </a:pPr>
            <a:r>
              <a:rPr lang="en-US" sz="2500" dirty="0" err="1">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实现前台内容展示与后台数据管理的完整流程</a:t>
            </a:r>
            <a:endParaRPr lang="en-US" sz="2500" dirty="0">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539115" lvl="1" indent="-269875" algn="just">
              <a:lnSpc>
                <a:spcPts val="4195"/>
              </a:lnSpc>
              <a:buFont typeface="Arial" panose="020B0604020202020204"/>
              <a:buChar char="•"/>
            </a:pPr>
            <a:r>
              <a:rPr lang="en-US" sz="2500" dirty="0" err="1">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完成抗战纪念相关核心功能模块的设计与实现</a:t>
            </a:r>
            <a:endParaRPr lang="en-US" sz="2500" dirty="0">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4535"/>
              </a:lnSpc>
              <a:spcBef>
                <a:spcPct val="0"/>
              </a:spcBef>
            </a:pPr>
            <a:r>
              <a:rPr lang="en-US" sz="2700" b="1" dirty="0" err="1">
                <a:solidFill>
                  <a:srgbClr val="8B0011"/>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技术与工程收获</a:t>
            </a:r>
            <a:endParaRPr lang="en-US" sz="2700" b="1" dirty="0">
              <a:solidFill>
                <a:srgbClr val="8B0011"/>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a:p>
            <a:pPr marL="539115" lvl="1" indent="-269875" algn="just">
              <a:lnSpc>
                <a:spcPts val="4195"/>
              </a:lnSpc>
              <a:buFont typeface="Arial" panose="020B0604020202020204"/>
              <a:buChar char="•"/>
            </a:pPr>
            <a:r>
              <a:rPr lang="en-US" sz="2500" dirty="0" err="1">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掌握</a:t>
            </a:r>
            <a:r>
              <a:rPr lang="en-US" sz="2500" dirty="0">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Yii2 Advanced </a:t>
            </a:r>
            <a:r>
              <a:rPr lang="en-US" sz="2500" dirty="0" err="1">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的多应用分层结构</a:t>
            </a:r>
            <a:endParaRPr lang="en-US" sz="2500" dirty="0">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539115" lvl="1" indent="-269875" algn="just">
              <a:lnSpc>
                <a:spcPts val="4195"/>
              </a:lnSpc>
              <a:buFont typeface="Arial" panose="020B0604020202020204"/>
              <a:buChar char="•"/>
            </a:pPr>
            <a:r>
              <a:rPr lang="en-US" sz="2500" dirty="0" err="1">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熟悉</a:t>
            </a:r>
            <a:r>
              <a:rPr lang="en-US" sz="2500" dirty="0">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en-US" sz="2500" dirty="0" err="1">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ActiveRecord</a:t>
            </a:r>
            <a:r>
              <a:rPr lang="en-US" sz="2500" dirty="0">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en-US" sz="2500" dirty="0" err="1">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模型设计与</a:t>
            </a:r>
            <a:r>
              <a:rPr lang="en-US" sz="2500" dirty="0">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CRUD </a:t>
            </a:r>
            <a:r>
              <a:rPr lang="en-US" sz="2500" dirty="0" err="1">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实现</a:t>
            </a:r>
            <a:endParaRPr lang="en-US" sz="2500" dirty="0">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539115" lvl="1" indent="-269875" algn="just">
              <a:lnSpc>
                <a:spcPts val="4195"/>
              </a:lnSpc>
              <a:buFont typeface="Arial" panose="020B0604020202020204"/>
              <a:buChar char="•"/>
            </a:pPr>
            <a:r>
              <a:rPr lang="en-US" sz="2500" dirty="0" err="1">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理解数据库迁移（migration）与版本管理流程</a:t>
            </a:r>
            <a:endParaRPr lang="en-US" sz="2500" dirty="0">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539115" lvl="1" indent="-269875" algn="just">
              <a:lnSpc>
                <a:spcPts val="4195"/>
              </a:lnSpc>
              <a:buFont typeface="Arial" panose="020B0604020202020204"/>
              <a:buChar char="•"/>
            </a:pPr>
            <a:r>
              <a:rPr lang="en-US" sz="2500" dirty="0" err="1">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提升前后端协同与项目工程化能力</a:t>
            </a:r>
            <a:endParaRPr lang="en-US" sz="2500" dirty="0">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4535"/>
              </a:lnSpc>
              <a:spcBef>
                <a:spcPct val="0"/>
              </a:spcBef>
            </a:pPr>
            <a:r>
              <a:rPr lang="en-US" sz="2700" b="1" dirty="0" err="1">
                <a:solidFill>
                  <a:srgbClr val="8B0011"/>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不足与改进方向</a:t>
            </a:r>
            <a:endParaRPr lang="en-US" sz="2700" b="1" dirty="0">
              <a:solidFill>
                <a:srgbClr val="8B0011"/>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a:p>
            <a:pPr marL="539115" lvl="1" indent="-269875" algn="l">
              <a:lnSpc>
                <a:spcPts val="4195"/>
              </a:lnSpc>
              <a:buFont typeface="Arial" panose="020B0604020202020204"/>
              <a:buChar char="•"/>
            </a:pPr>
            <a:r>
              <a:rPr lang="en-US" sz="2500" dirty="0" err="1">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部分页面交互与视觉细节仍有优化空间（有些细节的地方风格不够统一</a:t>
            </a:r>
            <a:r>
              <a:rPr lang="en-US" sz="2500" dirty="0">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p>
          <a:p>
            <a:pPr marL="539115" lvl="1" indent="-269875" algn="l">
              <a:lnSpc>
                <a:spcPts val="4195"/>
              </a:lnSpc>
              <a:buFont typeface="Arial" panose="020B0604020202020204"/>
              <a:buChar char="•"/>
            </a:pPr>
            <a:r>
              <a:rPr lang="en-US" sz="2500" dirty="0" err="1">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数据统计与可视化维度有待进一步丰富</a:t>
            </a:r>
            <a:endParaRPr lang="en-US" sz="2500" dirty="0">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539115" lvl="1" indent="-269875" algn="l">
              <a:lnSpc>
                <a:spcPts val="4195"/>
              </a:lnSpc>
              <a:buFont typeface="Arial" panose="020B0604020202020204"/>
              <a:buChar char="•"/>
            </a:pPr>
            <a:r>
              <a:rPr lang="en-US" sz="2500" dirty="0" err="1">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在github上的项目管理不够熟练、分支过多、迭代次数多但不够清晰</a:t>
            </a:r>
            <a:endParaRPr lang="en-US" sz="2500" dirty="0">
              <a:solidFill>
                <a:srgbClr val="000000"/>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9490114" y="-436641"/>
            <a:ext cx="11136611" cy="3211381"/>
          </a:xfrm>
          <a:custGeom>
            <a:avLst/>
            <a:gdLst/>
            <a:ahLst/>
            <a:cxnLst/>
            <a:rect l="l" t="t" r="r" b="b"/>
            <a:pathLst>
              <a:path w="11136611" h="3211381">
                <a:moveTo>
                  <a:pt x="0" y="0"/>
                </a:moveTo>
                <a:lnTo>
                  <a:pt x="11136611" y="0"/>
                </a:lnTo>
                <a:lnTo>
                  <a:pt x="11136611" y="3211381"/>
                </a:lnTo>
                <a:lnTo>
                  <a:pt x="0" y="32113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3" name="Freeform 3"/>
          <p:cNvSpPr/>
          <p:nvPr/>
        </p:nvSpPr>
        <p:spPr>
          <a:xfrm>
            <a:off x="5950483" y="6528807"/>
            <a:ext cx="305550" cy="325486"/>
          </a:xfrm>
          <a:custGeom>
            <a:avLst/>
            <a:gdLst/>
            <a:ahLst/>
            <a:cxnLst/>
            <a:rect l="l" t="t" r="r" b="b"/>
            <a:pathLst>
              <a:path w="305550" h="325486">
                <a:moveTo>
                  <a:pt x="0" y="0"/>
                </a:moveTo>
                <a:lnTo>
                  <a:pt x="305550" y="0"/>
                </a:lnTo>
                <a:lnTo>
                  <a:pt x="305550" y="325486"/>
                </a:lnTo>
                <a:lnTo>
                  <a:pt x="0" y="3254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4" name="Freeform 4"/>
          <p:cNvSpPr/>
          <p:nvPr/>
        </p:nvSpPr>
        <p:spPr>
          <a:xfrm>
            <a:off x="9578380" y="6527740"/>
            <a:ext cx="305550" cy="325486"/>
          </a:xfrm>
          <a:custGeom>
            <a:avLst/>
            <a:gdLst/>
            <a:ahLst/>
            <a:cxnLst/>
            <a:rect l="l" t="t" r="r" b="b"/>
            <a:pathLst>
              <a:path w="305550" h="325486">
                <a:moveTo>
                  <a:pt x="0" y="0"/>
                </a:moveTo>
                <a:lnTo>
                  <a:pt x="305550" y="0"/>
                </a:lnTo>
                <a:lnTo>
                  <a:pt x="305550" y="325486"/>
                </a:lnTo>
                <a:lnTo>
                  <a:pt x="0" y="3254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5" name="Freeform 5"/>
          <p:cNvSpPr/>
          <p:nvPr/>
        </p:nvSpPr>
        <p:spPr>
          <a:xfrm>
            <a:off x="-2338725" y="7512260"/>
            <a:ext cx="11136611" cy="3211381"/>
          </a:xfrm>
          <a:custGeom>
            <a:avLst/>
            <a:gdLst/>
            <a:ahLst/>
            <a:cxnLst/>
            <a:rect l="l" t="t" r="r" b="b"/>
            <a:pathLst>
              <a:path w="11136611" h="3211381">
                <a:moveTo>
                  <a:pt x="0" y="0"/>
                </a:moveTo>
                <a:lnTo>
                  <a:pt x="11136611" y="0"/>
                </a:lnTo>
                <a:lnTo>
                  <a:pt x="11136611" y="3211381"/>
                </a:lnTo>
                <a:lnTo>
                  <a:pt x="0" y="32113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6" name="Freeform 6"/>
          <p:cNvSpPr/>
          <p:nvPr/>
        </p:nvSpPr>
        <p:spPr>
          <a:xfrm rot="-6107505">
            <a:off x="1275577" y="1697368"/>
            <a:ext cx="1932391" cy="2356574"/>
          </a:xfrm>
          <a:custGeom>
            <a:avLst/>
            <a:gdLst/>
            <a:ahLst/>
            <a:cxnLst/>
            <a:rect l="l" t="t" r="r" b="b"/>
            <a:pathLst>
              <a:path w="1932391" h="2356574">
                <a:moveTo>
                  <a:pt x="0" y="0"/>
                </a:moveTo>
                <a:lnTo>
                  <a:pt x="1932390" y="0"/>
                </a:lnTo>
                <a:lnTo>
                  <a:pt x="1932390" y="2356574"/>
                </a:lnTo>
                <a:lnTo>
                  <a:pt x="0" y="2356574"/>
                </a:lnTo>
                <a:lnTo>
                  <a:pt x="0" y="0"/>
                </a:lnTo>
                <a:close/>
              </a:path>
            </a:pathLst>
          </a:custGeom>
          <a:blipFill>
            <a:blip r:embed="rId6">
              <a:alphaModFix amt="26000"/>
              <a:extLst>
                <a:ext uri="{96DAC541-7B7A-43D3-8B79-37D633B846F1}">
                  <asvg:svgBlip xmlns:asvg="http://schemas.microsoft.com/office/drawing/2016/SVG/main" r:embed="rId7"/>
                </a:ext>
              </a:extLst>
            </a:blip>
            <a:stretch>
              <a:fillRect/>
            </a:stretch>
          </a:blipFill>
        </p:spPr>
        <p:txBody>
          <a:bodyPr/>
          <a:lstStyle/>
          <a:p>
            <a:endParaRPr lang="zh-CN" altLang="en-US"/>
          </a:p>
        </p:txBody>
      </p:sp>
      <p:sp>
        <p:nvSpPr>
          <p:cNvPr id="7" name="Freeform 7"/>
          <p:cNvSpPr/>
          <p:nvPr/>
        </p:nvSpPr>
        <p:spPr>
          <a:xfrm rot="-5275027">
            <a:off x="14720638" y="6333389"/>
            <a:ext cx="1932391" cy="2356574"/>
          </a:xfrm>
          <a:custGeom>
            <a:avLst/>
            <a:gdLst/>
            <a:ahLst/>
            <a:cxnLst/>
            <a:rect l="l" t="t" r="r" b="b"/>
            <a:pathLst>
              <a:path w="1932391" h="2356574">
                <a:moveTo>
                  <a:pt x="0" y="0"/>
                </a:moveTo>
                <a:lnTo>
                  <a:pt x="1932391" y="0"/>
                </a:lnTo>
                <a:lnTo>
                  <a:pt x="1932391" y="2356574"/>
                </a:lnTo>
                <a:lnTo>
                  <a:pt x="0" y="2356574"/>
                </a:lnTo>
                <a:lnTo>
                  <a:pt x="0" y="0"/>
                </a:lnTo>
                <a:close/>
              </a:path>
            </a:pathLst>
          </a:custGeom>
          <a:blipFill>
            <a:blip r:embed="rId6">
              <a:alphaModFix amt="26000"/>
              <a:extLst>
                <a:ext uri="{96DAC541-7B7A-43D3-8B79-37D633B846F1}">
                  <asvg:svgBlip xmlns:asvg="http://schemas.microsoft.com/office/drawing/2016/SVG/main" r:embed="rId7"/>
                </a:ext>
              </a:extLst>
            </a:blip>
            <a:stretch>
              <a:fillRect/>
            </a:stretch>
          </a:blipFill>
        </p:spPr>
        <p:txBody>
          <a:bodyPr/>
          <a:lstStyle/>
          <a:p>
            <a:endParaRPr lang="zh-CN" altLang="en-US"/>
          </a:p>
        </p:txBody>
      </p:sp>
      <p:sp>
        <p:nvSpPr>
          <p:cNvPr id="8" name="TextBox 8"/>
          <p:cNvSpPr txBox="1"/>
          <p:nvPr/>
        </p:nvSpPr>
        <p:spPr>
          <a:xfrm>
            <a:off x="2303559" y="3862225"/>
            <a:ext cx="13680882" cy="1909609"/>
          </a:xfrm>
          <a:prstGeom prst="rect">
            <a:avLst/>
          </a:prstGeom>
        </p:spPr>
        <p:txBody>
          <a:bodyPr lIns="0" tIns="0" rIns="0" bIns="0" rtlCol="0" anchor="t">
            <a:spAutoFit/>
          </a:bodyPr>
          <a:lstStyle/>
          <a:p>
            <a:pPr algn="ctr">
              <a:lnSpc>
                <a:spcPts val="15645"/>
              </a:lnSpc>
            </a:pPr>
            <a:r>
              <a:rPr lang="en-US" sz="11255"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谢谢观看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751.4615748031496,&quot;left&quot;:788.6737007874016,&quot;top&quot;:50.98984251968504,&quot;width&quot;:702.1303149606299}"/>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751.4615748031496,&quot;left&quot;:788.6737007874016,&quot;top&quot;:50.98984251968504,&quot;width&quot;:702.1303149606299}"/>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751.4615748031496,&quot;left&quot;:788.6737007874016,&quot;top&quot;:50.98984251968504,&quot;width&quot;:702.1303149606299}"/>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751.4615748031496,&quot;left&quot;:788.6737007874016,&quot;top&quot;:50.98984251968504,&quot;width&quot;:702.1303149606299}"/>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790.6024409448818,&quot;left&quot;:739.4437007874016,&quot;top&quot;:26.99755905511811,&quot;width&quot;:715.460314960629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790.6024409448818,&quot;left&quot;:739.4437007874016,&quot;top&quot;:26.99755905511811,&quot;width&quot;:715.4603149606298}"/>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790.6024409448818,&quot;left&quot;:739.4437007874016,&quot;top&quot;:26.99755905511811,&quot;width&quot;:715.4603149606298}"/>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790.6024409448818,&quot;left&quot;:739.4437007874016,&quot;top&quot;:26.99755905511811,&quot;width&quot;:715.460314960629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1122</Words>
  <Application>Microsoft Office PowerPoint</Application>
  <PresentationFormat>自定义</PresentationFormat>
  <Paragraphs>216</Paragraphs>
  <Slides>26</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26</vt:i4>
      </vt:variant>
    </vt:vector>
  </HeadingPairs>
  <TitlesOfParts>
    <vt:vector size="41" baseType="lpstr">
      <vt:lpstr>Arial</vt:lpstr>
      <vt:lpstr>思源黑体 3</vt:lpstr>
      <vt:lpstr>思源黑体 2 Heavy</vt:lpstr>
      <vt:lpstr>思源黑体 2</vt:lpstr>
      <vt:lpstr>思源黑体 2 Bold</vt:lpstr>
      <vt:lpstr>思源黑体 3 Bold</vt:lpstr>
      <vt:lpstr>Calibri</vt:lpstr>
      <vt:lpstr>思源黑体 1 Heavy</vt:lpstr>
      <vt:lpstr>思源黑体 1 Bold</vt:lpstr>
      <vt:lpstr>Akzidenz-Grotesk Bold</vt:lpstr>
      <vt:lpstr>Arimo</vt:lpstr>
      <vt:lpstr>思源黑体 1</vt:lpstr>
      <vt:lpstr>Akzidenz-Grotesk</vt:lpstr>
      <vt:lpstr>思源黑体 1 Medium</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蓝白色简洁毕业论文答辩演示文稿</dc:title>
  <dc:creator>A</dc:creator>
  <cp:lastModifiedBy>诗洋 谭</cp:lastModifiedBy>
  <cp:revision>7</cp:revision>
  <dcterms:created xsi:type="dcterms:W3CDTF">2006-08-16T00:00:00Z</dcterms:created>
  <dcterms:modified xsi:type="dcterms:W3CDTF">2025-12-23T11:47:28Z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{"Label":"1","ContentProducer":"001191110105MA01AN806X00000","ProduceID":"DAG72_aDUvU","ReservedCode1":"","ContentPropagator":"001191110105MA01AN806X00000","PropagateID":"DAG72_aDUvU","ReservedCode2":""}</vt:lpwstr>
  </property>
  <property fmtid="{D5CDD505-2E9C-101B-9397-08002B2CF9AE}" pid="3" name="ICV">
    <vt:lpwstr>BA066264042143E7B26AEB3C67BB135C_13</vt:lpwstr>
  </property>
  <property fmtid="{D5CDD505-2E9C-101B-9397-08002B2CF9AE}" pid="4" name="KSOProductBuildVer">
    <vt:lpwstr>2052-12.1.0.24034</vt:lpwstr>
  </property>
</Properties>
</file>